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IkGbnV4SdWqnmsn3/Y1RNApYN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8E138C-00F5-4547-B11E-DB9FD25EFEFB}">
  <a:tblStyle styleId="{218E138C-00F5-4547-B11E-DB9FD25EFE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/>
              <a:t>Recursion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What is Recursion?</a:t>
            </a:r>
            <a:endParaRPr b="1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5984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 of a method calling itself.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Known as a recursive method.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Will keep calling itself if there is no condition to stop.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way of problem solving by breaking down a broader problem into small parts.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Mostly used as an alternative of loop especially when using loop can be quite difficult.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Follows bottom to top then top to bottom approach (or can be considered vise versa as per convenience).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0850" y="254200"/>
            <a:ext cx="2371450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90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What is Recursion? (Cont.)</a:t>
            </a:r>
            <a:endParaRPr b="1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87900" y="1533475"/>
            <a:ext cx="85206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Pros : You may have to write less code.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 : Might have to deal with quite a few errors!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Loop versus Recursion</a:t>
            </a:r>
            <a:endParaRPr b="1"/>
          </a:p>
        </p:txBody>
      </p:sp>
      <p:graphicFrame>
        <p:nvGraphicFramePr>
          <p:cNvPr id="73" name="Google Shape;73;p4"/>
          <p:cNvGraphicFramePr/>
          <p:nvPr/>
        </p:nvGraphicFramePr>
        <p:xfrm>
          <a:off x="874800" y="133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{218E138C-00F5-4547-B11E-DB9FD25EFEFB}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Loop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Recursion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much difference in terms of use. Both can be used to solve repetitive problems.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Constructs like for, while used.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Method calls itself and consists of a base case and recursive case.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Loop condition given to stop loop execution at a point.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Stops executing when base case is reached.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May not be easy to write for some complex problems.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May be easier to write complex problems and have more clarity.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more memory efficient.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Possibility of using more memory and resources due to stack overflow error.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Components of Recursive Method</a:t>
            </a:r>
            <a:endParaRPr b="1"/>
          </a:p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Two components: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 Case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Termination condition of the recursion process.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Recursive Case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Other cases other than the base case where the method keeps calling itself.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Structure of a Recursive Method</a:t>
            </a:r>
            <a:endParaRPr b="1"/>
          </a:p>
        </p:txBody>
      </p:sp>
      <p:sp>
        <p:nvSpPr>
          <p:cNvPr id="85" name="Google Shape;85;p6"/>
          <p:cNvSpPr txBox="1"/>
          <p:nvPr/>
        </p:nvSpPr>
        <p:spPr>
          <a:xfrm>
            <a:off x="1457550" y="1498650"/>
            <a:ext cx="6228900" cy="2146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static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return_type recursive_method(datatype parameter){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400" u="none" cap="none" strike="noStrike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(base case condition is satisfied){		</a:t>
            </a:r>
            <a:endParaRPr b="0" i="0" sz="1400" u="none" cap="none" strike="noStrike"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final_value; </a:t>
            </a:r>
            <a:endParaRPr b="0" i="0" sz="1400" u="none" cap="none" strike="noStrike">
              <a:solidFill>
                <a:srgbClr val="274E13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400" u="none" cap="none" strike="noStrike">
                <a:solidFill>
                  <a:srgbClr val="0000F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{			</a:t>
            </a:r>
            <a:r>
              <a:rPr b="0" i="0" lang="en" sz="1400" u="none" cap="none" strike="noStrike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//recursive case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1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(argument);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282525" y="4002175"/>
            <a:ext cx="7218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you tell what could be the issue if there was no base case?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 from Another Method</a:t>
            </a:r>
            <a:endParaRPr b="1"/>
          </a:p>
        </p:txBody>
      </p:sp>
      <p:sp>
        <p:nvSpPr>
          <p:cNvPr id="92" name="Google Shape;92;p7"/>
          <p:cNvSpPr txBox="1"/>
          <p:nvPr>
            <p:ph idx="1" type="body"/>
          </p:nvPr>
        </p:nvSpPr>
        <p:spPr>
          <a:xfrm>
            <a:off x="311700" y="1152475"/>
            <a:ext cx="44745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We all have seen in the previous “Method” lecture where we can call a method from another method.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Ex: Finding the sum of a simple series 1 + 2 + 3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method1 will return the sum of the first two numbers to method2.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method2 will add the returned value with 3 and return it to the method2 call in the main method where the returned result is printed.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5060350" y="1263250"/>
            <a:ext cx="3727200" cy="2637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MethodExample 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System.out.println(method2(3));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method1(int a, int b){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sum1 = a + b;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return sum1;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method2(int b){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sum2 = method1(1, 2) + b;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return sum2;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F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060350" y="3900250"/>
            <a:ext cx="3727200" cy="69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000" u="none" cap="none" strike="noStrike">
              <a:solidFill>
                <a:srgbClr val="6AA84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Calling with Recursion</a:t>
            </a:r>
            <a:endParaRPr b="1"/>
          </a:p>
        </p:txBody>
      </p:sp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311700" y="1152475"/>
            <a:ext cx="44745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A recursive method works in a similar way. Except that the method will keep calling itself to keep adding the numbers and give the desired result.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And also, make sure the code works for sum of n natural numbers.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Ex: 1 + 2 + 3 + 4 + .... 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Change the number 4 in the method call to any other number and see if it works. You can also take n as user input.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1" name="Google Shape;101;p8"/>
          <p:cNvSpPr txBox="1"/>
          <p:nvPr/>
        </p:nvSpPr>
        <p:spPr>
          <a:xfrm>
            <a:off x="4879325" y="1188675"/>
            <a:ext cx="4055700" cy="23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recursion 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(4));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recursive_method(int num){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(num == 0){		</a:t>
            </a:r>
            <a:r>
              <a:rPr b="0" i="0" lang="en" sz="1000" u="none" cap="none" strike="noStrike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//base case</a:t>
            </a:r>
            <a:endParaRPr b="0" i="0" sz="1000" u="none" cap="none" strike="noStrike"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			</a:t>
            </a:r>
            <a:r>
              <a:rPr b="0" i="0" lang="en" sz="1000" u="none" cap="none" strike="noStrike">
                <a:solidFill>
                  <a:srgbClr val="38761D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//recursive case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 + </a:t>
            </a:r>
            <a:r>
              <a:rPr b="0" i="1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(num - 1);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4879325" y="3581775"/>
            <a:ext cx="4055700" cy="69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000" u="none" cap="none" strike="noStrike">
              <a:solidFill>
                <a:srgbClr val="6AA84F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Calling with Recursion (Cont.)</a:t>
            </a:r>
            <a:endParaRPr b="1"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372988" y="1073475"/>
            <a:ext cx="76134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</a:rPr>
              <a:t>How does this work?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1759513" y="1595800"/>
            <a:ext cx="5104800" cy="312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recursion 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(4));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recursive_method(int num){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(num == 0){		</a:t>
            </a:r>
            <a:endParaRPr b="0" i="0" sz="1200" u="none" cap="none" strike="noStrike">
              <a:solidFill>
                <a:srgbClr val="38761D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			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num + 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recursive_method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(num - 1);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6980688" y="2038700"/>
            <a:ext cx="784800" cy="36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First call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9"/>
          <p:cNvCxnSpPr>
            <a:stCxn id="110" idx="1"/>
          </p:cNvCxnSpPr>
          <p:nvPr/>
        </p:nvCxnSpPr>
        <p:spPr>
          <a:xfrm flipH="1">
            <a:off x="6234888" y="2223350"/>
            <a:ext cx="7458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9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passed to num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9"/>
          <p:cNvCxnSpPr>
            <a:stCxn id="112" idx="1"/>
          </p:cNvCxnSpPr>
          <p:nvPr/>
        </p:nvCxnSpPr>
        <p:spPr>
          <a:xfrm flipH="1">
            <a:off x="5571463" y="2632275"/>
            <a:ext cx="7458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9"/>
          <p:cNvSpPr txBox="1"/>
          <p:nvPr/>
        </p:nvSpPr>
        <p:spPr>
          <a:xfrm>
            <a:off x="7036863" y="351142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+ recursive_method(4 - 1) 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9"/>
          <p:cNvCxnSpPr>
            <a:stCxn id="114" idx="1"/>
          </p:cNvCxnSpPr>
          <p:nvPr/>
        </p:nvCxnSpPr>
        <p:spPr>
          <a:xfrm flipH="1">
            <a:off x="6475563" y="3680775"/>
            <a:ext cx="5613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9"/>
          <p:cNvSpPr txBox="1"/>
          <p:nvPr/>
        </p:nvSpPr>
        <p:spPr>
          <a:xfrm>
            <a:off x="6317263" y="24600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passed to num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7036863" y="351787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+ recursive_method(3 - 1) 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passed to num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passed to num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6317263" y="2455275"/>
            <a:ext cx="12228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 passed to num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5300788" y="2904375"/>
            <a:ext cx="2101200" cy="35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 returned to last method call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9"/>
          <p:cNvCxnSpPr>
            <a:stCxn id="121" idx="1"/>
          </p:cNvCxnSpPr>
          <p:nvPr/>
        </p:nvCxnSpPr>
        <p:spPr>
          <a:xfrm rot="10800000">
            <a:off x="3919588" y="3010575"/>
            <a:ext cx="1381200" cy="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9"/>
          <p:cNvSpPr txBox="1"/>
          <p:nvPr/>
        </p:nvSpPr>
        <p:spPr>
          <a:xfrm>
            <a:off x="7036863" y="352432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+ recursive_method(2 - 1) 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7036863" y="3517875"/>
            <a:ext cx="18087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+ recursive_method(1 - 1) 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6980688" y="34511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 1 + recursive_method(0) = 1 + 0 = 1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6980688" y="34415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 2 + recursive_method(1) = 2 + 1 = 3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980688" y="3441500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 3 + recursive_method(2) = 3 + 3 = 6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6980700" y="3444225"/>
            <a:ext cx="2011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 4 + recursive_method(3) = 4 + 6 = 10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7402000" y="1105850"/>
            <a:ext cx="1579200" cy="492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 returned to main method  and printed.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057575" y="1686571"/>
            <a:ext cx="2819200" cy="1743250"/>
          </a:xfrm>
          <a:custGeom>
            <a:rect b="b" l="l" r="r" t="t"/>
            <a:pathLst>
              <a:path extrusionOk="0" h="69730" w="112768">
                <a:moveTo>
                  <a:pt x="105276" y="69730"/>
                </a:moveTo>
                <a:cubicBezTo>
                  <a:pt x="105193" y="58534"/>
                  <a:pt x="122321" y="11745"/>
                  <a:pt x="104775" y="2554"/>
                </a:cubicBezTo>
                <a:cubicBezTo>
                  <a:pt x="87229" y="-6637"/>
                  <a:pt x="17463" y="12581"/>
                  <a:pt x="0" y="14586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 Stack</a:t>
            </a:r>
            <a:endParaRPr b="1"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311700" y="1175125"/>
            <a:ext cx="698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keep track of method calls in a data structure called </a:t>
            </a:r>
            <a:r>
              <a:rPr lang="en">
                <a:solidFill>
                  <a:srgbClr val="0000FF"/>
                </a:solidFill>
              </a:rPr>
              <a:t>Stack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method, when called, gets allocated into the stack frame.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stack frame consists of the information about the called method like its local variables, arguments passed, returned value etc.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call stack example shown on the right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following the example given in Slide 7.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7505475" y="39005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7505475" y="30612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method1()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7505475" y="3480925"/>
            <a:ext cx="10239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method2()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7622175" y="4358750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890517" y="3185550"/>
            <a:ext cx="521700" cy="1002275"/>
          </a:xfrm>
          <a:custGeom>
            <a:rect b="b" l="l" r="r" t="t"/>
            <a:pathLst>
              <a:path extrusionOk="0" h="40091" w="20868">
                <a:moveTo>
                  <a:pt x="20868" y="0"/>
                </a:moveTo>
                <a:cubicBezTo>
                  <a:pt x="17398" y="3263"/>
                  <a:pt x="408" y="12897"/>
                  <a:pt x="45" y="19579"/>
                </a:cubicBezTo>
                <a:cubicBezTo>
                  <a:pt x="-317" y="26261"/>
                  <a:pt x="15585" y="36672"/>
                  <a:pt x="18693" y="400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10"/>
          <p:cNvCxnSpPr/>
          <p:nvPr/>
        </p:nvCxnSpPr>
        <p:spPr>
          <a:xfrm>
            <a:off x="6899425" y="3682800"/>
            <a:ext cx="4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0"/>
          <p:cNvSpPr txBox="1"/>
          <p:nvPr/>
        </p:nvSpPr>
        <p:spPr>
          <a:xfrm>
            <a:off x="6084325" y="3405750"/>
            <a:ext cx="74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Stack Frames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Method Call Stack (Cont.)</a:t>
            </a:r>
            <a:endParaRPr b="1"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311700" y="1175125"/>
            <a:ext cx="8250600" cy="1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recursive method, every method call is also allocated a stack frame.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call stack is shown for the previous example of recursion [Slide 9].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3318150" y="41231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3318150" y="37035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recursive_ method(4)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4090775" y="462037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823575" y="2079650"/>
            <a:ext cx="34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3318150" y="3287813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recursive_ method(3)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3318150" y="20327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recursive_ method(0)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3318150" y="2868113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recursive_ method(2)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318150" y="2452525"/>
            <a:ext cx="2237700" cy="41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recursive_ method(1)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290375" y="2134950"/>
            <a:ext cx="90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Returns 0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6290375" y="257175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Returns 1 + 0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290375" y="300855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Returns 2 + 1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6290375" y="3479500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Returns 3 + 3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6290375" y="3996275"/>
            <a:ext cx="151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Returns 4 + 6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1219825" y="3871275"/>
            <a:ext cx="12588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Called first so pushed into stack first.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1"/>
          <p:cNvCxnSpPr>
            <a:stCxn id="163" idx="2"/>
          </p:cNvCxnSpPr>
          <p:nvPr/>
        </p:nvCxnSpPr>
        <p:spPr>
          <a:xfrm rot="-5400000">
            <a:off x="2481025" y="3843375"/>
            <a:ext cx="135000" cy="1398600"/>
          </a:xfrm>
          <a:prstGeom prst="curvedConnector4">
            <a:avLst>
              <a:gd fmla="val -176389" name="adj1"/>
              <a:gd fmla="val 725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5" name="Google Shape;165;p11"/>
          <p:cNvSpPr/>
          <p:nvPr/>
        </p:nvSpPr>
        <p:spPr>
          <a:xfrm>
            <a:off x="5563050" y="2190227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6" name="Google Shape;166;p11"/>
          <p:cNvSpPr/>
          <p:nvPr/>
        </p:nvSpPr>
        <p:spPr>
          <a:xfrm>
            <a:off x="5541238" y="2638989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7" name="Google Shape;167;p11"/>
          <p:cNvSpPr/>
          <p:nvPr/>
        </p:nvSpPr>
        <p:spPr>
          <a:xfrm>
            <a:off x="5584863" y="3055564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8" name="Google Shape;168;p11"/>
          <p:cNvSpPr/>
          <p:nvPr/>
        </p:nvSpPr>
        <p:spPr>
          <a:xfrm>
            <a:off x="5584863" y="3549814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9" name="Google Shape;169;p11"/>
          <p:cNvSpPr/>
          <p:nvPr/>
        </p:nvSpPr>
        <p:spPr>
          <a:xfrm>
            <a:off x="5584863" y="4005239"/>
            <a:ext cx="578400" cy="351120"/>
          </a:xfrm>
          <a:custGeom>
            <a:rect b="b" l="l" r="r" t="t"/>
            <a:pathLst>
              <a:path extrusionOk="0" h="16724" w="23136">
                <a:moveTo>
                  <a:pt x="0" y="33"/>
                </a:moveTo>
                <a:cubicBezTo>
                  <a:pt x="8059" y="33"/>
                  <a:pt x="21859" y="-487"/>
                  <a:pt x="22999" y="7491"/>
                </a:cubicBezTo>
                <a:cubicBezTo>
                  <a:pt x="24099" y="15185"/>
                  <a:pt x="8619" y="18336"/>
                  <a:pt x="1244" y="15883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Factorial using Loop</a:t>
            </a:r>
            <a:endParaRPr b="1"/>
          </a:p>
        </p:txBody>
      </p:sp>
      <p:sp>
        <p:nvSpPr>
          <p:cNvPr id="175" name="Google Shape;175;p12"/>
          <p:cNvSpPr txBox="1"/>
          <p:nvPr/>
        </p:nvSpPr>
        <p:spPr>
          <a:xfrm>
            <a:off x="2742675" y="1219725"/>
            <a:ext cx="4102500" cy="3030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factorial 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fact = 1;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int number = 5;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1; i&lt;=5; i++){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fact *= i;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.println(fact);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Factorial Problem Breakdown</a:t>
            </a:r>
            <a:endParaRPr b="1"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311700" y="1175125"/>
            <a:ext cx="8520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Factorial of a number can be broken down into smaller parts.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3889775" y="173262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4413550" y="229675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3377200" y="229675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4090163" y="2292050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931725" y="28983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3895375" y="28983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4608338" y="28936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449900" y="34639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413550" y="34639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5126513" y="34592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968075" y="41214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931725" y="4121475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5644688" y="4116775"/>
            <a:ext cx="22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968075" y="4677900"/>
            <a:ext cx="629400" cy="36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3"/>
          <p:cNvCxnSpPr>
            <a:stCxn id="182" idx="2"/>
            <a:endCxn id="185" idx="0"/>
          </p:cNvCxnSpPr>
          <p:nvPr/>
        </p:nvCxnSpPr>
        <p:spPr>
          <a:xfrm>
            <a:off x="4204475" y="209772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13"/>
          <p:cNvCxnSpPr/>
          <p:nvPr/>
        </p:nvCxnSpPr>
        <p:spPr>
          <a:xfrm>
            <a:off x="4728250" y="2680563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3"/>
          <p:cNvCxnSpPr/>
          <p:nvPr/>
        </p:nvCxnSpPr>
        <p:spPr>
          <a:xfrm>
            <a:off x="5240825" y="32634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13"/>
          <p:cNvCxnSpPr/>
          <p:nvPr/>
        </p:nvCxnSpPr>
        <p:spPr>
          <a:xfrm>
            <a:off x="5764600" y="38290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3"/>
          <p:cNvCxnSpPr/>
          <p:nvPr/>
        </p:nvCxnSpPr>
        <p:spPr>
          <a:xfrm>
            <a:off x="6282775" y="4486575"/>
            <a:ext cx="0" cy="1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13"/>
          <p:cNvSpPr txBox="1"/>
          <p:nvPr/>
        </p:nvSpPr>
        <p:spPr>
          <a:xfrm>
            <a:off x="7626434" y="4373881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416135" y="3607321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6597486" y="2432330"/>
            <a:ext cx="383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6985166" y="3027409"/>
            <a:ext cx="3381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6143300" y="1864725"/>
            <a:ext cx="514500" cy="345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3"/>
          <p:cNvCxnSpPr/>
          <p:nvPr/>
        </p:nvCxnSpPr>
        <p:spPr>
          <a:xfrm flipH="1" rot="10800000">
            <a:off x="6207300" y="2999913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" name="Google Shape;207;p13"/>
          <p:cNvCxnSpPr/>
          <p:nvPr/>
        </p:nvCxnSpPr>
        <p:spPr>
          <a:xfrm flipH="1" rot="10800000">
            <a:off x="6644100" y="3564975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" name="Google Shape;208;p13"/>
          <p:cNvCxnSpPr/>
          <p:nvPr/>
        </p:nvCxnSpPr>
        <p:spPr>
          <a:xfrm flipH="1" rot="10800000">
            <a:off x="5733450" y="2410550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" name="Google Shape;209;p13"/>
          <p:cNvCxnSpPr/>
          <p:nvPr/>
        </p:nvCxnSpPr>
        <p:spPr>
          <a:xfrm flipH="1" rot="10800000">
            <a:off x="5278975" y="1774550"/>
            <a:ext cx="600" cy="556500"/>
          </a:xfrm>
          <a:prstGeom prst="curvedConnector3">
            <a:avLst>
              <a:gd fmla="val 10471666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" name="Google Shape;210;p13"/>
          <p:cNvCxnSpPr/>
          <p:nvPr/>
        </p:nvCxnSpPr>
        <p:spPr>
          <a:xfrm flipH="1" rot="10800000">
            <a:off x="6597475" y="4303950"/>
            <a:ext cx="600" cy="556500"/>
          </a:xfrm>
          <a:prstGeom prst="curvedConnector3">
            <a:avLst>
              <a:gd fmla="val 93058333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Factorial using Recursion </a:t>
            </a:r>
            <a:endParaRPr b="1"/>
          </a:p>
        </p:txBody>
      </p:sp>
      <p:sp>
        <p:nvSpPr>
          <p:cNvPr id="216" name="Google Shape;216;p14"/>
          <p:cNvSpPr txBox="1"/>
          <p:nvPr/>
        </p:nvSpPr>
        <p:spPr>
          <a:xfrm>
            <a:off x="2953300" y="1303275"/>
            <a:ext cx="4521900" cy="3255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factorial {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0" i="1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0" i="1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factorial_calculate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(5));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static int factorial_calculate(int n){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if (n != 0) {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n * </a:t>
            </a:r>
            <a:r>
              <a:rPr b="0" i="1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factorial_calculate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 n - 1);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else{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return 1;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255575" y="3014950"/>
            <a:ext cx="1048800" cy="293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158525" y="2382625"/>
            <a:ext cx="1242900" cy="293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 case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479350" y="2433475"/>
            <a:ext cx="924600" cy="19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2440500" y="3014950"/>
            <a:ext cx="924600" cy="19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311700" y="37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More Examples of Recursion</a:t>
            </a:r>
            <a:endParaRPr b="1"/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311700" y="949750"/>
            <a:ext cx="8520600" cy="4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Finding the minimum or maximum value in an array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Fibonacci series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Sorting algorithms, ex: selection sort, insertion sort etc.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