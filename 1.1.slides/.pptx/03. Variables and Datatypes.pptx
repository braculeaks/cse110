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jRroak2HIu4QSkGS9Xw06Zc9VB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C42E45-F1CC-43C9-B5C7-43940382D55B}">
  <a:tblStyle styleId="{16C42E45-F1CC-43C9-B5C7-43940382D55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003000"/>
            <a:ext cx="85206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t/>
            </a:r>
            <a:endParaRPr b="1"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0493"/>
              <a:buNone/>
            </a:pPr>
            <a:r>
              <a:t/>
            </a:r>
            <a:endParaRPr b="1"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2644"/>
              <a:buNone/>
            </a:pPr>
            <a:r>
              <a:t/>
            </a:r>
            <a:endParaRPr b="1" sz="471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72"/>
              <a:buNone/>
            </a:pPr>
            <a:r>
              <a:rPr lang="en" sz="4043"/>
              <a:t> Introduction to</a:t>
            </a:r>
            <a:endParaRPr sz="4043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72"/>
              <a:buNone/>
            </a:pPr>
            <a:r>
              <a:rPr lang="en" sz="4043"/>
              <a:t> Variables and Datatypes</a:t>
            </a:r>
            <a:endParaRPr sz="4043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Identifiers</a:t>
            </a:r>
            <a:endParaRPr b="1" sz="25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2"/>
          <p:cNvSpPr txBox="1"/>
          <p:nvPr>
            <p:ph idx="1" type="subTitle"/>
          </p:nvPr>
        </p:nvSpPr>
        <p:spPr>
          <a:xfrm>
            <a:off x="311700" y="115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 assigned to a particular entity in a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be a variable name, method name, class name, structure name etc.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/>
          </a:p>
        </p:txBody>
      </p:sp>
      <p:sp>
        <p:nvSpPr>
          <p:cNvPr id="61" name="Google Shape;61;p2"/>
          <p:cNvSpPr/>
          <p:nvPr/>
        </p:nvSpPr>
        <p:spPr>
          <a:xfrm>
            <a:off x="3780388" y="30767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Identifiers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064138" y="21918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Names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577163" y="388065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 Names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064138" y="3869575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Names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8663" y="21918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 Names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2"/>
          <p:cNvCxnSpPr>
            <a:stCxn id="61" idx="1"/>
            <a:endCxn id="64" idx="0"/>
          </p:cNvCxnSpPr>
          <p:nvPr/>
        </p:nvCxnSpPr>
        <p:spPr>
          <a:xfrm flipH="1">
            <a:off x="2815588" y="3328550"/>
            <a:ext cx="964800" cy="5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" name="Google Shape;67;p2"/>
          <p:cNvCxnSpPr>
            <a:stCxn id="61" idx="1"/>
            <a:endCxn id="62" idx="2"/>
          </p:cNvCxnSpPr>
          <p:nvPr/>
        </p:nvCxnSpPr>
        <p:spPr>
          <a:xfrm rot="10800000">
            <a:off x="2815588" y="2695550"/>
            <a:ext cx="964800" cy="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" name="Google Shape;68;p2"/>
          <p:cNvCxnSpPr>
            <a:stCxn id="61" idx="3"/>
            <a:endCxn id="65" idx="2"/>
          </p:cNvCxnSpPr>
          <p:nvPr/>
        </p:nvCxnSpPr>
        <p:spPr>
          <a:xfrm flipH="1" rot="10800000">
            <a:off x="5283088" y="2695550"/>
            <a:ext cx="957000" cy="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" name="Google Shape;69;p2"/>
          <p:cNvCxnSpPr>
            <a:stCxn id="61" idx="3"/>
            <a:endCxn id="63" idx="0"/>
          </p:cNvCxnSpPr>
          <p:nvPr/>
        </p:nvCxnSpPr>
        <p:spPr>
          <a:xfrm>
            <a:off x="5283088" y="3328550"/>
            <a:ext cx="1045500" cy="5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Variables</a:t>
            </a:r>
            <a:endParaRPr b="1" sz="2520"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311700" y="972300"/>
            <a:ext cx="85206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variable is a container which is used to store data.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kind of identifier.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</a:rPr>
              <a:t>Each variable has a specific data type.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71025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664100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839200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1107600" y="2697700"/>
            <a:ext cx="3505800" cy="461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  student_id   =   1234;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355900" y="3502300"/>
            <a:ext cx="99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Datatype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2207651" y="3502300"/>
            <a:ext cx="149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Variable_Name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3623650" y="3502300"/>
            <a:ext cx="73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23150" y="2697700"/>
            <a:ext cx="1128050" cy="1398350"/>
          </a:xfrm>
          <a:prstGeom prst="flowChartMagneticDisk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1234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323150" y="1755400"/>
            <a:ext cx="1821300" cy="724500"/>
          </a:xfrm>
          <a:prstGeom prst="wedgeRectCallout">
            <a:avLst>
              <a:gd fmla="val -22726" name="adj1"/>
              <a:gd fmla="val 74141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 named “student_id” holding a value 1234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397825" y="4092600"/>
            <a:ext cx="11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student_id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Variables Initialization</a:t>
            </a:r>
            <a:endParaRPr b="1"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Syntax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        &lt;datatype&gt;  &lt;variable_name&gt; = &lt;value&gt; &lt;format_specifiers&gt;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[Format specifiers only for double and float data type]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2" name="Google Shape;92;p4"/>
          <p:cNvGraphicFramePr/>
          <p:nvPr/>
        </p:nvGraphicFramePr>
        <p:xfrm>
          <a:off x="1571950" y="315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{16C42E45-F1CC-43C9-B5C7-43940382D55B}</a:tableStyleId>
              </a:tblPr>
              <a:tblGrid>
                <a:gridCol w="25866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 int  number = 25;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 char var = ‘H’;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 double value = 2.56d;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</a:t>
            </a:r>
            <a:endParaRPr b="1" sz="2520"/>
          </a:p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259875" y="1017725"/>
            <a:ext cx="85206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begin with letters (A-Z, a-z), dollar sign ($) or underscore ( _ ).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Ex: int number = 90;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not start with numbers or special characters.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Ex: int %name = 88;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Ex: int 1name = 70;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Can have numbers except at the start (0-9).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Ex: int num1 = 10;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3201825" y="2672713"/>
            <a:ext cx="780000" cy="400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6700" y="2705735"/>
            <a:ext cx="334150" cy="33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 (Contd)</a:t>
            </a:r>
            <a:endParaRPr b="1" sz="2520"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311700" y="1152475"/>
            <a:ext cx="82326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Case sensitive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Num1 and num1 not same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Can not contain white spaces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use </a:t>
            </a:r>
            <a:r>
              <a:rPr b="1" lang="en" sz="1600">
                <a:solidFill>
                  <a:schemeClr val="dk1"/>
                </a:solidFill>
              </a:rPr>
              <a:t>camel casing</a:t>
            </a:r>
            <a:r>
              <a:rPr lang="en" sz="1600">
                <a:solidFill>
                  <a:schemeClr val="dk1"/>
                </a:solidFill>
              </a:rPr>
              <a:t> (studentName) or </a:t>
            </a:r>
            <a:r>
              <a:rPr b="1" lang="en" sz="1600">
                <a:solidFill>
                  <a:schemeClr val="dk1"/>
                </a:solidFill>
              </a:rPr>
              <a:t>snake casing</a:t>
            </a:r>
            <a:r>
              <a:rPr lang="en" sz="1600">
                <a:solidFill>
                  <a:schemeClr val="dk1"/>
                </a:solidFill>
              </a:rPr>
              <a:t> (student_id) for multiple words in a variable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 number = 20;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given_number = 20;	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</a:t>
            </a: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N</a:t>
            </a: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umber = 20;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7579" y="3948421"/>
            <a:ext cx="393121" cy="3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3764050" y="3919017"/>
            <a:ext cx="738000" cy="36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3764050" y="3288200"/>
            <a:ext cx="738000" cy="36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Wrong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477" y="3317600"/>
            <a:ext cx="323310" cy="3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6"/>
          <p:cNvCxnSpPr>
            <a:stCxn id="108" idx="1"/>
          </p:cNvCxnSpPr>
          <p:nvPr/>
        </p:nvCxnSpPr>
        <p:spPr>
          <a:xfrm rot="10800000">
            <a:off x="3396250" y="3817767"/>
            <a:ext cx="367800" cy="285900"/>
          </a:xfrm>
          <a:prstGeom prst="bentConnector3">
            <a:avLst>
              <a:gd fmla="val 531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>
            <a:stCxn id="108" idx="1"/>
          </p:cNvCxnSpPr>
          <p:nvPr/>
        </p:nvCxnSpPr>
        <p:spPr>
          <a:xfrm flipH="1">
            <a:off x="3411250" y="4103667"/>
            <a:ext cx="352800" cy="304200"/>
          </a:xfrm>
          <a:prstGeom prst="bentConnector3">
            <a:avLst>
              <a:gd fmla="val 5494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 (Contd)</a:t>
            </a:r>
            <a:endParaRPr b="1" sz="2520"/>
          </a:p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311700" y="1152475"/>
            <a:ext cx="8520600" cy="3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Should be meaningful.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chemeClr val="lt1"/>
                </a:highlight>
              </a:rPr>
              <a:t>Single character variable names should be avoided.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Variable names must not be a Java reserved keyword.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19" name="Google Shape;119;p7"/>
          <p:cNvGraphicFramePr/>
          <p:nvPr/>
        </p:nvGraphicFramePr>
        <p:xfrm>
          <a:off x="1177900" y="227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{16C42E45-F1CC-43C9-B5C7-43940382D55B}</a:tableStyleId>
              </a:tblPr>
              <a:tblGrid>
                <a:gridCol w="762400"/>
                <a:gridCol w="760075"/>
                <a:gridCol w="739075"/>
                <a:gridCol w="1092650"/>
                <a:gridCol w="650775"/>
                <a:gridCol w="627050"/>
                <a:gridCol w="719325"/>
                <a:gridCol w="733525"/>
                <a:gridCol w="703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abstract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assert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boolean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synchronized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byte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case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catch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char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class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continue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default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do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double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else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enum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extends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final 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finally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float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for 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if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implements 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import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long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native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new 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null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package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private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instanceOf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public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return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short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static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strictfp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super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switch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break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interface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this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throw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throws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transient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try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void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volatile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while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protected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const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goto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true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false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null</a:t>
                      </a:r>
                      <a:endParaRPr sz="1200" u="none" cap="none" strike="noStrike"/>
                    </a:p>
                  </a:txBody>
                  <a:tcPr marT="0" marB="0" marR="73025" marL="730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7"/>
          <p:cNvSpPr txBox="1"/>
          <p:nvPr/>
        </p:nvSpPr>
        <p:spPr>
          <a:xfrm>
            <a:off x="3494575" y="4636700"/>
            <a:ext cx="28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Fig: Reserved keywords in Java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Data Types</a:t>
            </a:r>
            <a:endParaRPr b="1"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variables in Java must of a specific data type.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are major two types of data in Java: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Primitive Data Types:</a:t>
            </a:r>
            <a:r>
              <a:rPr lang="en">
                <a:solidFill>
                  <a:schemeClr val="dk1"/>
                </a:solidFill>
              </a:rPr>
              <a:t> Holds a value, specifies the size and type of a variable.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Non-Primitive Data Types:</a:t>
            </a:r>
            <a:r>
              <a:rPr lang="en">
                <a:solidFill>
                  <a:schemeClr val="dk1"/>
                </a:solidFill>
              </a:rPr>
              <a:t> Holds a reference to an object or location.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311700" y="416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Data Types (</a:t>
            </a:r>
            <a:r>
              <a:rPr b="1" lang="en" sz="2520"/>
              <a:t>Contd</a:t>
            </a:r>
            <a:r>
              <a:rPr b="1" lang="en"/>
              <a:t>)</a:t>
            </a:r>
            <a:endParaRPr b="1"/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950" y="988875"/>
            <a:ext cx="6965048" cy="384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idx="4294967295" type="title"/>
          </p:nvPr>
        </p:nvSpPr>
        <p:spPr>
          <a:xfrm>
            <a:off x="311700" y="400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Data Types (Contd)</a:t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10"/>
          <p:cNvGraphicFramePr/>
          <p:nvPr/>
        </p:nvGraphicFramePr>
        <p:xfrm>
          <a:off x="1222350" y="1060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{16C42E45-F1CC-43C9-B5C7-43940382D55B}</a:tableStyleId>
              </a:tblPr>
              <a:tblGrid>
                <a:gridCol w="1045425"/>
                <a:gridCol w="2382500"/>
                <a:gridCol w="3271375"/>
              </a:tblGrid>
              <a:tr h="2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Data Type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Significance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Range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byte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8-bit integer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-128 to 127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short 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Short integer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-32,768 to 32,767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Integer value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–2,147,483,648 to 2,147,483,647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32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long</a:t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Long integer</a:t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–9,223,372,036,854,775,808 to 9,223,372,036,854,775,807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0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float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Single-precision floating point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1.4e-45 to 3.4e+38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double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Double-precision floating point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4.9e-324 to 1.8e+308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boolean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t</a:t>
                      </a:r>
                      <a:r>
                        <a:rPr lang="en" sz="1200" u="none" cap="none" strike="noStrike"/>
                        <a:t>rue/ </a:t>
                      </a:r>
                      <a:r>
                        <a:rPr lang="en" sz="1200"/>
                        <a:t>f</a:t>
                      </a:r>
                      <a:r>
                        <a:rPr lang="en" sz="1200" u="none" cap="none" strike="noStrike"/>
                        <a:t>alse value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char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Character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‘</a:t>
                      </a:r>
                      <a:r>
                        <a:rPr lang="en" sz="1200"/>
                        <a:t>a</a:t>
                      </a:r>
                      <a:r>
                        <a:rPr lang="en" sz="1200"/>
                        <a:t>’, ‘b’, ‘c’, ‘1’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String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</a:t>
                      </a:r>
                      <a:r>
                        <a:rPr lang="en" sz="1200"/>
                        <a:t>a</a:t>
                      </a:r>
                      <a:r>
                        <a:rPr lang="en" sz="1200"/>
                        <a:t>bc”, “CSE110 Spring 26”, “a”, “”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/>
              <a:t>Data Types (Contd)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Primitive Data Types Example: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1196850" y="1842625"/>
            <a:ext cx="6448800" cy="2692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 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= 20;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 s1 = 1000;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var = 2351678;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a = 10;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float b = 1.56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         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f specifies float value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d1 = 12.6543d;  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d specifies double value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 ch = ‘a’;                 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Enclosed by 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quotation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boolean answer = true;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/>
              <a:t>Data Types (Contd)</a:t>
            </a:r>
            <a:endParaRPr sz="2500"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311700" y="1152475"/>
            <a:ext cx="85206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Non-primitive Data Types Example: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String</a:t>
            </a:r>
            <a:r>
              <a:rPr lang="en">
                <a:solidFill>
                  <a:schemeClr val="dk1"/>
                </a:solidFill>
              </a:rPr>
              <a:t>: A sequence of characters surrounded by </a:t>
            </a:r>
            <a:r>
              <a:rPr b="1" lang="en">
                <a:solidFill>
                  <a:schemeClr val="dk1"/>
                </a:solidFill>
              </a:rPr>
              <a:t>double quotes.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600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       String my_string = “Hello World”;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Arrays</a:t>
            </a:r>
            <a:r>
              <a:rPr lang="en">
                <a:solidFill>
                  <a:schemeClr val="dk1"/>
                </a:solidFill>
              </a:rPr>
              <a:t>: Collection of a fixed number of values of similar data type.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Example: 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       int [ ] arr1 = {24, 9, -11, 5};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/>
              <a:t>THANK YOU!</a:t>
            </a:r>
            <a:endParaRPr b="1" sz="3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