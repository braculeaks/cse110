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jljq5KFIJmXL11730wpsfSNwy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drive/folders/1pzTIouwS9-tHVEb9HdBnp1WL7NDrK_BI" TargetMode="External"/><Relationship Id="rId4" Type="http://schemas.openxmlformats.org/officeDocument/2006/relationships/hyperlink" Target="https://www.youtube.com/watch?v=Gss9sL3Q-8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Introduction to Java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Why Java?</a:t>
            </a:r>
            <a:endParaRPr b="1"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Runs on more than </a:t>
            </a:r>
            <a:r>
              <a:rPr b="1" lang="en" sz="1600">
                <a:solidFill>
                  <a:schemeClr val="dk1"/>
                </a:solidFill>
              </a:rPr>
              <a:t>5.5 billion devices</a:t>
            </a:r>
            <a:r>
              <a:rPr lang="en" sz="1600">
                <a:solidFill>
                  <a:schemeClr val="dk1"/>
                </a:solidFill>
              </a:rPr>
              <a:t>. Java is versatile and applicable to Web Development, Mobile Apps (Android), Desktop Applications, IOT Devices and more.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Java's </a:t>
            </a:r>
            <a:r>
              <a:rPr b="1" lang="en" sz="1600">
                <a:solidFill>
                  <a:schemeClr val="dk1"/>
                </a:solidFill>
              </a:rPr>
              <a:t>OOP</a:t>
            </a:r>
            <a:r>
              <a:rPr lang="en" sz="1600">
                <a:solidFill>
                  <a:schemeClr val="dk1"/>
                </a:solidFill>
              </a:rPr>
              <a:t> implementation is widely regarded as robust and effective.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Enterprise and Large-Scale Systems</a:t>
            </a:r>
            <a:r>
              <a:rPr lang="en" sz="1600">
                <a:solidFill>
                  <a:schemeClr val="dk1"/>
                </a:solidFill>
              </a:rPr>
              <a:t>. Java is trusted for its stability, scalability, and security in mission-critical projects.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Platform Independency</a:t>
            </a:r>
            <a:r>
              <a:rPr lang="en" sz="1600">
                <a:solidFill>
                  <a:schemeClr val="dk1"/>
                </a:solidFill>
              </a:rPr>
              <a:t> allows Java to compile it’s code once and run in any OS with a JVM (Java Virtual Machine).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idx="1" type="body"/>
          </p:nvPr>
        </p:nvSpPr>
        <p:spPr>
          <a:xfrm>
            <a:off x="311700" y="1152475"/>
            <a:ext cx="8539200" cy="3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600">
                <a:solidFill>
                  <a:schemeClr val="dk1"/>
                </a:solidFill>
              </a:rPr>
              <a:t>In order to understand Platform Independency, we must know about </a:t>
            </a:r>
            <a:r>
              <a:rPr b="1" lang="en" sz="1600">
                <a:solidFill>
                  <a:schemeClr val="dk1"/>
                </a:solidFill>
              </a:rPr>
              <a:t>three core components</a:t>
            </a:r>
            <a:r>
              <a:rPr lang="en" sz="1600">
                <a:solidFill>
                  <a:schemeClr val="dk1"/>
                </a:solidFill>
              </a:rPr>
              <a:t> of Java and understand how Java executes its codes.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1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4307"/>
              <a:buNone/>
            </a:pPr>
            <a:r>
              <a:rPr b="1" lang="en"/>
              <a:t>Platform Independency </a:t>
            </a:r>
            <a:r>
              <a:rPr b="1" lang="en" sz="1687"/>
              <a:t>- A key feature of Java</a:t>
            </a:r>
            <a:endParaRPr b="1" sz="1687"/>
          </a:p>
        </p:txBody>
      </p:sp>
      <p:sp>
        <p:nvSpPr>
          <p:cNvPr id="67" name="Google Shape;67;p3"/>
          <p:cNvSpPr txBox="1"/>
          <p:nvPr/>
        </p:nvSpPr>
        <p:spPr>
          <a:xfrm>
            <a:off x="311700" y="1805025"/>
            <a:ext cx="8197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36576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i="1" lang="e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JVM (Java Virtual Machine)</a:t>
            </a:r>
            <a:r>
              <a:rPr b="0" i="0" lang="en" sz="1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platform dependent interpreter. This is the component that </a:t>
            </a:r>
            <a:r>
              <a:rPr b="1" i="0" lang="en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executes bytecode</a:t>
            </a:r>
            <a:r>
              <a:rPr b="0" i="0" lang="en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Mac, Linux, Windows each has different JVMs</a:t>
            </a:r>
            <a:r>
              <a:rPr b="0" i="0" lang="en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197800" y="2692100"/>
            <a:ext cx="819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1" lang="en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JRE (Java Runtime Environment)</a:t>
            </a:r>
            <a:r>
              <a:rPr b="0" i="0" lang="en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contains the </a:t>
            </a:r>
            <a:r>
              <a:rPr b="1" i="0" lang="en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 and libraries</a:t>
            </a:r>
            <a:r>
              <a:rPr b="0" i="0" lang="en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JVM uses to execute Java programs. JRE includes JVM as well. JRE is required to RUN any java program.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197800" y="3537500"/>
            <a:ext cx="81975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1" lang="en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JDK (Java Development Kit)</a:t>
            </a:r>
            <a:r>
              <a:rPr b="0" i="0" lang="en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contains various tools for developers like </a:t>
            </a:r>
            <a:r>
              <a:rPr b="1" i="0" lang="en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Compiler (javac)</a:t>
            </a:r>
            <a:r>
              <a:rPr b="0" i="0" lang="en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</a:t>
            </a:r>
            <a:r>
              <a:rPr b="1" i="0" lang="en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Debugger (jdb) </a:t>
            </a:r>
            <a:r>
              <a:rPr b="0" i="0" lang="en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etc. JDK is required for coding and developing Java applications. JRE is included with JDK.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11700" y="357400"/>
            <a:ext cx="81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4307"/>
              <a:buNone/>
            </a:pPr>
            <a:r>
              <a:rPr b="1" lang="en"/>
              <a:t>Platform Independency (Contd.)</a:t>
            </a:r>
            <a:endParaRPr b="1" sz="1687"/>
          </a:p>
        </p:txBody>
      </p:sp>
      <p:sp>
        <p:nvSpPr>
          <p:cNvPr id="75" name="Google Shape;75;p4"/>
          <p:cNvSpPr/>
          <p:nvPr/>
        </p:nvSpPr>
        <p:spPr>
          <a:xfrm>
            <a:off x="1900719" y="2621750"/>
            <a:ext cx="6189900" cy="17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JDK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066791" y="2972427"/>
            <a:ext cx="1083600" cy="6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Compiler</a:t>
            </a:r>
            <a:endParaRPr b="0" i="0" sz="1400" u="none" cap="none" strike="noStrike">
              <a:solidFill>
                <a:srgbClr val="000000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045091" y="2801359"/>
            <a:ext cx="2811900" cy="146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JRE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745905" y="2972427"/>
            <a:ext cx="727800" cy="6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JVM</a:t>
            </a:r>
            <a:endParaRPr b="1" i="0" sz="1800" u="none" cap="none" strike="noStrike">
              <a:solidFill>
                <a:srgbClr val="000000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689368" y="3150427"/>
            <a:ext cx="997200" cy="4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Libraries</a:t>
            </a:r>
            <a:endParaRPr b="0" i="0" sz="1400" u="none" cap="none" strike="noStrike">
              <a:solidFill>
                <a:srgbClr val="000000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3600887" y="2877278"/>
            <a:ext cx="103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.class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files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4"/>
          <p:cNvCxnSpPr>
            <a:stCxn id="76" idx="3"/>
            <a:endCxn id="80" idx="1"/>
          </p:cNvCxnSpPr>
          <p:nvPr/>
        </p:nvCxnSpPr>
        <p:spPr>
          <a:xfrm flipH="1" rot="10800000">
            <a:off x="3150391" y="3138927"/>
            <a:ext cx="45060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" name="Google Shape;82;p4"/>
          <p:cNvCxnSpPr>
            <a:stCxn id="80" idx="3"/>
            <a:endCxn id="78" idx="1"/>
          </p:cNvCxnSpPr>
          <p:nvPr/>
        </p:nvCxnSpPr>
        <p:spPr>
          <a:xfrm>
            <a:off x="4638587" y="3138878"/>
            <a:ext cx="110730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" name="Google Shape;83;p4"/>
          <p:cNvSpPr/>
          <p:nvPr/>
        </p:nvSpPr>
        <p:spPr>
          <a:xfrm>
            <a:off x="544075" y="2877278"/>
            <a:ext cx="997200" cy="80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Source Files</a:t>
            </a:r>
            <a:endParaRPr b="0" i="0" sz="1000" u="none" cap="none" strike="noStrike">
              <a:solidFill>
                <a:schemeClr val="dk1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" sz="1000" u="none" cap="none" strike="noStrike">
                <a:solidFill>
                  <a:schemeClr val="dk1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.java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) files</a:t>
            </a:r>
            <a:endParaRPr b="0" i="0" sz="1000" u="none" cap="none" strike="noStrike">
              <a:solidFill>
                <a:srgbClr val="000000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4"/>
          <p:cNvCxnSpPr>
            <a:stCxn id="83" idx="3"/>
            <a:endCxn id="76" idx="1"/>
          </p:cNvCxnSpPr>
          <p:nvPr/>
        </p:nvCxnSpPr>
        <p:spPr>
          <a:xfrm>
            <a:off x="1541275" y="3278078"/>
            <a:ext cx="52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4"/>
          <p:cNvSpPr/>
          <p:nvPr/>
        </p:nvSpPr>
        <p:spPr>
          <a:xfrm>
            <a:off x="2110020" y="3781530"/>
            <a:ext cx="997200" cy="4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Debugger</a:t>
            </a:r>
            <a:endParaRPr b="0" i="0" sz="1200" u="none" cap="none" strike="noStrike">
              <a:solidFill>
                <a:srgbClr val="000000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276650" y="1114125"/>
            <a:ext cx="81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arenR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code goes through the compiler within the JDK.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276650" y="2126525"/>
            <a:ext cx="81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arenR" startAt="3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ByteCode (.class file) is executed by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JVM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various libraries from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JRE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276650" y="1514325"/>
            <a:ext cx="819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arenR" startAt="2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converts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Code to Byte Code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is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independent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Now this ByteCode can be run in any OS without compiling.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Installing JDK &amp; DrJava</a:t>
            </a:r>
            <a:endParaRPr b="1"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For this course we’ll be using JDK version 8.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Link to JDK version 8 and DrJava IDE: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https://drive.google.com/drive/folders/1pzTIouwS9-tHVEb9HdBnp1WL7NDrK_BI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JDK and DrJava Installation Tutorial: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https://www.youtube.com/watch?v=Gss9sL3Q-8s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Let’s write our first program using Java</a:t>
            </a:r>
            <a:endParaRPr sz="122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22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Writing Your First Program</a:t>
            </a:r>
            <a:endParaRPr b="1"/>
          </a:p>
        </p:txBody>
      </p:sp>
      <p:sp>
        <p:nvSpPr>
          <p:cNvPr id="101" name="Google Shape;101;p6"/>
          <p:cNvSpPr txBox="1"/>
          <p:nvPr/>
        </p:nvSpPr>
        <p:spPr>
          <a:xfrm>
            <a:off x="430200" y="1684026"/>
            <a:ext cx="48279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b="0" i="0" sz="122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b="0" i="0" lang="en" sz="1220" u="none" cap="none" strike="noStrike">
                <a:solidFill>
                  <a:srgbClr val="0B5394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b="0" i="0" sz="122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22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22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b="0" i="0" lang="en" sz="1220" u="none" cap="none" strike="noStrike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b="0" i="0" lang="en" sz="122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2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2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430200" y="3174525"/>
            <a:ext cx="4827900" cy="738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Welcome to DrJava.  Working directory is /home/Documents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run </a:t>
            </a:r>
            <a:r>
              <a:rPr b="0" i="0" lang="en" sz="12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FirstProgram</a:t>
            </a:r>
            <a:endParaRPr b="0" i="0" sz="12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Hello World</a:t>
            </a:r>
            <a:endParaRPr b="0" i="0" sz="12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5697200" y="1675425"/>
            <a:ext cx="248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program will print out “Hello World”.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5593975" y="2763500"/>
            <a:ext cx="307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PS: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now you have to memorize the highlighted portion.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Don’t worry, all of it will make sense by the end of this course.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Running Java code using DrJava</a:t>
            </a:r>
            <a:endParaRPr b="1"/>
          </a:p>
        </p:txBody>
      </p:sp>
      <p:sp>
        <p:nvSpPr>
          <p:cNvPr id="110" name="Google Shape;110;p7"/>
          <p:cNvSpPr txBox="1"/>
          <p:nvPr/>
        </p:nvSpPr>
        <p:spPr>
          <a:xfrm>
            <a:off x="6073225" y="1316025"/>
            <a:ext cx="2880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writing our code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Dr Java’s editor, we have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the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Compile the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the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6073225" y="2666600"/>
            <a:ext cx="2880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in mind,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file name has to be the same as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example,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FirstProgram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our class name.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75" y="1170271"/>
            <a:ext cx="5630602" cy="372635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4438083" y="1103450"/>
            <a:ext cx="133925" cy="2484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sp>
        <p:nvSpPr>
          <p:cNvPr id="114" name="Google Shape;114;p7"/>
          <p:cNvSpPr/>
          <p:nvPr/>
        </p:nvSpPr>
        <p:spPr>
          <a:xfrm>
            <a:off x="5103275" y="1101375"/>
            <a:ext cx="168628" cy="25257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3</a:t>
            </a:r>
          </a:p>
        </p:txBody>
      </p:sp>
      <p:sp>
        <p:nvSpPr>
          <p:cNvPr id="115" name="Google Shape;115;p7"/>
          <p:cNvSpPr/>
          <p:nvPr/>
        </p:nvSpPr>
        <p:spPr>
          <a:xfrm>
            <a:off x="1239174" y="1103450"/>
            <a:ext cx="77125" cy="2484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2201725" y="3032775"/>
            <a:ext cx="34203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070550" y="3087675"/>
            <a:ext cx="13056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println()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223025" y="2025650"/>
            <a:ext cx="33777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457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2440175" y="2083125"/>
            <a:ext cx="16620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457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141863" y="2080550"/>
            <a:ext cx="11454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359625" y="1056325"/>
            <a:ext cx="8049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b="0" i="0" lang="en" sz="18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show the output in the console, java uses three different approaches.</a:t>
            </a:r>
            <a:endParaRPr b="0" i="0" sz="1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440175" y="3070675"/>
            <a:ext cx="15717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285F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311700" y="445025"/>
            <a:ext cx="282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Printing in Java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141900" y="4021000"/>
            <a:ext cx="34203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440100" y="4092225"/>
            <a:ext cx="15717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285F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070550" y="4092225"/>
            <a:ext cx="11454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printf()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75775" y="2944650"/>
            <a:ext cx="1362900" cy="650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refers to the output stream</a:t>
            </a:r>
            <a:endParaRPr b="1" i="0" sz="13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8"/>
          <p:cNvCxnSpPr>
            <a:stCxn id="126" idx="1"/>
            <a:endCxn id="131" idx="3"/>
          </p:cNvCxnSpPr>
          <p:nvPr/>
        </p:nvCxnSpPr>
        <p:spPr>
          <a:xfrm flipH="1">
            <a:off x="1838675" y="3270025"/>
            <a:ext cx="6015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p8"/>
          <p:cNvCxnSpPr>
            <a:stCxn id="123" idx="1"/>
            <a:endCxn id="131" idx="0"/>
          </p:cNvCxnSpPr>
          <p:nvPr/>
        </p:nvCxnSpPr>
        <p:spPr>
          <a:xfrm flipH="1">
            <a:off x="1157375" y="2282475"/>
            <a:ext cx="1282800" cy="6621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4" name="Google Shape;134;p8"/>
          <p:cNvCxnSpPr>
            <a:stCxn id="129" idx="1"/>
            <a:endCxn id="131" idx="2"/>
          </p:cNvCxnSpPr>
          <p:nvPr/>
        </p:nvCxnSpPr>
        <p:spPr>
          <a:xfrm rot="10800000">
            <a:off x="1157300" y="3595275"/>
            <a:ext cx="1282800" cy="6963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" name="Google Shape;135;p8"/>
          <p:cNvSpPr/>
          <p:nvPr/>
        </p:nvSpPr>
        <p:spPr>
          <a:xfrm>
            <a:off x="6275075" y="1748000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prints any argument passed to it while keeping the cursor on the same line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275075" y="2907675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prints any argument passed to it followed by a line break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275075" y="4021000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prints the output in a specified format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8"/>
          <p:cNvCxnSpPr>
            <a:stCxn id="130" idx="3"/>
            <a:endCxn id="137" idx="1"/>
          </p:cNvCxnSpPr>
          <p:nvPr/>
        </p:nvCxnSpPr>
        <p:spPr>
          <a:xfrm>
            <a:off x="5215950" y="4291575"/>
            <a:ext cx="1059000" cy="108900"/>
          </a:xfrm>
          <a:prstGeom prst="bentConnector3">
            <a:avLst>
              <a:gd fmla="val 56355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9" name="Google Shape;139;p8"/>
          <p:cNvCxnSpPr>
            <a:stCxn id="124" idx="3"/>
            <a:endCxn id="135" idx="1"/>
          </p:cNvCxnSpPr>
          <p:nvPr/>
        </p:nvCxnSpPr>
        <p:spPr>
          <a:xfrm flipH="1" rot="10800000">
            <a:off x="5287263" y="2127500"/>
            <a:ext cx="987900" cy="1524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0" name="Google Shape;140;p8"/>
          <p:cNvCxnSpPr>
            <a:stCxn id="121" idx="3"/>
            <a:endCxn id="136" idx="1"/>
          </p:cNvCxnSpPr>
          <p:nvPr/>
        </p:nvCxnSpPr>
        <p:spPr>
          <a:xfrm>
            <a:off x="5376150" y="3287025"/>
            <a:ext cx="898800" cy="6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311700" y="445025"/>
            <a:ext cx="636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Printing in Java (Contd)</a:t>
            </a:r>
            <a:endParaRPr b="1"/>
          </a:p>
        </p:txBody>
      </p:sp>
      <p:sp>
        <p:nvSpPr>
          <p:cNvPr id="146" name="Google Shape;146;p9"/>
          <p:cNvSpPr txBox="1"/>
          <p:nvPr/>
        </p:nvSpPr>
        <p:spPr>
          <a:xfrm>
            <a:off x="1520700" y="1241750"/>
            <a:ext cx="6102600" cy="2205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0" i="0" lang="en" sz="13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PrintingExample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b="0" i="0" sz="13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public static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args)  { 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" sz="1300" u="none" cap="none" strike="noStrik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1.56f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b="0" i="0" lang="en" sz="13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"Number: "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1300" u="none" cap="none" strike="noStrik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b="0" i="0" lang="en" sz="13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.out.printf(</a:t>
            </a:r>
            <a:r>
              <a:rPr b="0" i="0" lang="en" sz="13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"Formatted y = %.4f\n"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  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1520700" y="3368050"/>
            <a:ext cx="6102600" cy="118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b="0" i="0" lang="en" sz="13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PrintingExample</a:t>
            </a:r>
            <a:endParaRPr b="0" i="0" sz="1300" u="none" cap="none" strike="noStrike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Number: 23Hello World</a:t>
            </a:r>
            <a:endParaRPr b="0" i="0" sz="1300" u="none" cap="none" strike="noStrike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Formatted y = 1.5600</a:t>
            </a:r>
            <a:endParaRPr b="0" i="0" sz="1300" u="none" cap="none" strike="noStrike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Comments are used to make the code more readable and easily understandable.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The commented portions of code are ignored by the java compiler.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Single line comments:</a:t>
            </a:r>
            <a:r>
              <a:rPr lang="en" sz="1700">
                <a:solidFill>
                  <a:srgbClr val="000000"/>
                </a:solidFill>
              </a:rPr>
              <a:t> Two forward slashes (//) are used at the beginning of the line. 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Multi-line comments: </a:t>
            </a:r>
            <a:r>
              <a:rPr lang="en" sz="1700">
                <a:solidFill>
                  <a:srgbClr val="000000"/>
                </a:solidFill>
              </a:rPr>
              <a:t>It starts with /* and ends with */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153" name="Google Shape;153;p10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Comments in Java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311700" y="445025"/>
            <a:ext cx="636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Comments in Java (Contd)</a:t>
            </a:r>
            <a:endParaRPr b="1"/>
          </a:p>
        </p:txBody>
      </p:sp>
      <p:sp>
        <p:nvSpPr>
          <p:cNvPr id="159" name="Google Shape;159;p11"/>
          <p:cNvSpPr txBox="1"/>
          <p:nvPr/>
        </p:nvSpPr>
        <p:spPr>
          <a:xfrm>
            <a:off x="1336200" y="1250750"/>
            <a:ext cx="6471600" cy="2726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Comments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b="0" i="0" sz="13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public static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args)  { 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This is an example of single-line comment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b="0" i="0" lang="en" sz="13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"Comments in Java"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/* This is an example of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multi-line comments 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 is another line</a:t>
            </a:r>
            <a:r>
              <a:rPr b="0" i="0" lang="en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13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b="0" i="0" lang="en" sz="13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"Program ends!"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  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1336200" y="3976850"/>
            <a:ext cx="6471600" cy="118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b="0" i="0" lang="en" sz="13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Comments</a:t>
            </a:r>
            <a:endParaRPr b="0" i="0" sz="1300" u="none" cap="none" strike="noStrike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Comments in Java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Program ends!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311700" y="445025"/>
            <a:ext cx="337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Java Keywords</a:t>
            </a:r>
            <a:endParaRPr b="1"/>
          </a:p>
        </p:txBody>
      </p:sp>
      <p:sp>
        <p:nvSpPr>
          <p:cNvPr id="166" name="Google Shape;166;p12"/>
          <p:cNvSpPr txBox="1"/>
          <p:nvPr/>
        </p:nvSpPr>
        <p:spPr>
          <a:xfrm>
            <a:off x="2228850" y="3124225"/>
            <a:ext cx="46863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b="0" i="0" sz="1220" u="none" cap="none" strike="noStrike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static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b="0" i="0" lang="en" sz="1220" u="none" cap="none" strike="noStrike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b="0" i="0" sz="1220" u="none" cap="none" strike="noStrike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220" u="none" cap="none" strike="noStrike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b="0" i="0" lang="en" sz="1220" u="none" cap="none" strike="noStrike">
                <a:solidFill>
                  <a:srgbClr val="A61C00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20" u="none" cap="none" strike="noStrike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20" u="none" cap="none" strike="noStrike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highlight>
                <a:srgbClr val="D9D9D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 txBox="1"/>
          <p:nvPr/>
        </p:nvSpPr>
        <p:spPr>
          <a:xfrm>
            <a:off x="311700" y="1095125"/>
            <a:ext cx="824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Keywords are few reserved words that have predefined meanings and can not be used as variable names. 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get to know some of them.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311700" y="1710725"/>
            <a:ext cx="454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229500" y="1710725"/>
            <a:ext cx="8685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 access modifier keyword. </a:t>
            </a:r>
            <a:r>
              <a:rPr b="0" i="0" lang="en" sz="16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It means the class/method is accessible from any other classes.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Private and Protected are other types of access modifiers.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>
            <a:off x="264300" y="2317925"/>
            <a:ext cx="8342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 startAt="2"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keyword is used to specify the classname. In our example, </a:t>
            </a:r>
            <a:r>
              <a:rPr b="0" i="0" lang="en" sz="1600" u="none" cap="none" strike="noStrike">
                <a:solidFill>
                  <a:srgbClr val="0000FF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0" i="0" lang="en" sz="160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FirstProgram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that FirstProgram is the classname.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Java Keywords (Contd)</a:t>
            </a:r>
            <a:endParaRPr b="1"/>
          </a:p>
        </p:txBody>
      </p:sp>
      <p:sp>
        <p:nvSpPr>
          <p:cNvPr id="176" name="Google Shape;176;p13"/>
          <p:cNvSpPr txBox="1"/>
          <p:nvPr/>
        </p:nvSpPr>
        <p:spPr>
          <a:xfrm>
            <a:off x="311700" y="1710725"/>
            <a:ext cx="454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311700" y="1084050"/>
            <a:ext cx="8514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 startAt="3"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This keyword means nothing will be returned from the method. We’ll learn more about these in the later lectures.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 startAt="3"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It means the method can be invoked without creating an instance of the class. Again, it’ll all make sense when we learn about these in the upcoming lectures.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1243350" y="4378500"/>
            <a:ext cx="66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keywords list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https://www.javatpoint.com/java-keywords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2142850" y="2708625"/>
            <a:ext cx="46863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b="0" i="0" sz="1220" u="none" cap="none" strike="noStrike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public </a:t>
            </a:r>
            <a:r>
              <a:rPr b="0" i="0" lang="en" sz="1220" u="none" cap="none" strike="noStrike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main (</a:t>
            </a:r>
            <a:r>
              <a:rPr b="0" i="0" lang="en" sz="1220" u="none" cap="none" strike="noStrike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b="0" i="0" sz="1220" u="none" cap="none" strike="noStrike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220" u="none" cap="none" strike="noStrike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b="0" i="0" lang="en" sz="1220" u="none" cap="none" strike="noStrike">
                <a:solidFill>
                  <a:srgbClr val="A61C00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20" u="none" cap="none" strike="noStrike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20" u="none" cap="none" strike="noStrike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b="0" i="0" lang="en" sz="1220" u="none" cap="none" strike="noStrike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highlight>
                <a:srgbClr val="D9D9D9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311700" y="1152475"/>
            <a:ext cx="724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620">
                <a:solidFill>
                  <a:srgbClr val="000000"/>
                </a:solidFill>
              </a:rPr>
              <a:t>In Java, scopes define the visibility and lifetime of variables, methods, and classes. Primarily these scopes are defined using </a:t>
            </a:r>
            <a:r>
              <a:rPr b="1" lang="en" sz="1620">
                <a:solidFill>
                  <a:srgbClr val="000000"/>
                </a:solidFill>
                <a:highlight>
                  <a:srgbClr val="CECAC3"/>
                </a:highlight>
              </a:rPr>
              <a:t>{ }</a:t>
            </a:r>
            <a:r>
              <a:rPr lang="en" sz="1620">
                <a:solidFill>
                  <a:srgbClr val="000000"/>
                </a:solidFill>
                <a:highlight>
                  <a:schemeClr val="lt1"/>
                </a:highlight>
              </a:rPr>
              <a:t> </a:t>
            </a:r>
            <a:r>
              <a:rPr b="1" lang="en" sz="1620">
                <a:solidFill>
                  <a:schemeClr val="dk1"/>
                </a:solidFill>
                <a:highlight>
                  <a:schemeClr val="lt1"/>
                </a:highlight>
              </a:rPr>
              <a:t>(Curly Braces)</a:t>
            </a:r>
            <a:r>
              <a:rPr lang="en" sz="1620">
                <a:solidFill>
                  <a:srgbClr val="000000"/>
                </a:solidFill>
                <a:highlight>
                  <a:schemeClr val="lt1"/>
                </a:highlight>
              </a:rPr>
              <a:t>.</a:t>
            </a:r>
            <a:endParaRPr sz="162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185" name="Google Shape;185;p14"/>
          <p:cNvSpPr txBox="1"/>
          <p:nvPr>
            <p:ph type="title"/>
          </p:nvPr>
        </p:nvSpPr>
        <p:spPr>
          <a:xfrm>
            <a:off x="311700" y="445025"/>
            <a:ext cx="23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Java Scopes</a:t>
            </a:r>
            <a:endParaRPr b="1"/>
          </a:p>
        </p:txBody>
      </p:sp>
      <p:sp>
        <p:nvSpPr>
          <p:cNvPr id="186" name="Google Shape;186;p14"/>
          <p:cNvSpPr txBox="1"/>
          <p:nvPr/>
        </p:nvSpPr>
        <p:spPr>
          <a:xfrm>
            <a:off x="4060650" y="1907675"/>
            <a:ext cx="4459200" cy="1391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19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b="0" i="0" lang="en" sz="1120" u="none" cap="none" strike="noStrike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0" i="0" lang="en" sz="11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</a:t>
            </a:r>
            <a:r>
              <a:rPr b="1" i="0" lang="en" sz="11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12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b="0" i="0" lang="en" sz="1120" u="none" cap="none" strike="noStrike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120" u="none" cap="none" strike="noStrike">
                <a:solidFill>
                  <a:srgbClr val="0000FF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b="0" i="0" lang="en" sz="1120" u="none" cap="none" strike="noStrike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b="0" i="0" lang="en" sz="1120" u="none" cap="none" strike="noStrike">
                <a:solidFill>
                  <a:srgbClr val="0B5394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120" u="none" cap="none" strike="noStrike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[] args) </a:t>
            </a:r>
            <a:r>
              <a:rPr b="1" i="0" lang="en" sz="1120" u="none" cap="none" strike="noStrike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120" u="none" cap="none" strike="noStrike">
              <a:solidFill>
                <a:schemeClr val="dk1"/>
              </a:solidFill>
              <a:highlight>
                <a:schemeClr val="accent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06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ourier New"/>
              <a:buAutoNum type="arabicPeriod"/>
            </a:pPr>
            <a:r>
              <a:rPr b="0" i="0" lang="en" sz="112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12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12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b="0" i="0" lang="en" sz="1120" u="none" cap="none" strike="noStrike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b="0" i="0" lang="en" sz="112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2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b="0" i="0" lang="en" sz="1120" u="none" cap="none" strike="noStrike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" sz="1120" u="none" cap="none" strike="noStrike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120" u="none" cap="none" strike="noStrike">
              <a:solidFill>
                <a:schemeClr val="dk1"/>
              </a:solidFill>
              <a:highlight>
                <a:schemeClr val="accent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b="1" i="0" lang="en" sz="112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30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311700" y="1907675"/>
            <a:ext cx="36438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shown in the example, after declaring the classname “FirstProgram” in the line 1, </a:t>
            </a: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“{“ 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 used.</a:t>
            </a: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meant everything below was within </a:t>
            </a: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Scope 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until the bracket was closed in line 5 using 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“}”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1336050" y="3903675"/>
            <a:ext cx="6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We’ll learn more about scopes in the Branching and Loop chapters.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311700" y="6653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 sz="3200">
                <a:solidFill>
                  <a:schemeClr val="dk1"/>
                </a:solidFill>
              </a:rPr>
              <a:t>THANK YOU!</a:t>
            </a:r>
            <a:endParaRPr b="1"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