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aa964a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aa964a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457db016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457db016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457db0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457db0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440ec8b0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440ec8b0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adaaff0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adaaff0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9ac3d3a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9ac3d3a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59ac3d3abc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59ac3d3ab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daaff0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adaaff0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adaaff076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adaaff076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(while)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9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 to loop</a:t>
            </a:r>
            <a:endParaRPr b="1" sz="175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46100"/>
            <a:ext cx="8520600" cy="3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Loop is one of fundamental concepts of programming.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</a:t>
            </a:r>
            <a:r>
              <a:rPr lang="en">
                <a:solidFill>
                  <a:schemeClr val="dk1"/>
                </a:solidFill>
              </a:rPr>
              <a:t> is a </a:t>
            </a:r>
            <a:r>
              <a:rPr b="1" lang="en">
                <a:solidFill>
                  <a:schemeClr val="dk1"/>
                </a:solidFill>
              </a:rPr>
              <a:t>control structure</a:t>
            </a:r>
            <a:r>
              <a:rPr lang="en">
                <a:solidFill>
                  <a:schemeClr val="dk1"/>
                </a:solidFill>
              </a:rPr>
              <a:t> that allows one to repeatedly execute a block of codes.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Components of a loop:</a:t>
            </a:r>
            <a:endParaRPr u="sng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Initialization:</a:t>
            </a:r>
            <a:r>
              <a:rPr lang="en" sz="1700">
                <a:solidFill>
                  <a:schemeClr val="dk1"/>
                </a:solidFill>
              </a:rPr>
              <a:t> one or more variable(s) to keep track of the loop.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Condition:</a:t>
            </a:r>
            <a:r>
              <a:rPr lang="en" sz="1700">
                <a:solidFill>
                  <a:schemeClr val="dk1"/>
                </a:solidFill>
              </a:rPr>
              <a:t> boolean expression based on which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Body:</a:t>
            </a:r>
            <a:r>
              <a:rPr lang="en" sz="1700">
                <a:solidFill>
                  <a:schemeClr val="dk1"/>
                </a:solidFill>
              </a:rPr>
              <a:t> block of codes which is executed each time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Steps:</a:t>
            </a:r>
            <a:r>
              <a:rPr lang="en" sz="1700">
                <a:solidFill>
                  <a:schemeClr val="dk1"/>
                </a:solidFill>
              </a:rPr>
              <a:t> updating the initialized variable(s) to make sure the loop runs certain amount of times only.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30800"/>
            <a:ext cx="5323200" cy="10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Before diving into programming, let’s try to visualize how loop actually works using Flowcharts.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79371" y="9834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69" name="Google Shape;69;p15"/>
          <p:cNvSpPr/>
          <p:nvPr/>
        </p:nvSpPr>
        <p:spPr>
          <a:xfrm>
            <a:off x="7037474" y="42418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70" name="Google Shape;70;p15"/>
          <p:cNvCxnSpPr>
            <a:stCxn id="67" idx="2"/>
            <a:endCxn id="68" idx="1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5"/>
          <p:cNvSpPr/>
          <p:nvPr/>
        </p:nvSpPr>
        <p:spPr>
          <a:xfrm>
            <a:off x="6779371" y="1571433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2" name="Google Shape;72;p15"/>
          <p:cNvSpPr/>
          <p:nvPr/>
        </p:nvSpPr>
        <p:spPr>
          <a:xfrm>
            <a:off x="6779383" y="30540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3" name="Google Shape;73;p15"/>
          <p:cNvSpPr/>
          <p:nvPr/>
        </p:nvSpPr>
        <p:spPr>
          <a:xfrm>
            <a:off x="6779383" y="36479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cxnSp>
        <p:nvCxnSpPr>
          <p:cNvPr id="74" name="Google Shape;74;p15"/>
          <p:cNvCxnSpPr>
            <a:stCxn id="68" idx="4"/>
            <a:endCxn id="71" idx="1"/>
          </p:cNvCxnSpPr>
          <p:nvPr/>
        </p:nvCxnSpPr>
        <p:spPr>
          <a:xfrm>
            <a:off x="7610054" y="1371916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>
            <a:stCxn id="72" idx="4"/>
            <a:endCxn id="73" idx="1"/>
          </p:cNvCxnSpPr>
          <p:nvPr/>
        </p:nvCxnSpPr>
        <p:spPr>
          <a:xfrm>
            <a:off x="7610067" y="34425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3" idx="4"/>
            <a:endCxn id="69" idx="0"/>
          </p:cNvCxnSpPr>
          <p:nvPr/>
        </p:nvCxnSpPr>
        <p:spPr>
          <a:xfrm>
            <a:off x="7610067" y="40364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1" idx="4"/>
            <a:endCxn id="72" idx="1"/>
          </p:cNvCxnSpPr>
          <p:nvPr/>
        </p:nvCxnSpPr>
        <p:spPr>
          <a:xfrm>
            <a:off x="7610054" y="1959878"/>
            <a:ext cx="0" cy="109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7539100" y="1768825"/>
            <a:ext cx="575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018400" y="23068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496 times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1961850"/>
            <a:ext cx="53232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Draw a flowchart that print “CSE is fun” 500 times.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 u="sng">
                <a:solidFill>
                  <a:schemeClr val="dk1"/>
                </a:solidFill>
              </a:rPr>
              <a:t>Two Possible solutions</a:t>
            </a:r>
            <a:r>
              <a:rPr lang="en" sz="1700" u="sng">
                <a:solidFill>
                  <a:schemeClr val="dk1"/>
                </a:solidFill>
              </a:rPr>
              <a:t>:</a:t>
            </a:r>
            <a:endParaRPr sz="1700" u="sng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11700" y="33034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Draw the </a:t>
            </a:r>
            <a:r>
              <a:rPr b="1" lang="en" sz="1600">
                <a:solidFill>
                  <a:schemeClr val="dk1"/>
                </a:solidFill>
              </a:rPr>
              <a:t>Print</a:t>
            </a:r>
            <a:r>
              <a:rPr lang="en" sz="1600">
                <a:solidFill>
                  <a:schemeClr val="dk1"/>
                </a:solidFill>
              </a:rPr>
              <a:t> block 500 times.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11700" y="38431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2"/>
            </a:pPr>
            <a:r>
              <a:rPr lang="en" sz="1600">
                <a:solidFill>
                  <a:schemeClr val="dk1"/>
                </a:solidFill>
              </a:rPr>
              <a:t>Using Loops!!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769983" y="270672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85" name="Google Shape;85;p15"/>
          <p:cNvSpPr/>
          <p:nvPr/>
        </p:nvSpPr>
        <p:spPr>
          <a:xfrm>
            <a:off x="7142899" y="42417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86" name="Google Shape;86;p15"/>
          <p:cNvCxnSpPr>
            <a:stCxn id="83" idx="2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6779400" y="1657925"/>
            <a:ext cx="1661375" cy="797588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&lt;= 500 ?</a:t>
            </a:r>
            <a:endParaRPr/>
          </a:p>
        </p:txBody>
      </p:sp>
      <p:cxnSp>
        <p:nvCxnSpPr>
          <p:cNvPr id="88" name="Google Shape;88;p15"/>
          <p:cNvCxnSpPr>
            <a:endCxn id="87" idx="0"/>
          </p:cNvCxnSpPr>
          <p:nvPr/>
        </p:nvCxnSpPr>
        <p:spPr>
          <a:xfrm>
            <a:off x="7610088" y="1236125"/>
            <a:ext cx="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5"/>
          <p:cNvSpPr txBox="1"/>
          <p:nvPr/>
        </p:nvSpPr>
        <p:spPr>
          <a:xfrm>
            <a:off x="6973825" y="2328213"/>
            <a:ext cx="7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TRUE</a:t>
            </a:r>
            <a:endParaRPr sz="1200"/>
          </a:p>
        </p:txBody>
      </p:sp>
      <p:sp>
        <p:nvSpPr>
          <p:cNvPr id="90" name="Google Shape;90;p15"/>
          <p:cNvSpPr txBox="1"/>
          <p:nvPr/>
        </p:nvSpPr>
        <p:spPr>
          <a:xfrm>
            <a:off x="8182650" y="1693750"/>
            <a:ext cx="723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FALSE</a:t>
            </a:r>
            <a:endParaRPr sz="1200"/>
          </a:p>
        </p:txBody>
      </p:sp>
      <p:cxnSp>
        <p:nvCxnSpPr>
          <p:cNvPr id="91" name="Google Shape;91;p15"/>
          <p:cNvCxnSpPr>
            <a:stCxn id="87" idx="2"/>
            <a:endCxn id="84" idx="1"/>
          </p:cNvCxnSpPr>
          <p:nvPr/>
        </p:nvCxnSpPr>
        <p:spPr>
          <a:xfrm flipH="1">
            <a:off x="7600788" y="2455513"/>
            <a:ext cx="930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6851325" y="982698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= 1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796625" y="3450761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+= 1</a:t>
            </a:r>
            <a:endParaRPr/>
          </a:p>
        </p:txBody>
      </p:sp>
      <p:cxnSp>
        <p:nvCxnSpPr>
          <p:cNvPr id="94" name="Google Shape;94;p15"/>
          <p:cNvCxnSpPr>
            <a:stCxn id="84" idx="4"/>
            <a:endCxn id="93" idx="0"/>
          </p:cNvCxnSpPr>
          <p:nvPr/>
        </p:nvCxnSpPr>
        <p:spPr>
          <a:xfrm flipH="1">
            <a:off x="7591367" y="3095166"/>
            <a:ext cx="93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3" idx="1"/>
            <a:endCxn id="87" idx="1"/>
          </p:cNvCxnSpPr>
          <p:nvPr/>
        </p:nvCxnSpPr>
        <p:spPr>
          <a:xfrm rot="10800000">
            <a:off x="6779525" y="2056786"/>
            <a:ext cx="17100" cy="1588200"/>
          </a:xfrm>
          <a:prstGeom prst="bentConnector3">
            <a:avLst>
              <a:gd fmla="val 14932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5"/>
          <p:cNvCxnSpPr>
            <a:stCxn id="87" idx="3"/>
            <a:endCxn id="85" idx="0"/>
          </p:cNvCxnSpPr>
          <p:nvPr/>
        </p:nvCxnSpPr>
        <p:spPr>
          <a:xfrm flipH="1">
            <a:off x="7715375" y="2056719"/>
            <a:ext cx="725400" cy="2185200"/>
          </a:xfrm>
          <a:prstGeom prst="bentConnector4">
            <a:avLst>
              <a:gd fmla="val -32827" name="adj1"/>
              <a:gd fmla="val 864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5"/>
          <p:cNvSpPr txBox="1"/>
          <p:nvPr/>
        </p:nvSpPr>
        <p:spPr>
          <a:xfrm>
            <a:off x="5564575" y="9768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039663" y="1639300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086150" y="3572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893138" y="2503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520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 (Contd)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017725"/>
            <a:ext cx="4771200" cy="4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Let’s try to solve another scenario using flowchart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1700" y="1494525"/>
            <a:ext cx="50472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Scenario: </a:t>
            </a:r>
            <a:r>
              <a:rPr lang="en" sz="1700">
                <a:solidFill>
                  <a:schemeClr val="dk1"/>
                </a:solidFill>
              </a:rPr>
              <a:t>Draw a flowchart that prints all  numbers between 1 to 120 (including) that are divisible by 7.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6382175" y="326762"/>
            <a:ext cx="2475750" cy="4489973"/>
            <a:chOff x="6382175" y="326762"/>
            <a:chExt cx="2475750" cy="4489973"/>
          </a:xfrm>
        </p:grpSpPr>
        <p:sp>
          <p:nvSpPr>
            <p:cNvPr id="109" name="Google Shape;109;p16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11" name="Google Shape;111;p16"/>
            <p:cNvCxnSpPr>
              <a:stCxn id="109" idx="2"/>
              <a:endCxn id="112" idx="1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" name="Google Shape;113;p16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14" name="Google Shape;114;p16"/>
            <p:cNvCxnSpPr>
              <a:stCxn id="112" idx="4"/>
              <a:endCxn id="113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" name="Google Shape;115;p16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17" name="Google Shape;117;p16"/>
            <p:cNvCxnSpPr>
              <a:stCxn id="113" idx="2"/>
              <a:endCxn id="118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" name="Google Shape;119;p16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= 1</a:t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+= 1</a:t>
              </a:r>
              <a:endParaRPr/>
            </a:p>
          </p:txBody>
        </p:sp>
        <p:cxnSp>
          <p:nvCxnSpPr>
            <p:cNvPr id="121" name="Google Shape;121;p16"/>
            <p:cNvCxnSpPr>
              <a:stCxn id="120" idx="1"/>
              <a:endCxn id="113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3712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23" name="Google Shape;123;p16"/>
            <p:cNvCxnSpPr>
              <a:stCxn id="118" idx="2"/>
              <a:endCxn id="122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" name="Google Shape;124;p16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" name="Google Shape;126;p16"/>
            <p:cNvCxnSpPr>
              <a:stCxn id="122" idx="4"/>
              <a:endCxn id="125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" name="Google Shape;127;p16"/>
            <p:cNvCxnSpPr>
              <a:stCxn id="118" idx="3"/>
              <a:endCxn id="125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16"/>
            <p:cNvCxnSpPr>
              <a:stCxn id="125" idx="4"/>
              <a:endCxn id="120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16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130" name="Google Shape;130;p16"/>
            <p:cNvCxnSpPr>
              <a:stCxn id="113" idx="3"/>
              <a:endCxn id="110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23095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1" name="Google Shape;131;p16"/>
          <p:cNvSpPr txBox="1"/>
          <p:nvPr/>
        </p:nvSpPr>
        <p:spPr>
          <a:xfrm>
            <a:off x="5629775" y="7053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629775" y="1302525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248375" y="40707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629775" y="25229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11700" y="2778825"/>
            <a:ext cx="5047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 you can see from this example, the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looping body can contain branching conditions as well. In complex operations, we can use loops within loops when needed.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Loops in Java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017725"/>
            <a:ext cx="8442600" cy="7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Now that you have a brief visualization of how loops work. Let’s head into coding in Java. There are three types of loops in Java.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86400" y="1903250"/>
            <a:ext cx="8367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while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for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do while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18650" y="3313950"/>
            <a:ext cx="8306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b="1" lang="en" sz="1700">
                <a:solidFill>
                  <a:schemeClr val="dk1"/>
                </a:solidFill>
              </a:rPr>
              <a:t>for and while</a:t>
            </a:r>
            <a:r>
              <a:rPr lang="en" sz="1700">
                <a:solidFill>
                  <a:schemeClr val="dk1"/>
                </a:solidFill>
              </a:rPr>
              <a:t> loop only enters the loop’s body if the condition is true.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On the other hand, </a:t>
            </a:r>
            <a:r>
              <a:rPr b="1" lang="en" sz="1700">
                <a:solidFill>
                  <a:schemeClr val="dk1"/>
                </a:solidFill>
              </a:rPr>
              <a:t>do while </a:t>
            </a:r>
            <a:r>
              <a:rPr lang="en" sz="1700">
                <a:solidFill>
                  <a:schemeClr val="dk1"/>
                </a:solidFill>
              </a:rPr>
              <a:t>loop executes the body’s code first then checks the condition.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57825" y="1724600"/>
            <a:ext cx="3463500" cy="18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while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){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150" name="Google Shape;150;p18"/>
          <p:cNvSpPr txBox="1"/>
          <p:nvPr/>
        </p:nvSpPr>
        <p:spPr>
          <a:xfrm>
            <a:off x="357825" y="1324400"/>
            <a:ext cx="32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while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151" name="Google Shape;151;p18"/>
          <p:cNvSpPr txBox="1"/>
          <p:nvPr/>
        </p:nvSpPr>
        <p:spPr>
          <a:xfrm>
            <a:off x="3911850" y="1213350"/>
            <a:ext cx="47406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Key points of the structure: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the variable outside the loop’s body.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600">
                <a:solidFill>
                  <a:schemeClr val="dk1"/>
                </a:solidFill>
              </a:rPr>
              <a:t> keyword we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within parenthesis.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Then at the end of the loop’s body we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291575" y="3697100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WhileLoopScenario1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0;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 500 )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59" name="Google Shape;159;p19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2 flowchart with the Java code of the same problem.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194100" y="1674375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19"/>
          <p:cNvCxnSpPr>
            <a:stCxn id="159" idx="1"/>
            <a:endCxn id="164" idx="3"/>
          </p:cNvCxnSpPr>
          <p:nvPr/>
        </p:nvCxnSpPr>
        <p:spPr>
          <a:xfrm flipH="1">
            <a:off x="2035425" y="1542450"/>
            <a:ext cx="2912100" cy="277500"/>
          </a:xfrm>
          <a:prstGeom prst="curvedConnector3">
            <a:avLst>
              <a:gd fmla="val 2754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>
            <a:stCxn id="159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9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9"/>
          <p:cNvCxnSpPr>
            <a:stCxn id="167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>
            <a:stCxn id="160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9"/>
          <p:cNvSpPr/>
          <p:nvPr/>
        </p:nvSpPr>
        <p:spPr>
          <a:xfrm>
            <a:off x="1635775" y="2250950"/>
            <a:ext cx="28497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19"/>
          <p:cNvCxnSpPr>
            <a:stCxn id="170" idx="3"/>
            <a:endCxn id="162" idx="1"/>
          </p:cNvCxnSpPr>
          <p:nvPr/>
        </p:nvCxnSpPr>
        <p:spPr>
          <a:xfrm>
            <a:off x="4485475" y="2376500"/>
            <a:ext cx="748200" cy="8445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>
            <a:stCxn id="162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9"/>
          <p:cNvCxnSpPr>
            <a:stCxn id="173" idx="3"/>
            <a:endCxn id="161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>
            <a:stCxn id="161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6" name="Google Shape;176;p19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177" name="Google Shape;177;p19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78" name="Google Shape;178;p19"/>
            <p:cNvCxnSpPr>
              <a:stCxn id="177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" name="Google Shape;179;p19"/>
            <p:cNvCxnSpPr>
              <a:endCxn id="180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9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“CSE is fun”</a:t>
              </a:r>
              <a:endParaRPr sz="1300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 500 ?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0</a:t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</a:t>
              </a:r>
              <a:r>
                <a:rPr lang="en">
                  <a:solidFill>
                    <a:schemeClr val="dk1"/>
                  </a:solidFill>
                </a:rPr>
                <a:t>+= 1</a:t>
              </a:r>
              <a:endParaRPr/>
            </a:p>
          </p:txBody>
        </p:sp>
        <p:cxnSp>
          <p:nvCxnSpPr>
            <p:cNvPr id="187" name="Google Shape;187;p19"/>
            <p:cNvCxnSpPr>
              <a:stCxn id="186" idx="1"/>
              <a:endCxn id="180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19"/>
            <p:cNvCxnSpPr>
              <a:stCxn id="180" idx="3"/>
              <a:endCxn id="181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19"/>
            <p:cNvCxnSpPr>
              <a:stCxn id="180" idx="2"/>
              <a:endCxn id="182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19"/>
            <p:cNvCxnSpPr>
              <a:stCxn id="182" idx="4"/>
              <a:endCxn id="186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/>
        </p:nvSpPr>
        <p:spPr>
          <a:xfrm>
            <a:off x="291575" y="3697100"/>
            <a:ext cx="4315800" cy="823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WhileLoopNumbers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1 2 3 4 5 6 7 8 9 10 11 12 13 14 15 </a:t>
            </a:r>
            <a:r>
              <a:rPr lang="en" sz="1150">
                <a:solidFill>
                  <a:schemeClr val="dk1"/>
                </a:solidFill>
              </a:rPr>
              <a:t>&gt;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WhileLoopNumbers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&lt;= 15 )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.out.print(i + 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98" name="Google Shape;198;p20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printing numbers? </a:t>
            </a:r>
            <a:r>
              <a:rPr lang="en"/>
              <a:t>Let’s try to print 1 to 15 using while loop.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137325" y="1640200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0"/>
          <p:cNvCxnSpPr>
            <a:stCxn id="198" idx="1"/>
            <a:endCxn id="203" idx="3"/>
          </p:cNvCxnSpPr>
          <p:nvPr/>
        </p:nvCxnSpPr>
        <p:spPr>
          <a:xfrm flipH="1">
            <a:off x="1978425" y="1542450"/>
            <a:ext cx="2969100" cy="2433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0"/>
          <p:cNvCxnSpPr>
            <a:stCxn id="198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0"/>
          <p:cNvCxnSpPr>
            <a:stCxn id="206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>
            <a:stCxn id="199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1635775" y="2250950"/>
            <a:ext cx="20685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>
            <a:stCxn id="209" idx="3"/>
            <a:endCxn id="201" idx="1"/>
          </p:cNvCxnSpPr>
          <p:nvPr/>
        </p:nvCxnSpPr>
        <p:spPr>
          <a:xfrm>
            <a:off x="3704275" y="2376500"/>
            <a:ext cx="1529400" cy="844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>
            <a:stCxn id="201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2" idx="3"/>
            <a:endCxn id="200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>
            <a:stCxn id="200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5" name="Google Shape;215;p20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216" name="Google Shape;216;p20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217" name="Google Shape;217;p20"/>
            <p:cNvCxnSpPr>
              <a:stCxn id="216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20"/>
            <p:cNvCxnSpPr>
              <a:endCxn id="219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0" name="Google Shape;220;p20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i</a:t>
              </a:r>
              <a:endParaRPr sz="1300"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&lt;= 15?</a:t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</a:t>
              </a:r>
              <a:r>
                <a:rPr lang="en">
                  <a:solidFill>
                    <a:schemeClr val="dk1"/>
                  </a:solidFill>
                </a:rPr>
                <a:t>+= 1</a:t>
              </a:r>
              <a:endParaRPr/>
            </a:p>
          </p:txBody>
        </p:sp>
        <p:cxnSp>
          <p:nvCxnSpPr>
            <p:cNvPr id="226" name="Google Shape;226;p20"/>
            <p:cNvCxnSpPr>
              <a:stCxn id="225" idx="1"/>
              <a:endCxn id="219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p20"/>
            <p:cNvCxnSpPr>
              <a:stCxn id="219" idx="3"/>
              <a:endCxn id="220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8" name="Google Shape;228;p20"/>
            <p:cNvCxnSpPr>
              <a:stCxn id="219" idx="2"/>
              <a:endCxn id="221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p20"/>
            <p:cNvCxnSpPr>
              <a:stCxn id="221" idx="4"/>
              <a:endCxn id="225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/>
        </p:nvSpPr>
        <p:spPr>
          <a:xfrm>
            <a:off x="291575" y="3849725"/>
            <a:ext cx="4315800" cy="96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WhileLoopScenario2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7 14 21 28 35 42 49 56 63 70 77 84 91 98 105 112 119 </a:t>
            </a:r>
            <a:r>
              <a:rPr lang="en" sz="1150">
                <a:solidFill>
                  <a:schemeClr val="dk1"/>
                </a:solidFill>
              </a:rPr>
              <a:t>&gt; 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35" name="Google Shape;235;p21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</a:t>
            </a:r>
            <a:r>
              <a:rPr b="1" lang="en">
                <a:solidFill>
                  <a:srgbClr val="0000FF"/>
                </a:solidFill>
              </a:rPr>
              <a:t>hile</a:t>
            </a:r>
            <a:r>
              <a:rPr b="1" lang="en"/>
              <a:t> loop (Contd)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</a:t>
            </a:r>
            <a:r>
              <a:rPr lang="en">
                <a:solidFill>
                  <a:srgbClr val="0000FF"/>
                </a:solidFill>
              </a:rPr>
              <a:t>hile </a:t>
            </a:r>
            <a:r>
              <a:rPr lang="en">
                <a:solidFill>
                  <a:schemeClr val="dk1"/>
                </a:solidFill>
              </a:rPr>
              <a:t> ( i &lt;= 120 )  {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If </a:t>
            </a:r>
            <a:r>
              <a:rPr lang="en">
                <a:solidFill>
                  <a:schemeClr val="dk1"/>
                </a:solidFill>
              </a:rPr>
              <a:t>( i%7==0 ) {</a:t>
            </a:r>
            <a:endParaRPr>
              <a:solidFill>
                <a:srgbClr val="0000FF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.out.print(i+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rgbClr val="0000FF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/>
              <a:t>     }</a:t>
            </a:r>
            <a:endParaRPr/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5555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37" name="Google Shape;237;p21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2 flowchart with the Java code of the same problem.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202625" y="1596400"/>
            <a:ext cx="7098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1"/>
          <p:cNvCxnSpPr>
            <a:stCxn id="240" idx="1"/>
            <a:endCxn id="238" idx="3"/>
          </p:cNvCxnSpPr>
          <p:nvPr/>
        </p:nvCxnSpPr>
        <p:spPr>
          <a:xfrm flipH="1">
            <a:off x="1912300" y="1106575"/>
            <a:ext cx="3366000" cy="5895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1"/>
          <p:cNvSpPr/>
          <p:nvPr/>
        </p:nvSpPr>
        <p:spPr>
          <a:xfrm>
            <a:off x="1698725" y="1813538"/>
            <a:ext cx="908100" cy="16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1"/>
          <p:cNvCxnSpPr>
            <a:stCxn id="241" idx="0"/>
            <a:endCxn id="243" idx="2"/>
          </p:cNvCxnSpPr>
          <p:nvPr/>
        </p:nvCxnSpPr>
        <p:spPr>
          <a:xfrm flipH="1" rot="-5400000">
            <a:off x="3892625" y="73688"/>
            <a:ext cx="44400" cy="3524100"/>
          </a:xfrm>
          <a:prstGeom prst="curvedConnector5">
            <a:avLst>
              <a:gd fmla="val -141807" name="adj1"/>
              <a:gd fmla="val 49362" name="adj2"/>
              <a:gd fmla="val 63645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1"/>
          <p:cNvSpPr/>
          <p:nvPr/>
        </p:nvSpPr>
        <p:spPr>
          <a:xfrm>
            <a:off x="1586750" y="1999200"/>
            <a:ext cx="2173200" cy="65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1"/>
          <p:cNvCxnSpPr>
            <a:stCxn id="244" idx="3"/>
            <a:endCxn id="246" idx="1"/>
          </p:cNvCxnSpPr>
          <p:nvPr/>
        </p:nvCxnSpPr>
        <p:spPr>
          <a:xfrm>
            <a:off x="3759950" y="2324550"/>
            <a:ext cx="1683900" cy="896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1"/>
          <p:cNvSpPr/>
          <p:nvPr/>
        </p:nvSpPr>
        <p:spPr>
          <a:xfrm>
            <a:off x="1635775" y="2667550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21"/>
          <p:cNvCxnSpPr>
            <a:stCxn id="247" idx="3"/>
            <a:endCxn id="249" idx="1"/>
          </p:cNvCxnSpPr>
          <p:nvPr/>
        </p:nvCxnSpPr>
        <p:spPr>
          <a:xfrm>
            <a:off x="2196475" y="2767300"/>
            <a:ext cx="3044400" cy="140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0" name="Google Shape;250;p21"/>
          <p:cNvGrpSpPr/>
          <p:nvPr/>
        </p:nvGrpSpPr>
        <p:grpSpPr>
          <a:xfrm>
            <a:off x="6030700" y="527912"/>
            <a:ext cx="2475750" cy="4489973"/>
            <a:chOff x="6382175" y="326762"/>
            <a:chExt cx="2475750" cy="4489973"/>
          </a:xfrm>
        </p:grpSpPr>
        <p:sp>
          <p:nvSpPr>
            <p:cNvPr id="251" name="Google Shape;251;p21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253" name="Google Shape;253;p21"/>
            <p:cNvCxnSpPr>
              <a:stCxn id="251" idx="2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" name="Google Shape;254;p21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255" name="Google Shape;255;p21"/>
            <p:cNvCxnSpPr>
              <a:endCxn id="254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6" name="Google Shape;256;p21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258" name="Google Shape;258;p21"/>
            <p:cNvCxnSpPr>
              <a:stCxn id="254" idx="2"/>
              <a:endCxn id="259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" name="Google Shape;260;p21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262" name="Google Shape;262;p21"/>
            <p:cNvCxnSpPr>
              <a:stCxn id="261" idx="1"/>
              <a:endCxn id="254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9" name="Google Shape;259;p21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264" name="Google Shape;264;p21"/>
            <p:cNvCxnSpPr>
              <a:stCxn id="259" idx="2"/>
              <a:endCxn id="263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5" name="Google Shape;265;p21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" name="Google Shape;267;p21"/>
            <p:cNvCxnSpPr>
              <a:stCxn id="263" idx="4"/>
              <a:endCxn id="266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" name="Google Shape;268;p21"/>
            <p:cNvCxnSpPr>
              <a:stCxn id="259" idx="3"/>
              <a:endCxn id="266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9" name="Google Shape;269;p21"/>
            <p:cNvCxnSpPr>
              <a:stCxn id="266" idx="4"/>
              <a:endCxn id="261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0" name="Google Shape;270;p21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271" name="Google Shape;271;p21"/>
            <p:cNvCxnSpPr>
              <a:stCxn id="254" idx="3"/>
              <a:endCxn id="252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19292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40" name="Google Shape;240;p21"/>
          <p:cNvSpPr txBox="1"/>
          <p:nvPr/>
        </p:nvSpPr>
        <p:spPr>
          <a:xfrm>
            <a:off x="5278300" y="90647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177825" y="1596400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233850" y="3946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233850" y="29726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