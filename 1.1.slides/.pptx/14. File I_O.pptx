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4" roundtripDataSignature="AMtx7mgxrt0xcNescNUrfMcrS6yZ7yIZ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YDcVsVYYcMFxc7F9uJuCj_DgB1IxTmCb/view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VHIr9EgNAJFTUD8P_cBXW0-e_LbvTj-J/view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0" y="2075550"/>
            <a:ext cx="85206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File I/O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311700" y="1272325"/>
            <a:ext cx="8520600" cy="29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File I/O refers to </a:t>
            </a:r>
            <a:r>
              <a:rPr b="1" lang="en" sz="2000">
                <a:solidFill>
                  <a:srgbClr val="434343"/>
                </a:solidFill>
              </a:rPr>
              <a:t>File Input and Output</a:t>
            </a:r>
            <a:r>
              <a:rPr lang="en" sz="2000">
                <a:solidFill>
                  <a:srgbClr val="434343"/>
                </a:solidFill>
              </a:rPr>
              <a:t> which is reading data from disk and writing data to files on disk/storage.</a:t>
            </a:r>
            <a:endParaRPr sz="2000">
              <a:solidFill>
                <a:srgbClr val="434343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This is a very important aspect of programming for tasks like:</a:t>
            </a:r>
            <a:endParaRPr sz="2000">
              <a:solidFill>
                <a:srgbClr val="434343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○"/>
            </a:pPr>
            <a:r>
              <a:rPr lang="en" sz="1800">
                <a:solidFill>
                  <a:srgbClr val="434343"/>
                </a:solidFill>
              </a:rPr>
              <a:t>Processing user data stored in hard disk.</a:t>
            </a:r>
            <a:endParaRPr sz="1800">
              <a:solidFill>
                <a:srgbClr val="434343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○"/>
            </a:pPr>
            <a:r>
              <a:rPr lang="en" sz="1800">
                <a:solidFill>
                  <a:srgbClr val="434343"/>
                </a:solidFill>
              </a:rPr>
              <a:t>Storing Application Data.</a:t>
            </a:r>
            <a:endParaRPr sz="1800">
              <a:solidFill>
                <a:srgbClr val="434343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○"/>
            </a:pPr>
            <a:r>
              <a:rPr lang="en" sz="1800">
                <a:solidFill>
                  <a:srgbClr val="434343"/>
                </a:solidFill>
              </a:rPr>
              <a:t>Loading a previous state of the application by reading from storage.</a:t>
            </a:r>
            <a:endParaRPr sz="1800">
              <a:solidFill>
                <a:srgbClr val="434343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○"/>
            </a:pPr>
            <a:r>
              <a:rPr lang="en" sz="1800">
                <a:solidFill>
                  <a:srgbClr val="434343"/>
                </a:solidFill>
              </a:rPr>
              <a:t>Reading Configuration Files.</a:t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Reading/Writing files in java</a:t>
            </a:r>
            <a:endParaRPr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434343"/>
                </a:solidFill>
              </a:rPr>
              <a:t>There are few different ways to read/write files in Java. We’ll be focusing on only one approach in this slide.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434343"/>
                </a:solidFill>
              </a:rPr>
              <a:t>To read/write from a file we need to: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Create a </a:t>
            </a:r>
            <a:r>
              <a:rPr b="1" lang="en">
                <a:solidFill>
                  <a:srgbClr val="434343"/>
                </a:solidFill>
              </a:rPr>
              <a:t>FileReader/FileWriter object</a:t>
            </a:r>
            <a:r>
              <a:rPr lang="en">
                <a:solidFill>
                  <a:srgbClr val="434343"/>
                </a:solidFill>
              </a:rPr>
              <a:t> to read/write the file.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Then wrap it with a </a:t>
            </a:r>
            <a:r>
              <a:rPr b="1" lang="en">
                <a:solidFill>
                  <a:srgbClr val="434343"/>
                </a:solidFill>
              </a:rPr>
              <a:t>BufferedReader/BufferedWriter object</a:t>
            </a:r>
            <a:r>
              <a:rPr lang="en">
                <a:solidFill>
                  <a:srgbClr val="434343"/>
                </a:solidFill>
              </a:rPr>
              <a:t> for efficient reading/writing.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rgbClr val="666666"/>
                </a:solidFill>
              </a:rPr>
              <a:t>Examples are given in the next slides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311700" y="200100"/>
            <a:ext cx="85206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Reading files in java</a:t>
            </a:r>
            <a:endParaRPr/>
          </a:p>
        </p:txBody>
      </p:sp>
      <p:sp>
        <p:nvSpPr>
          <p:cNvPr id="72" name="Google Shape;72;p4"/>
          <p:cNvSpPr txBox="1"/>
          <p:nvPr>
            <p:ph idx="1" type="body"/>
          </p:nvPr>
        </p:nvSpPr>
        <p:spPr>
          <a:xfrm>
            <a:off x="6351550" y="1387475"/>
            <a:ext cx="2480700" cy="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17647"/>
              <a:buNone/>
            </a:pPr>
            <a:r>
              <a:rPr lang="en">
                <a:solidFill>
                  <a:srgbClr val="666666"/>
                </a:solidFill>
              </a:rPr>
              <a:t>A file called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Hello.txt</a:t>
            </a:r>
            <a:r>
              <a:rPr lang="en">
                <a:solidFill>
                  <a:srgbClr val="666666"/>
                </a:solidFill>
              </a:rPr>
              <a:t> contains 3 sentences in 3 separate lines.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311700" y="870025"/>
            <a:ext cx="5812800" cy="3993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FileReader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BufferedReader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t/>
            </a:r>
            <a:endParaRPr b="0" i="0" sz="104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ReadingFile{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" sz="11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"C:\\users\\bracu\\Hello.txt"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FileReader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FileReader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(location);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BufferedReader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BufferedReader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(fr);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first_line = br.readLine();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second_line = br.readLine();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third_line = br.readLine();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first_line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second_line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.out.println(third_line);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br.close();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fr.close();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6281450" y="2979825"/>
            <a:ext cx="2550900" cy="1141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100" u="none" cap="none" strike="noStrike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This is the first sentence.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This is the second sentence.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This is the third sentence.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6281450" y="2510875"/>
            <a:ext cx="255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311700" y="147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Using loops to read lines from a file</a:t>
            </a:r>
            <a:endParaRPr/>
          </a:p>
        </p:txBody>
      </p:sp>
      <p:sp>
        <p:nvSpPr>
          <p:cNvPr id="81" name="Google Shape;81;p5"/>
          <p:cNvSpPr txBox="1"/>
          <p:nvPr/>
        </p:nvSpPr>
        <p:spPr>
          <a:xfrm>
            <a:off x="311700" y="809275"/>
            <a:ext cx="5812800" cy="4057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FileReader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BufferedReader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ReadingFile_Loop{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" sz="11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"C:\\users\\bracu\\names.txt"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FileReader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FileReader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(location);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BufferedReader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BufferedReader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(fr);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line = br.readLine();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b="0" i="0" lang="en" sz="104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(line!=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" sz="10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i="0" lang="en" sz="11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" sz="10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#"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+i+</a:t>
            </a:r>
            <a:r>
              <a:rPr b="0" i="0" lang="en" sz="10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": "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+line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i++;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line = br.readLine();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br.close();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fr.close();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6351600" y="720300"/>
            <a:ext cx="24807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29032"/>
              <a:buNone/>
            </a:pPr>
            <a:r>
              <a:rPr lang="en">
                <a:solidFill>
                  <a:srgbClr val="666666"/>
                </a:solidFill>
              </a:rPr>
              <a:t>A file called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names.txt</a:t>
            </a:r>
            <a:r>
              <a:rPr lang="en">
                <a:solidFill>
                  <a:srgbClr val="666666"/>
                </a:solidFill>
              </a:rPr>
              <a:t> contains unknown amount of names in separate lines.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6281400" y="2290275"/>
            <a:ext cx="2550900" cy="2326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100" u="none" cap="none" strike="noStrike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Name#1: Hayayo Miyazaki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Name#2: Daenerys Targaryen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Name#3: Chester Bennington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Name#4: Hideo Kojima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Name#5: Amy Lee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Name#6: Rustin Cohle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Name#7: Walter White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Name#8: Luke Skywalker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Name#9: Alan Moore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Name#10: Terry Davis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6281400" y="1828575"/>
            <a:ext cx="255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311700" y="252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Writing files in java</a:t>
            </a:r>
            <a:endParaRPr/>
          </a:p>
        </p:txBody>
      </p:sp>
      <p:sp>
        <p:nvSpPr>
          <p:cNvPr id="90" name="Google Shape;90;p6"/>
          <p:cNvSpPr txBox="1"/>
          <p:nvPr>
            <p:ph idx="1" type="body"/>
          </p:nvPr>
        </p:nvSpPr>
        <p:spPr>
          <a:xfrm>
            <a:off x="6295500" y="2177700"/>
            <a:ext cx="25368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42857"/>
              <a:buNone/>
            </a:pPr>
            <a:r>
              <a:rPr lang="en">
                <a:solidFill>
                  <a:srgbClr val="666666"/>
                </a:solidFill>
              </a:rPr>
              <a:t>Creating a file called </a:t>
            </a:r>
            <a:r>
              <a:rPr b="1" lang="en">
                <a:solidFill>
                  <a:srgbClr val="666666"/>
                </a:solidFill>
              </a:rPr>
              <a:t>test.txt</a:t>
            </a:r>
            <a:r>
              <a:rPr lang="en">
                <a:solidFill>
                  <a:srgbClr val="666666"/>
                </a:solidFill>
              </a:rPr>
              <a:t> and adding 3 separate lines to it.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311700" y="967900"/>
            <a:ext cx="5812800" cy="3888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FileWriter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BufferedWriter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WritingFile{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" sz="11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"C:\\users\\bracu\\test.txt"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FileWriter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fw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FileWriter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(location);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BufferedWriter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bw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BufferedWriter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(fw);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bw.write(</a:t>
            </a:r>
            <a:r>
              <a:rPr b="0" i="0" lang="en" sz="11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"First Line\n"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bw.write(</a:t>
            </a:r>
            <a:r>
              <a:rPr b="0" i="0" lang="en" sz="11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"Second Line\n"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bw.write(</a:t>
            </a:r>
            <a:r>
              <a:rPr b="0" i="0" lang="en" sz="11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"Third Line\n"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bw.close();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fw.close();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/*after execution a </a:t>
            </a:r>
            <a:r>
              <a:rPr b="1" i="0" lang="en" sz="104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test.txt</a:t>
            </a:r>
            <a:r>
              <a:rPr b="0" i="0" lang="en" sz="104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file </a:t>
            </a:r>
            <a:endParaRPr b="0" i="0" sz="1040" u="none" cap="none" strike="noStrike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will be created with these lines written.*/</a:t>
            </a:r>
            <a:endParaRPr b="0" i="0" sz="1040" u="none" cap="none" strike="noStrike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title"/>
          </p:nvPr>
        </p:nvSpPr>
        <p:spPr>
          <a:xfrm>
            <a:off x="311700" y="15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Using loops to write lines to a file</a:t>
            </a:r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311700" y="807800"/>
            <a:ext cx="5812800" cy="4014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FileWriter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BufferedWriter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t/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WritingFile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_Loop{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words = {</a:t>
            </a:r>
            <a:r>
              <a:rPr b="0" i="0" lang="en" sz="1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"Hi"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" sz="1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"Hey"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" sz="1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" sz="1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"Yes"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" sz="1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"No"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" sz="1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"C:\\users\\bracu\\words.txt"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FileWriter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fw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FileWriter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(location);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BufferedWriter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bw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BufferedWriter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(fw);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i=0; i&lt;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words.length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i++) {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bw.write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b="0" i="0" lang="en" sz="1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+(i+1)+words[i]+</a:t>
            </a:r>
            <a:r>
              <a:rPr b="0" i="0" lang="en" sz="1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"\n"</a:t>
            </a:r>
            <a:r>
              <a:rPr b="0" i="0" lang="en" sz="1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  }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bw.close();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fw.close();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/*after execution a </a:t>
            </a:r>
            <a:r>
              <a:rPr b="1" i="0" lang="en" sz="104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words.txt</a:t>
            </a:r>
            <a:r>
              <a:rPr b="0" i="0" lang="en" sz="104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file </a:t>
            </a:r>
            <a:endParaRPr b="0" i="0" sz="1040" u="none" cap="none" strike="noStrike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will be created with the words written.*/</a:t>
            </a:r>
            <a:endParaRPr b="0" i="0" sz="1040" u="none" cap="none" strike="noStrike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" name="Google Shape;98;p7"/>
          <p:cNvSpPr txBox="1"/>
          <p:nvPr>
            <p:ph idx="1" type="body"/>
          </p:nvPr>
        </p:nvSpPr>
        <p:spPr>
          <a:xfrm>
            <a:off x="6351600" y="1446350"/>
            <a:ext cx="2480700" cy="14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17647"/>
              <a:buNone/>
            </a:pPr>
            <a:r>
              <a:rPr lang="en">
                <a:solidFill>
                  <a:srgbClr val="666666"/>
                </a:solidFill>
              </a:rPr>
              <a:t>An array of Strings called </a:t>
            </a:r>
            <a:r>
              <a:rPr b="1" lang="en">
                <a:solidFill>
                  <a:srgbClr val="666666"/>
                </a:solidFill>
              </a:rPr>
              <a:t>words </a:t>
            </a:r>
            <a:r>
              <a:rPr lang="en">
                <a:solidFill>
                  <a:srgbClr val="666666"/>
                </a:solidFill>
              </a:rPr>
              <a:t>is given. Creating a file called words.txt and storing the values from the array in the file.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/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20"/>
              <a:buFont typeface="Arial"/>
              <a:buNone/>
            </a:pPr>
            <a:r>
              <a:rPr b="1" i="0" lang="en" sz="36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1" i="0" sz="3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