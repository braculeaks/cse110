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9" roundtripDataSignature="AMtx7mhLfKPd9+ZtDDCXsimQ7mdlnUC5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0BD75C-8F2D-45FC-B6EA-0D603003ECAE}">
  <a:tblStyle styleId="{210BD75C-8F2D-45FC-B6EA-0D603003ECA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5</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250383" y="1068775"/>
            <a:ext cx="8520600" cy="2052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90"/>
              <a:buNone/>
            </a:pPr>
            <a:r>
              <a:rPr lang="en" sz="3980"/>
              <a:t>Introduction to</a:t>
            </a:r>
            <a:endParaRPr sz="3980"/>
          </a:p>
          <a:p>
            <a:pPr indent="0" lvl="0" marL="0" rtl="0" algn="ctr">
              <a:lnSpc>
                <a:spcPct val="100000"/>
              </a:lnSpc>
              <a:spcBef>
                <a:spcPts val="0"/>
              </a:spcBef>
              <a:spcAft>
                <a:spcPts val="0"/>
              </a:spcAft>
              <a:buSzPts val="990"/>
              <a:buNone/>
            </a:pPr>
            <a:r>
              <a:rPr lang="en" sz="3980"/>
              <a:t>Programming Logic &amp; Flow Control</a:t>
            </a:r>
            <a:endParaRPr sz="39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What is a program?</a:t>
            </a:r>
            <a:endParaRPr b="1"/>
          </a:p>
        </p:txBody>
      </p:sp>
      <p:sp>
        <p:nvSpPr>
          <p:cNvPr id="60" name="Google Shape;60;p2"/>
          <p:cNvSpPr txBox="1"/>
          <p:nvPr>
            <p:ph idx="1" type="body"/>
          </p:nvPr>
        </p:nvSpPr>
        <p:spPr>
          <a:xfrm>
            <a:off x="311700" y="2687600"/>
            <a:ext cx="8520600" cy="1881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600">
                <a:solidFill>
                  <a:schemeClr val="dk1"/>
                </a:solidFill>
              </a:rPr>
              <a:t>A computer program is the fundamental building block of software development, enabling computers to perform a variety of tasks to provide valuable functionality to users.</a:t>
            </a:r>
            <a:endParaRPr sz="1600">
              <a:solidFill>
                <a:schemeClr val="dk1"/>
              </a:solidFill>
            </a:endParaRPr>
          </a:p>
          <a:p>
            <a:pPr indent="0" lvl="0" marL="0" rtl="0" algn="l">
              <a:lnSpc>
                <a:spcPct val="115000"/>
              </a:lnSpc>
              <a:spcBef>
                <a:spcPts val="1200"/>
              </a:spcBef>
              <a:spcAft>
                <a:spcPts val="1200"/>
              </a:spcAft>
              <a:buSzPts val="1800"/>
              <a:buNone/>
            </a:pPr>
            <a:r>
              <a:rPr lang="en" sz="1600">
                <a:solidFill>
                  <a:schemeClr val="dk1"/>
                </a:solidFill>
              </a:rPr>
              <a:t>In other words, we use programs to communicate with computers in order to give specific instructions to it.</a:t>
            </a:r>
            <a:endParaRPr sz="1600">
              <a:solidFill>
                <a:schemeClr val="dk1"/>
              </a:solidFill>
            </a:endParaRPr>
          </a:p>
        </p:txBody>
      </p:sp>
      <p:pic>
        <p:nvPicPr>
          <p:cNvPr id="61" name="Google Shape;61;p2"/>
          <p:cNvPicPr preferRelativeResize="0"/>
          <p:nvPr/>
        </p:nvPicPr>
        <p:blipFill rotWithShape="1">
          <a:blip r:embed="rId3">
            <a:alphaModFix/>
          </a:blip>
          <a:srcRect b="0" l="0" r="0" t="0"/>
          <a:stretch/>
        </p:blipFill>
        <p:spPr>
          <a:xfrm>
            <a:off x="859575" y="1165913"/>
            <a:ext cx="1990388" cy="1373488"/>
          </a:xfrm>
          <a:prstGeom prst="rect">
            <a:avLst/>
          </a:prstGeom>
          <a:noFill/>
          <a:ln>
            <a:noFill/>
          </a:ln>
        </p:spPr>
      </p:pic>
      <p:pic>
        <p:nvPicPr>
          <p:cNvPr id="62" name="Google Shape;62;p2"/>
          <p:cNvPicPr preferRelativeResize="0"/>
          <p:nvPr/>
        </p:nvPicPr>
        <p:blipFill rotWithShape="1">
          <a:blip r:embed="rId4">
            <a:alphaModFix/>
          </a:blip>
          <a:srcRect b="0" l="0" r="0" t="0"/>
          <a:stretch/>
        </p:blipFill>
        <p:spPr>
          <a:xfrm>
            <a:off x="3326163" y="1219125"/>
            <a:ext cx="1913375" cy="1267050"/>
          </a:xfrm>
          <a:prstGeom prst="rect">
            <a:avLst/>
          </a:prstGeom>
          <a:noFill/>
          <a:ln>
            <a:noFill/>
          </a:ln>
        </p:spPr>
      </p:pic>
      <p:pic>
        <p:nvPicPr>
          <p:cNvPr id="63" name="Google Shape;63;p2"/>
          <p:cNvPicPr preferRelativeResize="0"/>
          <p:nvPr/>
        </p:nvPicPr>
        <p:blipFill rotWithShape="1">
          <a:blip r:embed="rId5">
            <a:alphaModFix/>
          </a:blip>
          <a:srcRect b="0" l="0" r="0" t="0"/>
          <a:stretch/>
        </p:blipFill>
        <p:spPr>
          <a:xfrm>
            <a:off x="5845650" y="1165925"/>
            <a:ext cx="2070350" cy="1320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Programming Logic</a:t>
            </a:r>
            <a:endParaRPr b="1"/>
          </a:p>
        </p:txBody>
      </p:sp>
      <p:sp>
        <p:nvSpPr>
          <p:cNvPr id="69" name="Google Shape;69;p3"/>
          <p:cNvSpPr txBox="1"/>
          <p:nvPr>
            <p:ph idx="1" type="body"/>
          </p:nvPr>
        </p:nvSpPr>
        <p:spPr>
          <a:xfrm>
            <a:off x="311700" y="1152475"/>
            <a:ext cx="8520600" cy="10137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chemeClr val="dk1"/>
              </a:buClr>
              <a:buSzPts val="1600"/>
              <a:buChar char="●"/>
            </a:pPr>
            <a:r>
              <a:rPr lang="en" sz="1600">
                <a:solidFill>
                  <a:schemeClr val="dk1"/>
                </a:solidFill>
              </a:rPr>
              <a:t>Systematic process of reasoning and formulating solutions to specific problems.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Breaking down problems into smaller, manageable tasks and creating step-by-step solutions.</a:t>
            </a:r>
            <a:endParaRPr sz="1600">
              <a:solidFill>
                <a:schemeClr val="dk1"/>
              </a:solidFill>
            </a:endParaRPr>
          </a:p>
        </p:txBody>
      </p:sp>
      <p:sp>
        <p:nvSpPr>
          <p:cNvPr id="70" name="Google Shape;70;p3"/>
          <p:cNvSpPr txBox="1"/>
          <p:nvPr>
            <p:ph idx="1" type="body"/>
          </p:nvPr>
        </p:nvSpPr>
        <p:spPr>
          <a:xfrm>
            <a:off x="464100" y="2218775"/>
            <a:ext cx="8520600" cy="2292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n" sz="1600">
                <a:solidFill>
                  <a:schemeClr val="dk1"/>
                </a:solidFill>
              </a:rPr>
              <a:t>Example: </a:t>
            </a:r>
            <a:r>
              <a:rPr lang="en" sz="1600">
                <a:solidFill>
                  <a:schemeClr val="dk1"/>
                </a:solidFill>
              </a:rPr>
              <a:t>You need to write a program to take two numbers from user and show their summation in the output. What would be the steps here?</a:t>
            </a:r>
            <a:endParaRPr sz="1600">
              <a:solidFill>
                <a:schemeClr val="dk1"/>
              </a:solidFill>
            </a:endParaRPr>
          </a:p>
        </p:txBody>
      </p:sp>
      <p:sp>
        <p:nvSpPr>
          <p:cNvPr id="71" name="Google Shape;71;p3"/>
          <p:cNvSpPr/>
          <p:nvPr/>
        </p:nvSpPr>
        <p:spPr>
          <a:xfrm>
            <a:off x="464100" y="3147525"/>
            <a:ext cx="1910200" cy="1267100"/>
          </a:xfrm>
          <a:prstGeom prst="flowChartPrepa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Take inputs from the user.</a:t>
            </a:r>
            <a:endParaRPr b="0" i="0" sz="1400" u="none" cap="none" strike="noStrike">
              <a:solidFill>
                <a:srgbClr val="000000"/>
              </a:solidFill>
              <a:latin typeface="Arial"/>
              <a:ea typeface="Arial"/>
              <a:cs typeface="Arial"/>
              <a:sym typeface="Arial"/>
            </a:endParaRPr>
          </a:p>
        </p:txBody>
      </p:sp>
      <p:sp>
        <p:nvSpPr>
          <p:cNvPr id="72" name="Google Shape;72;p3"/>
          <p:cNvSpPr/>
          <p:nvPr/>
        </p:nvSpPr>
        <p:spPr>
          <a:xfrm>
            <a:off x="3511638" y="3147525"/>
            <a:ext cx="1910200" cy="1267100"/>
          </a:xfrm>
          <a:prstGeom prst="flowChartPrepa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Do the calculation to find the sum.</a:t>
            </a:r>
            <a:endParaRPr b="0" i="0" sz="1400" u="none" cap="none" strike="noStrike">
              <a:solidFill>
                <a:srgbClr val="000000"/>
              </a:solidFill>
              <a:latin typeface="Arial"/>
              <a:ea typeface="Arial"/>
              <a:cs typeface="Arial"/>
              <a:sym typeface="Arial"/>
            </a:endParaRPr>
          </a:p>
        </p:txBody>
      </p:sp>
      <p:sp>
        <p:nvSpPr>
          <p:cNvPr id="73" name="Google Shape;73;p3"/>
          <p:cNvSpPr/>
          <p:nvPr/>
        </p:nvSpPr>
        <p:spPr>
          <a:xfrm>
            <a:off x="6559150" y="3147525"/>
            <a:ext cx="1910200" cy="1267100"/>
          </a:xfrm>
          <a:prstGeom prst="flowChartPrepa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Show the output.</a:t>
            </a:r>
            <a:endParaRPr b="0" i="0" sz="1400" u="none" cap="none" strike="noStrike">
              <a:solidFill>
                <a:srgbClr val="000000"/>
              </a:solidFill>
              <a:latin typeface="Arial"/>
              <a:ea typeface="Arial"/>
              <a:cs typeface="Arial"/>
              <a:sym typeface="Arial"/>
            </a:endParaRPr>
          </a:p>
        </p:txBody>
      </p:sp>
      <p:sp>
        <p:nvSpPr>
          <p:cNvPr id="74" name="Google Shape;74;p3"/>
          <p:cNvSpPr/>
          <p:nvPr/>
        </p:nvSpPr>
        <p:spPr>
          <a:xfrm>
            <a:off x="2488288" y="3570775"/>
            <a:ext cx="841200" cy="420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p:nvPr/>
        </p:nvSpPr>
        <p:spPr>
          <a:xfrm>
            <a:off x="5603963" y="3570775"/>
            <a:ext cx="841200" cy="420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Program Flow Control</a:t>
            </a:r>
            <a:endParaRPr b="1"/>
          </a:p>
        </p:txBody>
      </p:sp>
      <p:sp>
        <p:nvSpPr>
          <p:cNvPr id="81" name="Google Shape;81;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600">
                <a:solidFill>
                  <a:schemeClr val="dk1"/>
                </a:solidFill>
              </a:rPr>
              <a:t>Program flow control refers to the order in which instructions are executed within a program based on certain conditions or control structures.</a:t>
            </a:r>
            <a:endParaRPr sz="1600">
              <a:solidFill>
                <a:schemeClr val="dk1"/>
              </a:solidFill>
            </a:endParaRPr>
          </a:p>
          <a:p>
            <a:pPr indent="-330200" lvl="0" marL="457200" rtl="0" algn="l">
              <a:lnSpc>
                <a:spcPct val="150000"/>
              </a:lnSpc>
              <a:spcBef>
                <a:spcPts val="1200"/>
              </a:spcBef>
              <a:spcAft>
                <a:spcPts val="0"/>
              </a:spcAft>
              <a:buClr>
                <a:schemeClr val="dk1"/>
              </a:buClr>
              <a:buSzPts val="1600"/>
              <a:buChar char="●"/>
            </a:pPr>
            <a:r>
              <a:rPr lang="en" sz="1600">
                <a:solidFill>
                  <a:schemeClr val="dk1"/>
                </a:solidFill>
              </a:rPr>
              <a:t>Sometimes, program flow can be sequential.</a:t>
            </a:r>
            <a:endParaRPr sz="1600">
              <a:solidFill>
                <a:schemeClr val="dk1"/>
              </a:solidFill>
            </a:endParaRPr>
          </a:p>
          <a:p>
            <a:pPr indent="-330200" lvl="0" marL="457200" rtl="0" algn="l">
              <a:lnSpc>
                <a:spcPct val="150000"/>
              </a:lnSpc>
              <a:spcBef>
                <a:spcPts val="1200"/>
              </a:spcBef>
              <a:spcAft>
                <a:spcPts val="0"/>
              </a:spcAft>
              <a:buClr>
                <a:schemeClr val="dk1"/>
              </a:buClr>
              <a:buSzPts val="1600"/>
              <a:buChar char="●"/>
            </a:pPr>
            <a:r>
              <a:rPr lang="en" sz="1600">
                <a:solidFill>
                  <a:schemeClr val="dk1"/>
                </a:solidFill>
              </a:rPr>
              <a:t>However, most of the time program, flows are non-sequential.</a:t>
            </a:r>
            <a:endParaRPr sz="1600">
              <a:solidFill>
                <a:schemeClr val="dk1"/>
              </a:solidFill>
            </a:endParaRPr>
          </a:p>
          <a:p>
            <a:pPr indent="-330200" lvl="0" marL="457200" rtl="0" algn="l">
              <a:lnSpc>
                <a:spcPct val="150000"/>
              </a:lnSpc>
              <a:spcBef>
                <a:spcPts val="1000"/>
              </a:spcBef>
              <a:spcAft>
                <a:spcPts val="0"/>
              </a:spcAft>
              <a:buClr>
                <a:schemeClr val="dk1"/>
              </a:buClr>
              <a:buSzPts val="1600"/>
              <a:buChar char="●"/>
            </a:pPr>
            <a:r>
              <a:rPr lang="en" sz="1600">
                <a:solidFill>
                  <a:schemeClr val="dk1"/>
                </a:solidFill>
              </a:rPr>
              <a:t>Program flow can loop back to the previous section of the program.</a:t>
            </a:r>
            <a:endParaRPr sz="1600">
              <a:solidFill>
                <a:schemeClr val="dk1"/>
              </a:solidFill>
            </a:endParaRPr>
          </a:p>
          <a:p>
            <a:pPr indent="-330200" lvl="0" marL="457200" rtl="0" algn="l">
              <a:lnSpc>
                <a:spcPct val="150000"/>
              </a:lnSpc>
              <a:spcBef>
                <a:spcPts val="1000"/>
              </a:spcBef>
              <a:spcAft>
                <a:spcPts val="0"/>
              </a:spcAft>
              <a:buClr>
                <a:schemeClr val="dk1"/>
              </a:buClr>
              <a:buSzPts val="1600"/>
              <a:buChar char="●"/>
            </a:pPr>
            <a:r>
              <a:rPr lang="en" sz="1600">
                <a:solidFill>
                  <a:schemeClr val="dk1"/>
                </a:solidFill>
              </a:rPr>
              <a:t>It is also possible to skip or stop executing certain sections of the program based on some condition.</a:t>
            </a:r>
            <a:endParaRPr sz="1600">
              <a:solidFill>
                <a:schemeClr val="dk1"/>
              </a:solidFill>
            </a:endParaRPr>
          </a:p>
          <a:p>
            <a:pPr indent="0" lvl="0" marL="0" rtl="0" algn="l">
              <a:lnSpc>
                <a:spcPct val="115000"/>
              </a:lnSpc>
              <a:spcBef>
                <a:spcPts val="1200"/>
              </a:spcBef>
              <a:spcAft>
                <a:spcPts val="0"/>
              </a:spcAft>
              <a:buSzPts val="1800"/>
              <a:buNone/>
            </a:pPr>
            <a:r>
              <a:t/>
            </a:r>
            <a:endParaRPr sz="1600">
              <a:solidFill>
                <a:schemeClr val="dk1"/>
              </a:solidFill>
            </a:endParaRPr>
          </a:p>
          <a:p>
            <a:pPr indent="0" lvl="0" marL="0" rtl="0" algn="l">
              <a:lnSpc>
                <a:spcPct val="115000"/>
              </a:lnSpc>
              <a:spcBef>
                <a:spcPts val="1200"/>
              </a:spcBef>
              <a:spcAft>
                <a:spcPts val="1200"/>
              </a:spcAft>
              <a:buSzPts val="1800"/>
              <a:buNone/>
            </a:pPr>
            <a:r>
              <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5"/>
          <p:cNvSpPr txBox="1"/>
          <p:nvPr>
            <p:ph idx="1" type="body"/>
          </p:nvPr>
        </p:nvSpPr>
        <p:spPr>
          <a:xfrm>
            <a:off x="311700" y="742450"/>
            <a:ext cx="8520600" cy="67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605"/>
              <a:buNone/>
            </a:pPr>
            <a:r>
              <a:rPr lang="en" sz="1600">
                <a:solidFill>
                  <a:schemeClr val="dk1"/>
                </a:solidFill>
              </a:rPr>
              <a:t>Visual representation of a program that uses various shapes, symbols and arrows to explain the sequence or the flow of events.</a:t>
            </a:r>
            <a:endParaRPr b="1" sz="1600">
              <a:solidFill>
                <a:schemeClr val="dk1"/>
              </a:solidFill>
            </a:endParaRPr>
          </a:p>
          <a:p>
            <a:pPr indent="0" lvl="0" marL="0" rtl="0" algn="l">
              <a:lnSpc>
                <a:spcPct val="115000"/>
              </a:lnSpc>
              <a:spcBef>
                <a:spcPts val="1200"/>
              </a:spcBef>
              <a:spcAft>
                <a:spcPts val="1200"/>
              </a:spcAft>
              <a:buSzPts val="605"/>
              <a:buNone/>
            </a:pPr>
            <a:r>
              <a:t/>
            </a:r>
            <a:endParaRPr sz="1600">
              <a:solidFill>
                <a:schemeClr val="dk1"/>
              </a:solidFill>
            </a:endParaRPr>
          </a:p>
        </p:txBody>
      </p:sp>
      <p:sp>
        <p:nvSpPr>
          <p:cNvPr id="87" name="Google Shape;87;p5"/>
          <p:cNvSpPr txBox="1"/>
          <p:nvPr>
            <p:ph type="title"/>
          </p:nvPr>
        </p:nvSpPr>
        <p:spPr>
          <a:xfrm>
            <a:off x="311700" y="1697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b="1" lang="en"/>
              <a:t>What is a Flowchart?</a:t>
            </a:r>
            <a:endParaRPr b="1"/>
          </a:p>
          <a:p>
            <a:pPr indent="0" lvl="0" marL="0" rtl="0" algn="l">
              <a:lnSpc>
                <a:spcPct val="100000"/>
              </a:lnSpc>
              <a:spcBef>
                <a:spcPts val="0"/>
              </a:spcBef>
              <a:spcAft>
                <a:spcPts val="0"/>
              </a:spcAft>
              <a:buSzPct val="111111"/>
              <a:buNone/>
            </a:pPr>
            <a:r>
              <a:t/>
            </a:r>
            <a:endParaRPr/>
          </a:p>
        </p:txBody>
      </p:sp>
      <p:graphicFrame>
        <p:nvGraphicFramePr>
          <p:cNvPr id="88" name="Google Shape;88;p5"/>
          <p:cNvGraphicFramePr/>
          <p:nvPr/>
        </p:nvGraphicFramePr>
        <p:xfrm>
          <a:off x="431975" y="1910125"/>
          <a:ext cx="3000000" cy="3000000"/>
        </p:xfrm>
        <a:graphic>
          <a:graphicData uri="http://schemas.openxmlformats.org/drawingml/2006/table">
            <a:tbl>
              <a:tblPr>
                <a:noFill/>
                <a:tableStyleId>{210BD75C-8F2D-45FC-B6EA-0D603003ECAE}</a:tableStyleId>
              </a:tblPr>
              <a:tblGrid>
                <a:gridCol w="1894150"/>
                <a:gridCol w="1388925"/>
                <a:gridCol w="4266150"/>
              </a:tblGrid>
              <a:tr h="240800">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t>Shape</a:t>
                      </a:r>
                      <a:endParaRPr b="1" sz="12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t>Name</a:t>
                      </a:r>
                      <a:endParaRPr b="1" sz="12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t>Description</a:t>
                      </a:r>
                      <a:endParaRPr b="1" sz="1200" u="none" cap="none" strike="noStrike"/>
                    </a:p>
                  </a:txBody>
                  <a:tcPr marT="91425" marB="91425" marR="91425" marL="91425" anchor="ctr"/>
                </a:tc>
              </a:tr>
              <a:tr h="404950">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Oval</a:t>
                      </a:r>
                      <a:endParaRPr sz="12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Denotes the </a:t>
                      </a:r>
                      <a:r>
                        <a:rPr b="1" lang="en" sz="1200" u="none" cap="none" strike="noStrike"/>
                        <a:t>Start</a:t>
                      </a:r>
                      <a:r>
                        <a:rPr lang="en" sz="1200" u="none" cap="none" strike="noStrike"/>
                        <a:t> or the </a:t>
                      </a:r>
                      <a:r>
                        <a:rPr b="1" lang="en" sz="1200" u="none" cap="none" strike="noStrike"/>
                        <a:t>End</a:t>
                      </a:r>
                      <a:r>
                        <a:rPr lang="en" sz="1200" u="none" cap="none" strike="noStrike"/>
                        <a:t> of a program. </a:t>
                      </a:r>
                      <a:endParaRPr sz="1200" u="none" cap="none" strike="noStrike"/>
                    </a:p>
                  </a:txBody>
                  <a:tcPr marT="91425" marB="91425" marR="91425" marL="91425" anchor="ctr"/>
                </a:tc>
              </a:tr>
              <a:tr h="451100">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Rectangle</a:t>
                      </a:r>
                      <a:endParaRPr sz="14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dk1"/>
                          </a:solidFill>
                        </a:rPr>
                        <a:t>Denotes any </a:t>
                      </a:r>
                      <a:r>
                        <a:rPr b="1" lang="en" sz="1200" u="none" cap="none" strike="noStrike">
                          <a:solidFill>
                            <a:schemeClr val="dk1"/>
                          </a:solidFill>
                        </a:rPr>
                        <a:t>Calculation</a:t>
                      </a:r>
                      <a:r>
                        <a:rPr lang="en" sz="1200" u="none" cap="none" strike="noStrike">
                          <a:solidFill>
                            <a:schemeClr val="dk1"/>
                          </a:solidFill>
                        </a:rPr>
                        <a:t> that the program must complete. </a:t>
                      </a:r>
                      <a:endParaRPr sz="1400" u="none" cap="none" strike="noStrike"/>
                    </a:p>
                  </a:txBody>
                  <a:tcPr marT="91425" marB="91425" marR="91425" marL="91425" anchor="ctr"/>
                </a:tc>
              </a:tr>
              <a:tr h="451100">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Parallelogram</a:t>
                      </a:r>
                      <a:endParaRPr sz="14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dk1"/>
                          </a:solidFill>
                        </a:rPr>
                        <a:t>Denotes </a:t>
                      </a:r>
                      <a:r>
                        <a:rPr b="1" lang="en" sz="1200" u="none" cap="none" strike="noStrike">
                          <a:solidFill>
                            <a:schemeClr val="dk1"/>
                          </a:solidFill>
                        </a:rPr>
                        <a:t>Prompt Messages</a:t>
                      </a:r>
                      <a:r>
                        <a:rPr lang="en" sz="1200" u="none" cap="none" strike="noStrike">
                          <a:solidFill>
                            <a:schemeClr val="dk1"/>
                          </a:solidFill>
                        </a:rPr>
                        <a:t> or </a:t>
                      </a:r>
                      <a:r>
                        <a:rPr b="1" lang="en" sz="1200" u="none" cap="none" strike="noStrike">
                          <a:solidFill>
                            <a:schemeClr val="dk1"/>
                          </a:solidFill>
                        </a:rPr>
                        <a:t>Input</a:t>
                      </a:r>
                      <a:r>
                        <a:rPr lang="en" sz="1200" u="none" cap="none" strike="noStrike">
                          <a:solidFill>
                            <a:schemeClr val="dk1"/>
                          </a:solidFill>
                        </a:rPr>
                        <a:t> to the program or </a:t>
                      </a:r>
                      <a:r>
                        <a:rPr b="1" lang="en" sz="1200" u="none" cap="none" strike="noStrike">
                          <a:solidFill>
                            <a:schemeClr val="dk1"/>
                          </a:solidFill>
                        </a:rPr>
                        <a:t>Output</a:t>
                      </a:r>
                      <a:r>
                        <a:rPr lang="en" sz="1200" u="none" cap="none" strike="noStrike">
                          <a:solidFill>
                            <a:schemeClr val="dk1"/>
                          </a:solidFill>
                        </a:rPr>
                        <a:t> from the program.</a:t>
                      </a:r>
                      <a:endParaRPr sz="1400" u="none" cap="none" strike="noStrike"/>
                    </a:p>
                  </a:txBody>
                  <a:tcPr marT="91425" marB="91425" marR="91425" marL="91425" anchor="ctr"/>
                </a:tc>
              </a:tr>
              <a:tr h="451100">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Circle</a:t>
                      </a:r>
                      <a:endParaRPr sz="14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dk1"/>
                          </a:solidFill>
                        </a:rPr>
                        <a:t>This is called the </a:t>
                      </a:r>
                      <a:r>
                        <a:rPr b="1" lang="en" sz="1200" u="none" cap="none" strike="noStrike">
                          <a:solidFill>
                            <a:schemeClr val="dk1"/>
                          </a:solidFill>
                        </a:rPr>
                        <a:t>Connector</a:t>
                      </a:r>
                      <a:r>
                        <a:rPr lang="en" sz="1200" u="none" cap="none" strike="noStrike">
                          <a:solidFill>
                            <a:schemeClr val="dk1"/>
                          </a:solidFill>
                        </a:rPr>
                        <a:t> because it is used to combine multiple blocks of code or divide them.</a:t>
                      </a:r>
                      <a:endParaRPr sz="1400" u="none" cap="none" strike="noStrike"/>
                    </a:p>
                  </a:txBody>
                  <a:tcPr marT="91425" marB="91425" marR="91425" marL="91425" anchor="ctr"/>
                </a:tc>
              </a:tr>
              <a:tr h="451100">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Arrow</a:t>
                      </a:r>
                      <a:endParaRPr sz="14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dk1"/>
                          </a:solidFill>
                        </a:rPr>
                        <a:t>Illustrates the </a:t>
                      </a:r>
                      <a:r>
                        <a:rPr b="1" lang="en" sz="1200" u="none" cap="none" strike="noStrike">
                          <a:solidFill>
                            <a:schemeClr val="dk1"/>
                          </a:solidFill>
                        </a:rPr>
                        <a:t>Flow</a:t>
                      </a:r>
                      <a:r>
                        <a:rPr lang="en" sz="1200" u="none" cap="none" strike="noStrike">
                          <a:solidFill>
                            <a:schemeClr val="dk1"/>
                          </a:solidFill>
                        </a:rPr>
                        <a:t> of a program by merging from one shape to another.</a:t>
                      </a:r>
                      <a:endParaRPr sz="1200" u="none" cap="none" strike="noStrike">
                        <a:solidFill>
                          <a:schemeClr val="dk1"/>
                        </a:solidFill>
                      </a:endParaRPr>
                    </a:p>
                  </a:txBody>
                  <a:tcPr marT="91425" marB="91425" marR="91425" marL="91425" anchor="ctr"/>
                </a:tc>
              </a:tr>
            </a:tbl>
          </a:graphicData>
        </a:graphic>
      </p:graphicFrame>
      <p:sp>
        <p:nvSpPr>
          <p:cNvPr id="89" name="Google Shape;89;p5"/>
          <p:cNvSpPr/>
          <p:nvPr/>
        </p:nvSpPr>
        <p:spPr>
          <a:xfrm>
            <a:off x="938450" y="2312900"/>
            <a:ext cx="788562" cy="302076"/>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5"/>
          <p:cNvSpPr/>
          <p:nvPr/>
        </p:nvSpPr>
        <p:spPr>
          <a:xfrm>
            <a:off x="793838" y="2788545"/>
            <a:ext cx="1077775" cy="302075"/>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5"/>
          <p:cNvSpPr/>
          <p:nvPr/>
        </p:nvSpPr>
        <p:spPr>
          <a:xfrm>
            <a:off x="743475" y="3334350"/>
            <a:ext cx="1178525" cy="30207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5"/>
          <p:cNvSpPr/>
          <p:nvPr/>
        </p:nvSpPr>
        <p:spPr>
          <a:xfrm>
            <a:off x="1144328" y="3836325"/>
            <a:ext cx="376800" cy="3558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3" name="Google Shape;93;p5"/>
          <p:cNvCxnSpPr/>
          <p:nvPr/>
        </p:nvCxnSpPr>
        <p:spPr>
          <a:xfrm>
            <a:off x="877075" y="4507650"/>
            <a:ext cx="946200" cy="8700"/>
          </a:xfrm>
          <a:prstGeom prst="straightConnector1">
            <a:avLst/>
          </a:prstGeom>
          <a:noFill/>
          <a:ln cap="flat" cmpd="sng" w="9525">
            <a:solidFill>
              <a:schemeClr val="dk2"/>
            </a:solidFill>
            <a:prstDash val="solid"/>
            <a:round/>
            <a:headEnd len="sm" w="sm" type="none"/>
            <a:tailEnd len="med" w="med" type="triangle"/>
          </a:ln>
        </p:spPr>
      </p:cxnSp>
      <p:sp>
        <p:nvSpPr>
          <p:cNvPr id="94" name="Google Shape;94;p5"/>
          <p:cNvSpPr txBox="1"/>
          <p:nvPr/>
        </p:nvSpPr>
        <p:spPr>
          <a:xfrm>
            <a:off x="431975" y="1430550"/>
            <a:ext cx="7717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chemeClr val="dk1"/>
              </a:buClr>
              <a:buSzPts val="1100"/>
              <a:buFont typeface="Arial"/>
              <a:buNone/>
            </a:pPr>
            <a:r>
              <a:rPr b="1" i="0" lang="en" sz="1800" u="none" cap="none" strike="noStrike">
                <a:solidFill>
                  <a:schemeClr val="dk1"/>
                </a:solidFill>
                <a:latin typeface="Arial"/>
                <a:ea typeface="Arial"/>
                <a:cs typeface="Arial"/>
                <a:sym typeface="Arial"/>
              </a:rPr>
              <a:t>Few Basic shapes of a flowchart: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311700" y="445025"/>
            <a:ext cx="42603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Scenario to Flowchart</a:t>
            </a:r>
            <a:endParaRPr b="1"/>
          </a:p>
        </p:txBody>
      </p:sp>
      <p:sp>
        <p:nvSpPr>
          <p:cNvPr id="100" name="Google Shape;100;p6"/>
          <p:cNvSpPr txBox="1"/>
          <p:nvPr>
            <p:ph idx="1" type="body"/>
          </p:nvPr>
        </p:nvSpPr>
        <p:spPr>
          <a:xfrm>
            <a:off x="311700" y="1152475"/>
            <a:ext cx="47013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solidFill>
                  <a:schemeClr val="dk1"/>
                </a:solidFill>
              </a:rPr>
              <a:t>Let’s go back to the previously discussed scenario and try to visualize it using a flowchart. </a:t>
            </a:r>
            <a:endParaRPr>
              <a:solidFill>
                <a:schemeClr val="dk1"/>
              </a:solidFill>
            </a:endParaRPr>
          </a:p>
          <a:p>
            <a:pPr indent="0" lvl="0" marL="0" rtl="0" algn="l">
              <a:lnSpc>
                <a:spcPct val="100000"/>
              </a:lnSpc>
              <a:spcBef>
                <a:spcPts val="1200"/>
              </a:spcBef>
              <a:spcAft>
                <a:spcPts val="1200"/>
              </a:spcAft>
              <a:buSzPts val="1800"/>
              <a:buNone/>
            </a:pPr>
            <a:r>
              <a:rPr b="1" lang="en">
                <a:solidFill>
                  <a:schemeClr val="dk1"/>
                </a:solidFill>
              </a:rPr>
              <a:t>Scenario: </a:t>
            </a:r>
            <a:r>
              <a:rPr lang="en">
                <a:solidFill>
                  <a:schemeClr val="dk1"/>
                </a:solidFill>
              </a:rPr>
              <a:t>Think of a program that takes two numbers from the user and shows their summation in the output. Represent this program using a flowchart.</a:t>
            </a:r>
            <a:endParaRPr>
              <a:solidFill>
                <a:schemeClr val="dk1"/>
              </a:solidFill>
            </a:endParaRPr>
          </a:p>
        </p:txBody>
      </p:sp>
      <p:sp>
        <p:nvSpPr>
          <p:cNvPr id="101" name="Google Shape;101;p6"/>
          <p:cNvSpPr/>
          <p:nvPr/>
        </p:nvSpPr>
        <p:spPr>
          <a:xfrm>
            <a:off x="6247713" y="39007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START</a:t>
            </a:r>
            <a:endParaRPr b="0" i="0" sz="1400" u="none" cap="none" strike="noStrike">
              <a:solidFill>
                <a:srgbClr val="000000"/>
              </a:solidFill>
              <a:latin typeface="Arial"/>
              <a:ea typeface="Arial"/>
              <a:cs typeface="Arial"/>
              <a:sym typeface="Arial"/>
            </a:endParaRPr>
          </a:p>
        </p:txBody>
      </p:sp>
      <p:sp>
        <p:nvSpPr>
          <p:cNvPr id="102" name="Google Shape;102;p6"/>
          <p:cNvSpPr/>
          <p:nvPr/>
        </p:nvSpPr>
        <p:spPr>
          <a:xfrm>
            <a:off x="5722638" y="3251388"/>
            <a:ext cx="1997825" cy="3003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sum = num1 + num2</a:t>
            </a:r>
            <a:endParaRPr b="0" i="0" sz="1400" u="none" cap="none" strike="noStrike">
              <a:solidFill>
                <a:srgbClr val="000000"/>
              </a:solidFill>
              <a:latin typeface="Arial"/>
              <a:ea typeface="Arial"/>
              <a:cs typeface="Arial"/>
              <a:sym typeface="Arial"/>
            </a:endParaRPr>
          </a:p>
        </p:txBody>
      </p:sp>
      <p:sp>
        <p:nvSpPr>
          <p:cNvPr id="103" name="Google Shape;103;p6"/>
          <p:cNvSpPr/>
          <p:nvPr/>
        </p:nvSpPr>
        <p:spPr>
          <a:xfrm>
            <a:off x="5757675" y="3756825"/>
            <a:ext cx="1901450" cy="3003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PRINT sum</a:t>
            </a:r>
            <a:endParaRPr b="0" i="0" sz="1400" u="none" cap="none" strike="noStrike">
              <a:solidFill>
                <a:srgbClr val="000000"/>
              </a:solidFill>
              <a:latin typeface="Arial"/>
              <a:ea typeface="Arial"/>
              <a:cs typeface="Arial"/>
              <a:sym typeface="Arial"/>
            </a:endParaRPr>
          </a:p>
        </p:txBody>
      </p:sp>
      <p:sp>
        <p:nvSpPr>
          <p:cNvPr id="104" name="Google Shape;104;p6"/>
          <p:cNvSpPr/>
          <p:nvPr/>
        </p:nvSpPr>
        <p:spPr>
          <a:xfrm>
            <a:off x="6211998" y="4259899"/>
            <a:ext cx="992790"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END</a:t>
            </a:r>
            <a:endParaRPr b="0" i="0" sz="1400" u="none" cap="none" strike="noStrike">
              <a:solidFill>
                <a:srgbClr val="000000"/>
              </a:solidFill>
              <a:latin typeface="Arial"/>
              <a:ea typeface="Arial"/>
              <a:cs typeface="Arial"/>
              <a:sym typeface="Arial"/>
            </a:endParaRPr>
          </a:p>
        </p:txBody>
      </p:sp>
      <p:sp>
        <p:nvSpPr>
          <p:cNvPr id="105" name="Google Shape;105;p6"/>
          <p:cNvSpPr/>
          <p:nvPr/>
        </p:nvSpPr>
        <p:spPr>
          <a:xfrm>
            <a:off x="5722625" y="1622875"/>
            <a:ext cx="199782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READ num1</a:t>
            </a:r>
            <a:endParaRPr b="0" i="0" sz="1400" u="none" cap="none" strike="noStrike">
              <a:solidFill>
                <a:srgbClr val="000000"/>
              </a:solidFill>
              <a:latin typeface="Arial"/>
              <a:ea typeface="Arial"/>
              <a:cs typeface="Arial"/>
              <a:sym typeface="Arial"/>
            </a:endParaRPr>
          </a:p>
        </p:txBody>
      </p:sp>
      <p:cxnSp>
        <p:nvCxnSpPr>
          <p:cNvPr id="106" name="Google Shape;106;p6"/>
          <p:cNvCxnSpPr>
            <a:stCxn id="102" idx="2"/>
            <a:endCxn id="103" idx="1"/>
          </p:cNvCxnSpPr>
          <p:nvPr/>
        </p:nvCxnSpPr>
        <p:spPr>
          <a:xfrm flipH="1">
            <a:off x="6708351" y="3551688"/>
            <a:ext cx="13200" cy="205200"/>
          </a:xfrm>
          <a:prstGeom prst="straightConnector1">
            <a:avLst/>
          </a:prstGeom>
          <a:noFill/>
          <a:ln cap="flat" cmpd="sng" w="9525">
            <a:solidFill>
              <a:schemeClr val="dk2"/>
            </a:solidFill>
            <a:prstDash val="solid"/>
            <a:round/>
            <a:headEnd len="sm" w="sm" type="none"/>
            <a:tailEnd len="med" w="med" type="triangle"/>
          </a:ln>
        </p:spPr>
      </p:cxnSp>
      <p:cxnSp>
        <p:nvCxnSpPr>
          <p:cNvPr id="107" name="Google Shape;107;p6"/>
          <p:cNvCxnSpPr>
            <a:stCxn id="103" idx="4"/>
            <a:endCxn id="104" idx="0"/>
          </p:cNvCxnSpPr>
          <p:nvPr/>
        </p:nvCxnSpPr>
        <p:spPr>
          <a:xfrm>
            <a:off x="6708400" y="4057125"/>
            <a:ext cx="0" cy="202800"/>
          </a:xfrm>
          <a:prstGeom prst="straightConnector1">
            <a:avLst/>
          </a:prstGeom>
          <a:noFill/>
          <a:ln cap="flat" cmpd="sng" w="9525">
            <a:solidFill>
              <a:schemeClr val="dk2"/>
            </a:solidFill>
            <a:prstDash val="solid"/>
            <a:round/>
            <a:headEnd len="sm" w="sm" type="none"/>
            <a:tailEnd len="med" w="med" type="triangle"/>
          </a:ln>
        </p:spPr>
      </p:cxnSp>
      <p:sp>
        <p:nvSpPr>
          <p:cNvPr id="108" name="Google Shape;108;p6"/>
          <p:cNvSpPr/>
          <p:nvPr/>
        </p:nvSpPr>
        <p:spPr>
          <a:xfrm>
            <a:off x="5709488" y="2783463"/>
            <a:ext cx="199782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READ num2</a:t>
            </a:r>
            <a:endParaRPr b="0" i="0" sz="1400" u="none" cap="none" strike="noStrike">
              <a:solidFill>
                <a:srgbClr val="000000"/>
              </a:solidFill>
              <a:latin typeface="Arial"/>
              <a:ea typeface="Arial"/>
              <a:cs typeface="Arial"/>
              <a:sym typeface="Arial"/>
            </a:endParaRPr>
          </a:p>
        </p:txBody>
      </p:sp>
      <p:sp>
        <p:nvSpPr>
          <p:cNvPr id="109" name="Google Shape;109;p6"/>
          <p:cNvSpPr/>
          <p:nvPr/>
        </p:nvSpPr>
        <p:spPr>
          <a:xfrm>
            <a:off x="5233563" y="2087663"/>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Prompt “Please Enter Another Number”</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cxnSp>
        <p:nvCxnSpPr>
          <p:cNvPr id="110" name="Google Shape;110;p6"/>
          <p:cNvCxnSpPr>
            <a:stCxn id="105" idx="4"/>
            <a:endCxn id="109" idx="1"/>
          </p:cNvCxnSpPr>
          <p:nvPr/>
        </p:nvCxnSpPr>
        <p:spPr>
          <a:xfrm>
            <a:off x="6721538" y="1885675"/>
            <a:ext cx="0" cy="201900"/>
          </a:xfrm>
          <a:prstGeom prst="straightConnector1">
            <a:avLst/>
          </a:prstGeom>
          <a:noFill/>
          <a:ln cap="flat" cmpd="sng" w="9525">
            <a:solidFill>
              <a:schemeClr val="dk2"/>
            </a:solidFill>
            <a:prstDash val="solid"/>
            <a:round/>
            <a:headEnd len="sm" w="sm" type="none"/>
            <a:tailEnd len="med" w="med" type="triangle"/>
          </a:ln>
        </p:spPr>
      </p:cxnSp>
      <p:cxnSp>
        <p:nvCxnSpPr>
          <p:cNvPr id="111" name="Google Shape;111;p6"/>
          <p:cNvCxnSpPr>
            <a:stCxn id="109" idx="4"/>
            <a:endCxn id="108" idx="1"/>
          </p:cNvCxnSpPr>
          <p:nvPr/>
        </p:nvCxnSpPr>
        <p:spPr>
          <a:xfrm flipH="1">
            <a:off x="6708338" y="2579363"/>
            <a:ext cx="13200" cy="204000"/>
          </a:xfrm>
          <a:prstGeom prst="straightConnector1">
            <a:avLst/>
          </a:prstGeom>
          <a:noFill/>
          <a:ln cap="flat" cmpd="sng" w="9525">
            <a:solidFill>
              <a:schemeClr val="dk2"/>
            </a:solidFill>
            <a:prstDash val="solid"/>
            <a:round/>
            <a:headEnd len="sm" w="sm" type="none"/>
            <a:tailEnd len="med" w="med" type="triangle"/>
          </a:ln>
        </p:spPr>
      </p:cxnSp>
      <p:cxnSp>
        <p:nvCxnSpPr>
          <p:cNvPr id="112" name="Google Shape;112;p6"/>
          <p:cNvCxnSpPr>
            <a:stCxn id="108" idx="4"/>
            <a:endCxn id="102" idx="0"/>
          </p:cNvCxnSpPr>
          <p:nvPr/>
        </p:nvCxnSpPr>
        <p:spPr>
          <a:xfrm>
            <a:off x="6708401" y="3046263"/>
            <a:ext cx="13200" cy="205200"/>
          </a:xfrm>
          <a:prstGeom prst="straightConnector1">
            <a:avLst/>
          </a:prstGeom>
          <a:noFill/>
          <a:ln cap="flat" cmpd="sng" w="9525">
            <a:solidFill>
              <a:schemeClr val="dk2"/>
            </a:solidFill>
            <a:prstDash val="solid"/>
            <a:round/>
            <a:headEnd len="sm" w="sm" type="none"/>
            <a:tailEnd len="med" w="med" type="triangle"/>
          </a:ln>
        </p:spPr>
      </p:cxnSp>
      <p:sp>
        <p:nvSpPr>
          <p:cNvPr id="113" name="Google Shape;113;p6"/>
          <p:cNvSpPr/>
          <p:nvPr/>
        </p:nvSpPr>
        <p:spPr>
          <a:xfrm>
            <a:off x="5226425" y="927300"/>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Prompt “Please Enter a Number”</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cxnSp>
        <p:nvCxnSpPr>
          <p:cNvPr id="114" name="Google Shape;114;p6"/>
          <p:cNvCxnSpPr>
            <a:stCxn id="101" idx="2"/>
            <a:endCxn id="113" idx="1"/>
          </p:cNvCxnSpPr>
          <p:nvPr/>
        </p:nvCxnSpPr>
        <p:spPr>
          <a:xfrm flipH="1">
            <a:off x="6714471" y="690368"/>
            <a:ext cx="1800" cy="237000"/>
          </a:xfrm>
          <a:prstGeom prst="straightConnector1">
            <a:avLst/>
          </a:prstGeom>
          <a:noFill/>
          <a:ln cap="flat" cmpd="sng" w="9525">
            <a:solidFill>
              <a:schemeClr val="dk2"/>
            </a:solidFill>
            <a:prstDash val="solid"/>
            <a:round/>
            <a:headEnd len="sm" w="sm" type="none"/>
            <a:tailEnd len="med" w="med" type="triangle"/>
          </a:ln>
        </p:spPr>
      </p:cxnSp>
      <p:cxnSp>
        <p:nvCxnSpPr>
          <p:cNvPr id="115" name="Google Shape;115;p6"/>
          <p:cNvCxnSpPr>
            <a:stCxn id="113" idx="4"/>
            <a:endCxn id="105" idx="1"/>
          </p:cNvCxnSpPr>
          <p:nvPr/>
        </p:nvCxnSpPr>
        <p:spPr>
          <a:xfrm>
            <a:off x="6714400" y="1419000"/>
            <a:ext cx="7200" cy="2040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311700" y="445025"/>
            <a:ext cx="4911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Scenario to Flowchart (Contd)</a:t>
            </a:r>
            <a:endParaRPr/>
          </a:p>
        </p:txBody>
      </p:sp>
      <p:sp>
        <p:nvSpPr>
          <p:cNvPr id="121" name="Google Shape;121;p7"/>
          <p:cNvSpPr txBox="1"/>
          <p:nvPr>
            <p:ph idx="1" type="body"/>
          </p:nvPr>
        </p:nvSpPr>
        <p:spPr>
          <a:xfrm>
            <a:off x="311700" y="1024250"/>
            <a:ext cx="4096500" cy="3414600"/>
          </a:xfrm>
          <a:prstGeom prst="rect">
            <a:avLst/>
          </a:prstGeom>
          <a:no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0"/>
              </a:spcAft>
              <a:buSzPts val="1800"/>
              <a:buNone/>
            </a:pPr>
            <a:r>
              <a:rPr b="1" lang="en" sz="2400">
                <a:solidFill>
                  <a:schemeClr val="dk1"/>
                </a:solidFill>
              </a:rPr>
              <a:t>CLASSWORK #1</a:t>
            </a:r>
            <a:endParaRPr b="1" sz="2400">
              <a:solidFill>
                <a:schemeClr val="dk1"/>
              </a:solidFill>
            </a:endParaRPr>
          </a:p>
          <a:p>
            <a:pPr indent="0" lvl="0" marL="0" rtl="0" algn="just">
              <a:lnSpc>
                <a:spcPct val="115000"/>
              </a:lnSpc>
              <a:spcBef>
                <a:spcPts val="1200"/>
              </a:spcBef>
              <a:spcAft>
                <a:spcPts val="1200"/>
              </a:spcAft>
              <a:buClr>
                <a:schemeClr val="dk1"/>
              </a:buClr>
              <a:buSzPts val="1100"/>
              <a:buFont typeface="Arial"/>
              <a:buNone/>
            </a:pPr>
            <a:r>
              <a:rPr b="1" lang="en">
                <a:solidFill>
                  <a:schemeClr val="dk1"/>
                </a:solidFill>
              </a:rPr>
              <a:t>Scenario: </a:t>
            </a:r>
            <a:r>
              <a:rPr lang="en">
                <a:solidFill>
                  <a:schemeClr val="dk1"/>
                </a:solidFill>
              </a:rPr>
              <a:t>Think of a program that calculates and shows the area of a rectangle after taking the value of its two sides as input. Represent this program using a flowchart.</a:t>
            </a:r>
            <a:endParaRPr>
              <a:solidFill>
                <a:schemeClr val="dk1"/>
              </a:solidFill>
            </a:endParaRPr>
          </a:p>
        </p:txBody>
      </p:sp>
      <p:sp>
        <p:nvSpPr>
          <p:cNvPr id="122" name="Google Shape;122;p7"/>
          <p:cNvSpPr/>
          <p:nvPr/>
        </p:nvSpPr>
        <p:spPr>
          <a:xfrm>
            <a:off x="6440488" y="44502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Arial"/>
                <a:ea typeface="Arial"/>
                <a:cs typeface="Arial"/>
                <a:sym typeface="Arial"/>
              </a:rPr>
              <a:t>START</a:t>
            </a:r>
            <a:endParaRPr b="0" i="0" sz="1300" u="none" cap="none" strike="noStrike">
              <a:solidFill>
                <a:srgbClr val="000000"/>
              </a:solidFill>
              <a:latin typeface="Arial"/>
              <a:ea typeface="Arial"/>
              <a:cs typeface="Arial"/>
              <a:sym typeface="Arial"/>
            </a:endParaRPr>
          </a:p>
        </p:txBody>
      </p:sp>
      <p:sp>
        <p:nvSpPr>
          <p:cNvPr id="123" name="Google Shape;123;p7"/>
          <p:cNvSpPr/>
          <p:nvPr/>
        </p:nvSpPr>
        <p:spPr>
          <a:xfrm>
            <a:off x="6270038" y="3305288"/>
            <a:ext cx="1274275" cy="3003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Arial"/>
                <a:ea typeface="Arial"/>
                <a:cs typeface="Arial"/>
                <a:sym typeface="Arial"/>
              </a:rPr>
              <a:t>Area = X * Y</a:t>
            </a:r>
            <a:endParaRPr b="0" i="0" sz="1300" u="none" cap="none" strike="noStrike">
              <a:solidFill>
                <a:srgbClr val="000000"/>
              </a:solidFill>
              <a:latin typeface="Arial"/>
              <a:ea typeface="Arial"/>
              <a:cs typeface="Arial"/>
              <a:sym typeface="Arial"/>
            </a:endParaRPr>
          </a:p>
        </p:txBody>
      </p:sp>
      <p:sp>
        <p:nvSpPr>
          <p:cNvPr id="124" name="Google Shape;124;p7"/>
          <p:cNvSpPr/>
          <p:nvPr/>
        </p:nvSpPr>
        <p:spPr>
          <a:xfrm>
            <a:off x="5940800" y="3811796"/>
            <a:ext cx="1936500" cy="3003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PRINT Area</a:t>
            </a:r>
            <a:endParaRPr b="0" i="0" sz="1300" u="none" cap="none" strike="noStrike">
              <a:solidFill>
                <a:srgbClr val="000000"/>
              </a:solidFill>
              <a:latin typeface="Arial"/>
              <a:ea typeface="Arial"/>
              <a:cs typeface="Arial"/>
              <a:sym typeface="Arial"/>
            </a:endParaRPr>
          </a:p>
        </p:txBody>
      </p:sp>
      <p:sp>
        <p:nvSpPr>
          <p:cNvPr id="125" name="Google Shape;125;p7"/>
          <p:cNvSpPr/>
          <p:nvPr/>
        </p:nvSpPr>
        <p:spPr>
          <a:xfrm>
            <a:off x="6410773" y="4318299"/>
            <a:ext cx="992790"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Arial"/>
                <a:ea typeface="Arial"/>
                <a:cs typeface="Arial"/>
                <a:sym typeface="Arial"/>
              </a:rPr>
              <a:t>END</a:t>
            </a:r>
            <a:endParaRPr b="0" i="0" sz="1300" u="none" cap="none" strike="noStrike">
              <a:solidFill>
                <a:srgbClr val="000000"/>
              </a:solidFill>
              <a:latin typeface="Arial"/>
              <a:ea typeface="Arial"/>
              <a:cs typeface="Arial"/>
              <a:sym typeface="Arial"/>
            </a:endParaRPr>
          </a:p>
        </p:txBody>
      </p:sp>
      <p:sp>
        <p:nvSpPr>
          <p:cNvPr id="126" name="Google Shape;126;p7"/>
          <p:cNvSpPr/>
          <p:nvPr/>
        </p:nvSpPr>
        <p:spPr>
          <a:xfrm>
            <a:off x="6087325" y="1677825"/>
            <a:ext cx="165587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READ X</a:t>
            </a:r>
            <a:endParaRPr b="0" i="0" sz="1300" u="none" cap="none" strike="noStrike">
              <a:solidFill>
                <a:srgbClr val="000000"/>
              </a:solidFill>
              <a:latin typeface="Arial"/>
              <a:ea typeface="Arial"/>
              <a:cs typeface="Arial"/>
              <a:sym typeface="Arial"/>
            </a:endParaRPr>
          </a:p>
        </p:txBody>
      </p:sp>
      <p:cxnSp>
        <p:nvCxnSpPr>
          <p:cNvPr id="127" name="Google Shape;127;p7"/>
          <p:cNvCxnSpPr>
            <a:stCxn id="123" idx="2"/>
            <a:endCxn id="124" idx="1"/>
          </p:cNvCxnSpPr>
          <p:nvPr/>
        </p:nvCxnSpPr>
        <p:spPr>
          <a:xfrm>
            <a:off x="6907176" y="3605588"/>
            <a:ext cx="1800" cy="206100"/>
          </a:xfrm>
          <a:prstGeom prst="straightConnector1">
            <a:avLst/>
          </a:prstGeom>
          <a:noFill/>
          <a:ln cap="flat" cmpd="sng" w="9525">
            <a:solidFill>
              <a:schemeClr val="dk2"/>
            </a:solidFill>
            <a:prstDash val="solid"/>
            <a:round/>
            <a:headEnd len="sm" w="sm" type="none"/>
            <a:tailEnd len="med" w="med" type="triangle"/>
          </a:ln>
        </p:spPr>
      </p:cxnSp>
      <p:cxnSp>
        <p:nvCxnSpPr>
          <p:cNvPr id="128" name="Google Shape;128;p7"/>
          <p:cNvCxnSpPr>
            <a:stCxn id="124" idx="4"/>
            <a:endCxn id="125" idx="0"/>
          </p:cNvCxnSpPr>
          <p:nvPr/>
        </p:nvCxnSpPr>
        <p:spPr>
          <a:xfrm flipH="1">
            <a:off x="6907250" y="4112096"/>
            <a:ext cx="1800" cy="206100"/>
          </a:xfrm>
          <a:prstGeom prst="straightConnector1">
            <a:avLst/>
          </a:prstGeom>
          <a:noFill/>
          <a:ln cap="flat" cmpd="sng" w="9525">
            <a:solidFill>
              <a:schemeClr val="dk2"/>
            </a:solidFill>
            <a:prstDash val="solid"/>
            <a:round/>
            <a:headEnd len="sm" w="sm" type="none"/>
            <a:tailEnd len="med" w="med" type="triangle"/>
          </a:ln>
        </p:spPr>
      </p:cxnSp>
      <p:sp>
        <p:nvSpPr>
          <p:cNvPr id="129" name="Google Shape;129;p7"/>
          <p:cNvSpPr/>
          <p:nvPr/>
        </p:nvSpPr>
        <p:spPr>
          <a:xfrm>
            <a:off x="6087325" y="2836300"/>
            <a:ext cx="161447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READ Y</a:t>
            </a:r>
            <a:endParaRPr b="0" i="0" sz="1300" u="none" cap="none" strike="noStrike">
              <a:solidFill>
                <a:srgbClr val="000000"/>
              </a:solidFill>
              <a:latin typeface="Arial"/>
              <a:ea typeface="Arial"/>
              <a:cs typeface="Arial"/>
              <a:sym typeface="Arial"/>
            </a:endParaRPr>
          </a:p>
        </p:txBody>
      </p:sp>
      <p:sp>
        <p:nvSpPr>
          <p:cNvPr id="130" name="Google Shape;130;p7"/>
          <p:cNvSpPr/>
          <p:nvPr/>
        </p:nvSpPr>
        <p:spPr>
          <a:xfrm>
            <a:off x="5419200" y="2135000"/>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Prompt “Enter the Value of Other Side”</a:t>
            </a:r>
            <a:endParaRPr b="0" i="0" sz="1200" u="none" cap="none" strike="noStrike">
              <a:solidFill>
                <a:schemeClr val="dk1"/>
              </a:solidFill>
              <a:latin typeface="Arial"/>
              <a:ea typeface="Arial"/>
              <a:cs typeface="Arial"/>
              <a:sym typeface="Arial"/>
            </a:endParaRPr>
          </a:p>
        </p:txBody>
      </p:sp>
      <p:cxnSp>
        <p:nvCxnSpPr>
          <p:cNvPr id="131" name="Google Shape;131;p7"/>
          <p:cNvCxnSpPr>
            <a:stCxn id="126" idx="4"/>
            <a:endCxn id="130" idx="1"/>
          </p:cNvCxnSpPr>
          <p:nvPr/>
        </p:nvCxnSpPr>
        <p:spPr>
          <a:xfrm flipH="1">
            <a:off x="6907163" y="1940625"/>
            <a:ext cx="8100" cy="194400"/>
          </a:xfrm>
          <a:prstGeom prst="straightConnector1">
            <a:avLst/>
          </a:prstGeom>
          <a:noFill/>
          <a:ln cap="flat" cmpd="sng" w="9525">
            <a:solidFill>
              <a:schemeClr val="dk2"/>
            </a:solidFill>
            <a:prstDash val="solid"/>
            <a:round/>
            <a:headEnd len="sm" w="sm" type="none"/>
            <a:tailEnd len="med" w="med" type="triangle"/>
          </a:ln>
        </p:spPr>
      </p:cxnSp>
      <p:cxnSp>
        <p:nvCxnSpPr>
          <p:cNvPr id="132" name="Google Shape;132;p7"/>
          <p:cNvCxnSpPr>
            <a:stCxn id="130" idx="4"/>
            <a:endCxn id="129" idx="1"/>
          </p:cNvCxnSpPr>
          <p:nvPr/>
        </p:nvCxnSpPr>
        <p:spPr>
          <a:xfrm flipH="1">
            <a:off x="6894575" y="2626700"/>
            <a:ext cx="12600" cy="209700"/>
          </a:xfrm>
          <a:prstGeom prst="straightConnector1">
            <a:avLst/>
          </a:prstGeom>
          <a:noFill/>
          <a:ln cap="flat" cmpd="sng" w="9525">
            <a:solidFill>
              <a:schemeClr val="dk2"/>
            </a:solidFill>
            <a:prstDash val="solid"/>
            <a:round/>
            <a:headEnd len="sm" w="sm" type="none"/>
            <a:tailEnd len="med" w="med" type="triangle"/>
          </a:ln>
        </p:spPr>
      </p:cxnSp>
      <p:cxnSp>
        <p:nvCxnSpPr>
          <p:cNvPr id="133" name="Google Shape;133;p7"/>
          <p:cNvCxnSpPr>
            <a:stCxn id="129" idx="4"/>
            <a:endCxn id="123" idx="0"/>
          </p:cNvCxnSpPr>
          <p:nvPr/>
        </p:nvCxnSpPr>
        <p:spPr>
          <a:xfrm>
            <a:off x="6894563" y="3099100"/>
            <a:ext cx="12600" cy="206100"/>
          </a:xfrm>
          <a:prstGeom prst="straightConnector1">
            <a:avLst/>
          </a:prstGeom>
          <a:noFill/>
          <a:ln cap="flat" cmpd="sng" w="9525">
            <a:solidFill>
              <a:schemeClr val="dk2"/>
            </a:solidFill>
            <a:prstDash val="solid"/>
            <a:round/>
            <a:headEnd len="sm" w="sm" type="none"/>
            <a:tailEnd len="med" w="med" type="triangle"/>
          </a:ln>
        </p:spPr>
      </p:cxnSp>
      <p:sp>
        <p:nvSpPr>
          <p:cNvPr id="134" name="Google Shape;134;p7"/>
          <p:cNvSpPr/>
          <p:nvPr/>
        </p:nvSpPr>
        <p:spPr>
          <a:xfrm>
            <a:off x="5419200" y="982250"/>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Prompt “Enter the Value of One Side”</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cxnSp>
        <p:nvCxnSpPr>
          <p:cNvPr id="135" name="Google Shape;135;p7"/>
          <p:cNvCxnSpPr>
            <a:stCxn id="122" idx="2"/>
            <a:endCxn id="134" idx="1"/>
          </p:cNvCxnSpPr>
          <p:nvPr/>
        </p:nvCxnSpPr>
        <p:spPr>
          <a:xfrm flipH="1">
            <a:off x="6907246" y="745318"/>
            <a:ext cx="1800" cy="237000"/>
          </a:xfrm>
          <a:prstGeom prst="straightConnector1">
            <a:avLst/>
          </a:prstGeom>
          <a:noFill/>
          <a:ln cap="flat" cmpd="sng" w="9525">
            <a:solidFill>
              <a:schemeClr val="dk2"/>
            </a:solidFill>
            <a:prstDash val="solid"/>
            <a:round/>
            <a:headEnd len="sm" w="sm" type="none"/>
            <a:tailEnd len="med" w="med" type="triangle"/>
          </a:ln>
        </p:spPr>
      </p:cxnSp>
      <p:cxnSp>
        <p:nvCxnSpPr>
          <p:cNvPr id="136" name="Google Shape;136;p7"/>
          <p:cNvCxnSpPr>
            <a:stCxn id="134" idx="4"/>
            <a:endCxn id="126" idx="1"/>
          </p:cNvCxnSpPr>
          <p:nvPr/>
        </p:nvCxnSpPr>
        <p:spPr>
          <a:xfrm>
            <a:off x="6907175" y="1473950"/>
            <a:ext cx="8100" cy="2040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ph type="title"/>
          </p:nvPr>
        </p:nvSpPr>
        <p:spPr>
          <a:xfrm>
            <a:off x="311700" y="445025"/>
            <a:ext cx="4911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Scenario to Flowchart (Contd)</a:t>
            </a:r>
            <a:endParaRPr/>
          </a:p>
        </p:txBody>
      </p:sp>
      <p:sp>
        <p:nvSpPr>
          <p:cNvPr id="142" name="Google Shape;142;p8"/>
          <p:cNvSpPr txBox="1"/>
          <p:nvPr>
            <p:ph idx="1" type="body"/>
          </p:nvPr>
        </p:nvSpPr>
        <p:spPr>
          <a:xfrm>
            <a:off x="311700" y="1152475"/>
            <a:ext cx="4096500" cy="3414600"/>
          </a:xfrm>
          <a:prstGeom prst="rect">
            <a:avLst/>
          </a:prstGeom>
          <a:no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0"/>
              </a:spcAft>
              <a:buSzPts val="1800"/>
              <a:buNone/>
            </a:pPr>
            <a:r>
              <a:rPr b="1" lang="en" sz="2400">
                <a:solidFill>
                  <a:schemeClr val="dk1"/>
                </a:solidFill>
              </a:rPr>
              <a:t>CLASSWORK #2</a:t>
            </a:r>
            <a:endParaRPr b="1" sz="2400">
              <a:solidFill>
                <a:schemeClr val="dk1"/>
              </a:solidFill>
            </a:endParaRPr>
          </a:p>
          <a:p>
            <a:pPr indent="0" lvl="0" marL="0" rtl="0" algn="just">
              <a:lnSpc>
                <a:spcPct val="115000"/>
              </a:lnSpc>
              <a:spcBef>
                <a:spcPts val="1200"/>
              </a:spcBef>
              <a:spcAft>
                <a:spcPts val="1200"/>
              </a:spcAft>
              <a:buSzPts val="1800"/>
              <a:buNone/>
            </a:pPr>
            <a:r>
              <a:rPr b="1" lang="en">
                <a:solidFill>
                  <a:schemeClr val="dk1"/>
                </a:solidFill>
              </a:rPr>
              <a:t>Scenario: </a:t>
            </a:r>
            <a:r>
              <a:rPr lang="en" sz="1700">
                <a:solidFill>
                  <a:schemeClr val="dk1"/>
                </a:solidFill>
              </a:rPr>
              <a:t>Think of a program that calculates and shows the speed of a car in meter/second after getting the speed as kilometer/hour from the user as input. Represent this program using a flowchart.</a:t>
            </a:r>
            <a:endParaRPr sz="1700">
              <a:solidFill>
                <a:schemeClr val="dk1"/>
              </a:solidFill>
            </a:endParaRPr>
          </a:p>
        </p:txBody>
      </p:sp>
      <p:sp>
        <p:nvSpPr>
          <p:cNvPr id="143" name="Google Shape;143;p8"/>
          <p:cNvSpPr/>
          <p:nvPr/>
        </p:nvSpPr>
        <p:spPr>
          <a:xfrm>
            <a:off x="6510588" y="101772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START</a:t>
            </a:r>
            <a:endParaRPr b="0" i="0" sz="1400" u="none" cap="none" strike="noStrike">
              <a:solidFill>
                <a:srgbClr val="000000"/>
              </a:solidFill>
              <a:latin typeface="Arial"/>
              <a:ea typeface="Arial"/>
              <a:cs typeface="Arial"/>
              <a:sym typeface="Arial"/>
            </a:endParaRPr>
          </a:p>
        </p:txBody>
      </p:sp>
      <p:sp>
        <p:nvSpPr>
          <p:cNvPr id="144" name="Google Shape;144;p8"/>
          <p:cNvSpPr/>
          <p:nvPr/>
        </p:nvSpPr>
        <p:spPr>
          <a:xfrm>
            <a:off x="5769950" y="2849825"/>
            <a:ext cx="2418400" cy="4705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spd = car * 1000 / 60 * 60</a:t>
            </a:r>
            <a:endParaRPr b="0" i="0" sz="1400" u="none" cap="none" strike="noStrike">
              <a:solidFill>
                <a:srgbClr val="000000"/>
              </a:solidFill>
              <a:latin typeface="Arial"/>
              <a:ea typeface="Arial"/>
              <a:cs typeface="Arial"/>
              <a:sym typeface="Arial"/>
            </a:endParaRPr>
          </a:p>
        </p:txBody>
      </p:sp>
      <p:sp>
        <p:nvSpPr>
          <p:cNvPr id="145" name="Google Shape;145;p8"/>
          <p:cNvSpPr/>
          <p:nvPr/>
        </p:nvSpPr>
        <p:spPr>
          <a:xfrm>
            <a:off x="5949588" y="3558113"/>
            <a:ext cx="2059175" cy="29987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PRINT spd</a:t>
            </a:r>
            <a:endParaRPr b="0" i="0" sz="1400" u="none" cap="none" strike="noStrike">
              <a:solidFill>
                <a:srgbClr val="000000"/>
              </a:solidFill>
              <a:latin typeface="Arial"/>
              <a:ea typeface="Arial"/>
              <a:cs typeface="Arial"/>
              <a:sym typeface="Arial"/>
            </a:endParaRPr>
          </a:p>
        </p:txBody>
      </p:sp>
      <p:sp>
        <p:nvSpPr>
          <p:cNvPr id="146" name="Google Shape;146;p8"/>
          <p:cNvSpPr/>
          <p:nvPr/>
        </p:nvSpPr>
        <p:spPr>
          <a:xfrm>
            <a:off x="6037213" y="2312163"/>
            <a:ext cx="1883900" cy="29987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READ car</a:t>
            </a:r>
            <a:endParaRPr b="0" i="0" sz="1400" u="none" cap="none" strike="noStrike">
              <a:solidFill>
                <a:srgbClr val="000000"/>
              </a:solidFill>
              <a:latin typeface="Arial"/>
              <a:ea typeface="Arial"/>
              <a:cs typeface="Arial"/>
              <a:sym typeface="Arial"/>
            </a:endParaRPr>
          </a:p>
        </p:txBody>
      </p:sp>
      <p:cxnSp>
        <p:nvCxnSpPr>
          <p:cNvPr id="147" name="Google Shape;147;p8"/>
          <p:cNvCxnSpPr>
            <a:stCxn id="144" idx="2"/>
            <a:endCxn id="145" idx="1"/>
          </p:cNvCxnSpPr>
          <p:nvPr/>
        </p:nvCxnSpPr>
        <p:spPr>
          <a:xfrm>
            <a:off x="6979150" y="3320325"/>
            <a:ext cx="0" cy="237900"/>
          </a:xfrm>
          <a:prstGeom prst="straightConnector1">
            <a:avLst/>
          </a:prstGeom>
          <a:noFill/>
          <a:ln cap="flat" cmpd="sng" w="9525">
            <a:solidFill>
              <a:schemeClr val="dk2"/>
            </a:solidFill>
            <a:prstDash val="solid"/>
            <a:round/>
            <a:headEnd len="sm" w="sm" type="none"/>
            <a:tailEnd len="med" w="med" type="triangle"/>
          </a:ln>
        </p:spPr>
      </p:cxnSp>
      <p:cxnSp>
        <p:nvCxnSpPr>
          <p:cNvPr id="148" name="Google Shape;148;p8"/>
          <p:cNvCxnSpPr>
            <a:stCxn id="145" idx="4"/>
            <a:endCxn id="149" idx="0"/>
          </p:cNvCxnSpPr>
          <p:nvPr/>
        </p:nvCxnSpPr>
        <p:spPr>
          <a:xfrm>
            <a:off x="6979176" y="3857988"/>
            <a:ext cx="0" cy="230100"/>
          </a:xfrm>
          <a:prstGeom prst="straightConnector1">
            <a:avLst/>
          </a:prstGeom>
          <a:noFill/>
          <a:ln cap="flat" cmpd="sng" w="9525">
            <a:solidFill>
              <a:schemeClr val="dk2"/>
            </a:solidFill>
            <a:prstDash val="solid"/>
            <a:round/>
            <a:headEnd len="sm" w="sm" type="none"/>
            <a:tailEnd len="med" w="med" type="triangle"/>
          </a:ln>
        </p:spPr>
      </p:cxnSp>
      <p:sp>
        <p:nvSpPr>
          <p:cNvPr id="150" name="Google Shape;150;p8"/>
          <p:cNvSpPr/>
          <p:nvPr/>
        </p:nvSpPr>
        <p:spPr>
          <a:xfrm>
            <a:off x="5289638" y="1536746"/>
            <a:ext cx="3379025" cy="62622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Prompt “Enter the speed of the car in km/h”</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49" name="Google Shape;149;p8"/>
          <p:cNvSpPr/>
          <p:nvPr/>
        </p:nvSpPr>
        <p:spPr>
          <a:xfrm>
            <a:off x="6510625" y="408817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END</a:t>
            </a:r>
            <a:endParaRPr b="0" i="0" sz="1400" u="none" cap="none" strike="noStrike">
              <a:solidFill>
                <a:srgbClr val="000000"/>
              </a:solidFill>
              <a:latin typeface="Arial"/>
              <a:ea typeface="Arial"/>
              <a:cs typeface="Arial"/>
              <a:sym typeface="Arial"/>
            </a:endParaRPr>
          </a:p>
        </p:txBody>
      </p:sp>
      <p:cxnSp>
        <p:nvCxnSpPr>
          <p:cNvPr id="151" name="Google Shape;151;p8"/>
          <p:cNvCxnSpPr>
            <a:stCxn id="143" idx="2"/>
            <a:endCxn id="150" idx="1"/>
          </p:cNvCxnSpPr>
          <p:nvPr/>
        </p:nvCxnSpPr>
        <p:spPr>
          <a:xfrm>
            <a:off x="6979146" y="1318018"/>
            <a:ext cx="0" cy="218700"/>
          </a:xfrm>
          <a:prstGeom prst="straightConnector1">
            <a:avLst/>
          </a:prstGeom>
          <a:noFill/>
          <a:ln cap="flat" cmpd="sng" w="9525">
            <a:solidFill>
              <a:schemeClr val="dk2"/>
            </a:solidFill>
            <a:prstDash val="solid"/>
            <a:round/>
            <a:headEnd len="sm" w="sm" type="none"/>
            <a:tailEnd len="med" w="med" type="triangle"/>
          </a:ln>
        </p:spPr>
      </p:cxnSp>
      <p:cxnSp>
        <p:nvCxnSpPr>
          <p:cNvPr id="152" name="Google Shape;152;p8"/>
          <p:cNvCxnSpPr>
            <a:stCxn id="150" idx="4"/>
            <a:endCxn id="146" idx="1"/>
          </p:cNvCxnSpPr>
          <p:nvPr/>
        </p:nvCxnSpPr>
        <p:spPr>
          <a:xfrm>
            <a:off x="6979151" y="2162971"/>
            <a:ext cx="0" cy="149100"/>
          </a:xfrm>
          <a:prstGeom prst="straightConnector1">
            <a:avLst/>
          </a:prstGeom>
          <a:noFill/>
          <a:ln cap="flat" cmpd="sng" w="9525">
            <a:solidFill>
              <a:schemeClr val="dk2"/>
            </a:solidFill>
            <a:prstDash val="solid"/>
            <a:round/>
            <a:headEnd len="sm" w="sm" type="none"/>
            <a:tailEnd len="med" w="med" type="triangle"/>
          </a:ln>
        </p:spPr>
      </p:cxnSp>
      <p:cxnSp>
        <p:nvCxnSpPr>
          <p:cNvPr id="153" name="Google Shape;153;p8"/>
          <p:cNvCxnSpPr>
            <a:stCxn id="146" idx="4"/>
            <a:endCxn id="144" idx="0"/>
          </p:cNvCxnSpPr>
          <p:nvPr/>
        </p:nvCxnSpPr>
        <p:spPr>
          <a:xfrm>
            <a:off x="6979163" y="2612038"/>
            <a:ext cx="0" cy="2379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9"/>
          <p:cNvSpPr txBox="1"/>
          <p:nvPr>
            <p:ph type="title"/>
          </p:nvPr>
        </p:nvSpPr>
        <p:spPr>
          <a:xfrm>
            <a:off x="311700" y="445025"/>
            <a:ext cx="4911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Scenario to Flowchart (Contd)</a:t>
            </a:r>
            <a:endParaRPr/>
          </a:p>
        </p:txBody>
      </p:sp>
      <p:sp>
        <p:nvSpPr>
          <p:cNvPr id="159" name="Google Shape;159;p9"/>
          <p:cNvSpPr txBox="1"/>
          <p:nvPr>
            <p:ph idx="1" type="body"/>
          </p:nvPr>
        </p:nvSpPr>
        <p:spPr>
          <a:xfrm>
            <a:off x="311700" y="1152475"/>
            <a:ext cx="6111900" cy="3414600"/>
          </a:xfrm>
          <a:prstGeom prst="rect">
            <a:avLst/>
          </a:prstGeom>
          <a:no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0"/>
              </a:spcAft>
              <a:buSzPts val="1800"/>
              <a:buNone/>
            </a:pPr>
            <a:r>
              <a:rPr b="1" lang="en" sz="2400">
                <a:solidFill>
                  <a:schemeClr val="dk1"/>
                </a:solidFill>
              </a:rPr>
              <a:t>CLASSWORK #3</a:t>
            </a:r>
            <a:endParaRPr b="1" sz="2400">
              <a:solidFill>
                <a:schemeClr val="dk1"/>
              </a:solidFill>
            </a:endParaRPr>
          </a:p>
          <a:p>
            <a:pPr indent="0" lvl="0" marL="0" rtl="0" algn="just">
              <a:lnSpc>
                <a:spcPct val="115000"/>
              </a:lnSpc>
              <a:spcBef>
                <a:spcPts val="1200"/>
              </a:spcBef>
              <a:spcAft>
                <a:spcPts val="1200"/>
              </a:spcAft>
              <a:buSzPts val="1800"/>
              <a:buNone/>
            </a:pPr>
            <a:r>
              <a:rPr b="1" lang="en">
                <a:solidFill>
                  <a:schemeClr val="dk1"/>
                </a:solidFill>
              </a:rPr>
              <a:t>Scenario: </a:t>
            </a:r>
            <a:r>
              <a:rPr lang="en">
                <a:solidFill>
                  <a:schemeClr val="dk1"/>
                </a:solidFill>
              </a:rPr>
              <a:t>Imagine a rectangle inside of which two circles with radius of R can fit perfectly. Each circle is touching three different sides of the rectangle. Given the value of radius as input, you must calculate and show the area inside the rectangle which is unoccupied by the circles. Represent this program using a flowchart.</a:t>
            </a:r>
            <a:endParaRPr>
              <a:solidFill>
                <a:schemeClr val="dk1"/>
              </a:solidFill>
            </a:endParaRPr>
          </a:p>
        </p:txBody>
      </p:sp>
      <p:sp>
        <p:nvSpPr>
          <p:cNvPr id="160" name="Google Shape;160;p9"/>
          <p:cNvSpPr/>
          <p:nvPr/>
        </p:nvSpPr>
        <p:spPr>
          <a:xfrm>
            <a:off x="7194700" y="1298650"/>
            <a:ext cx="1371600" cy="27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9"/>
          <p:cNvSpPr/>
          <p:nvPr/>
        </p:nvSpPr>
        <p:spPr>
          <a:xfrm>
            <a:off x="7194700" y="1298650"/>
            <a:ext cx="1371600" cy="1371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9"/>
          <p:cNvSpPr/>
          <p:nvPr/>
        </p:nvSpPr>
        <p:spPr>
          <a:xfrm>
            <a:off x="7194700" y="2670250"/>
            <a:ext cx="1371600" cy="1371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9"/>
          <p:cNvSpPr txBox="1"/>
          <p:nvPr/>
        </p:nvSpPr>
        <p:spPr>
          <a:xfrm>
            <a:off x="7083550" y="713925"/>
            <a:ext cx="15939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Visualization</a:t>
            </a:r>
            <a:endParaRPr b="1"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Scenario to Flowchart (Contd)</a:t>
            </a:r>
            <a:endParaRPr/>
          </a:p>
        </p:txBody>
      </p:sp>
      <p:sp>
        <p:nvSpPr>
          <p:cNvPr id="169" name="Google Shape;169;p10"/>
          <p:cNvSpPr txBox="1"/>
          <p:nvPr>
            <p:ph idx="1" type="body"/>
          </p:nvPr>
        </p:nvSpPr>
        <p:spPr>
          <a:xfrm>
            <a:off x="311700" y="1152475"/>
            <a:ext cx="83901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600">
                <a:solidFill>
                  <a:schemeClr val="dk1"/>
                </a:solidFill>
              </a:rPr>
              <a:t>What we saw in the previous slides was an example of sequential program flow. However, most of the cases program flow are non-sequential. In those scenarios, we use a </a:t>
            </a:r>
            <a:r>
              <a:rPr b="1" lang="en" sz="1600">
                <a:solidFill>
                  <a:schemeClr val="dk1"/>
                </a:solidFill>
              </a:rPr>
              <a:t>Diamond shape</a:t>
            </a:r>
            <a:r>
              <a:rPr lang="en" sz="1600">
                <a:solidFill>
                  <a:schemeClr val="dk1"/>
                </a:solidFill>
              </a:rPr>
              <a:t> to decide where the program flow will continue.</a:t>
            </a:r>
            <a:endParaRPr sz="1600">
              <a:solidFill>
                <a:schemeClr val="dk1"/>
              </a:solidFill>
            </a:endParaRPr>
          </a:p>
          <a:p>
            <a:pPr indent="0" lvl="0" marL="0" rtl="0" algn="l">
              <a:lnSpc>
                <a:spcPct val="115000"/>
              </a:lnSpc>
              <a:spcBef>
                <a:spcPts val="1200"/>
              </a:spcBef>
              <a:spcAft>
                <a:spcPts val="0"/>
              </a:spcAft>
              <a:buSzPts val="1800"/>
              <a:buNone/>
            </a:pPr>
            <a:r>
              <a:t/>
            </a:r>
            <a:endParaRPr>
              <a:solidFill>
                <a:schemeClr val="dk1"/>
              </a:solidFill>
            </a:endParaRPr>
          </a:p>
          <a:p>
            <a:pPr indent="0" lvl="0" marL="0" rtl="0" algn="l">
              <a:lnSpc>
                <a:spcPct val="115000"/>
              </a:lnSpc>
              <a:spcBef>
                <a:spcPts val="1200"/>
              </a:spcBef>
              <a:spcAft>
                <a:spcPts val="1200"/>
              </a:spcAft>
              <a:buSzPts val="1800"/>
              <a:buNone/>
            </a:pPr>
            <a:r>
              <a:t/>
            </a:r>
            <a:endParaRPr>
              <a:solidFill>
                <a:schemeClr val="dk1"/>
              </a:solidFill>
            </a:endParaRPr>
          </a:p>
        </p:txBody>
      </p:sp>
      <p:graphicFrame>
        <p:nvGraphicFramePr>
          <p:cNvPr id="170" name="Google Shape;170;p10"/>
          <p:cNvGraphicFramePr/>
          <p:nvPr/>
        </p:nvGraphicFramePr>
        <p:xfrm>
          <a:off x="799100" y="2571750"/>
          <a:ext cx="3000000" cy="3000000"/>
        </p:xfrm>
        <a:graphic>
          <a:graphicData uri="http://schemas.openxmlformats.org/drawingml/2006/table">
            <a:tbl>
              <a:tblPr>
                <a:noFill/>
                <a:tableStyleId>{210BD75C-8F2D-45FC-B6EA-0D603003ECAE}</a:tableStyleId>
              </a:tblPr>
              <a:tblGrid>
                <a:gridCol w="1360600"/>
                <a:gridCol w="1581125"/>
                <a:gridCol w="4473575"/>
              </a:tblGrid>
              <a:tr h="27405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Shape</a:t>
                      </a:r>
                      <a:endParaRPr b="1"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dk1"/>
                          </a:solidFill>
                        </a:rPr>
                        <a:t>Name</a:t>
                      </a:r>
                      <a:endParaRPr b="1" sz="1400" u="none" cap="none" strike="noStrike"/>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solidFill>
                            <a:schemeClr val="dk1"/>
                          </a:solidFill>
                        </a:rPr>
                        <a:t>Description</a:t>
                      </a:r>
                      <a:endParaRPr b="1" sz="1400" u="none" cap="none" strike="noStrike"/>
                    </a:p>
                  </a:txBody>
                  <a:tcPr marT="91425" marB="91425" marR="91425" marL="91425" anchor="ctr"/>
                </a:tc>
              </a:tr>
              <a:tr h="802800">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Rhombus</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lang="en" sz="1400" u="none" cap="none" strike="noStrike"/>
                        <a:t>or</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lang="en" sz="1400" u="none" cap="none" strike="noStrike"/>
                        <a:t>Diamond</a:t>
                      </a:r>
                      <a:endParaRPr sz="1400" u="none" cap="none" strike="noStrike"/>
                    </a:p>
                  </a:txBody>
                  <a:tcPr marT="91425" marB="91425" marR="91425" marL="91425" anchor="ctr"/>
                </a:tc>
                <a:tc>
                  <a:txBody>
                    <a:bodyPr/>
                    <a:lstStyle/>
                    <a:p>
                      <a:pPr indent="0" lvl="0" marL="0" marR="0" rtl="0" algn="just">
                        <a:lnSpc>
                          <a:spcPct val="100000"/>
                        </a:lnSpc>
                        <a:spcBef>
                          <a:spcPts val="0"/>
                        </a:spcBef>
                        <a:spcAft>
                          <a:spcPts val="0"/>
                        </a:spcAft>
                        <a:buClr>
                          <a:srgbClr val="000000"/>
                        </a:buClr>
                        <a:buSzPts val="1400"/>
                        <a:buFont typeface="Arial"/>
                        <a:buNone/>
                      </a:pPr>
                      <a:r>
                        <a:rPr lang="en" sz="1400" u="none" cap="none" strike="noStrike"/>
                        <a:t>Denotes a </a:t>
                      </a:r>
                      <a:r>
                        <a:rPr b="1" lang="en" sz="1400" u="none" cap="none" strike="noStrike"/>
                        <a:t>Decision</a:t>
                      </a:r>
                      <a:r>
                        <a:rPr lang="en" sz="1400" u="none" cap="none" strike="noStrike"/>
                        <a:t>, based on which it is determined that which way the program flow will continue. </a:t>
                      </a:r>
                      <a:endParaRPr sz="1400" u="none" cap="none" strike="noStrike"/>
                    </a:p>
                    <a:p>
                      <a:pPr indent="0" lvl="0" marL="0" marR="0" rtl="0" algn="just">
                        <a:lnSpc>
                          <a:spcPct val="100000"/>
                        </a:lnSpc>
                        <a:spcBef>
                          <a:spcPts val="0"/>
                        </a:spcBef>
                        <a:spcAft>
                          <a:spcPts val="0"/>
                        </a:spcAft>
                        <a:buClr>
                          <a:srgbClr val="000000"/>
                        </a:buClr>
                        <a:buSzPts val="1400"/>
                        <a:buFont typeface="Arial"/>
                        <a:buNone/>
                      </a:pPr>
                      <a:r>
                        <a:rPr lang="en" sz="1400" u="none" cap="none" strike="noStrike"/>
                        <a:t>Even though only one arrow flows into this shape but two arrows comes out of it.</a:t>
                      </a:r>
                      <a:endParaRPr sz="1400" u="none" cap="none" strike="noStrike"/>
                    </a:p>
                  </a:txBody>
                  <a:tcPr marT="91425" marB="91425" marR="91425" marL="91425" anchor="ctr"/>
                </a:tc>
              </a:tr>
            </a:tbl>
          </a:graphicData>
        </a:graphic>
      </p:graphicFrame>
      <p:sp>
        <p:nvSpPr>
          <p:cNvPr id="171" name="Google Shape;171;p10"/>
          <p:cNvSpPr/>
          <p:nvPr/>
        </p:nvSpPr>
        <p:spPr>
          <a:xfrm>
            <a:off x="1132350" y="3248225"/>
            <a:ext cx="657150" cy="45587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1"/>
          <p:cNvSpPr txBox="1"/>
          <p:nvPr>
            <p:ph type="title"/>
          </p:nvPr>
        </p:nvSpPr>
        <p:spPr>
          <a:xfrm>
            <a:off x="311700" y="471300"/>
            <a:ext cx="49290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Scenario to Flowchart (Contd)</a:t>
            </a:r>
            <a:endParaRPr/>
          </a:p>
        </p:txBody>
      </p:sp>
      <p:sp>
        <p:nvSpPr>
          <p:cNvPr id="177" name="Google Shape;177;p11"/>
          <p:cNvSpPr txBox="1"/>
          <p:nvPr>
            <p:ph idx="1" type="body"/>
          </p:nvPr>
        </p:nvSpPr>
        <p:spPr>
          <a:xfrm>
            <a:off x="311700" y="1152475"/>
            <a:ext cx="4079100" cy="2503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solidFill>
                  <a:schemeClr val="dk1"/>
                </a:solidFill>
              </a:rPr>
              <a:t>Let’s check out an example of non sequential program flow.</a:t>
            </a:r>
            <a:endParaRPr>
              <a:solidFill>
                <a:schemeClr val="dk1"/>
              </a:solidFill>
            </a:endParaRPr>
          </a:p>
          <a:p>
            <a:pPr indent="0" lvl="0" marL="0" rtl="0" algn="just">
              <a:lnSpc>
                <a:spcPct val="115000"/>
              </a:lnSpc>
              <a:spcBef>
                <a:spcPts val="1200"/>
              </a:spcBef>
              <a:spcAft>
                <a:spcPts val="1200"/>
              </a:spcAft>
              <a:buClr>
                <a:schemeClr val="dk1"/>
              </a:buClr>
              <a:buSzPts val="1100"/>
              <a:buFont typeface="Arial"/>
              <a:buNone/>
            </a:pPr>
            <a:r>
              <a:rPr b="1" lang="en">
                <a:solidFill>
                  <a:schemeClr val="dk1"/>
                </a:solidFill>
              </a:rPr>
              <a:t>Scenario: </a:t>
            </a:r>
            <a:r>
              <a:rPr lang="en" sz="1700">
                <a:solidFill>
                  <a:schemeClr val="dk1"/>
                </a:solidFill>
              </a:rPr>
              <a:t>Think of a program that takes two numbers from user and shows the largest number in the output. Represent this program using a flowchart.</a:t>
            </a:r>
            <a:endParaRPr>
              <a:solidFill>
                <a:schemeClr val="dk1"/>
              </a:solidFill>
            </a:endParaRPr>
          </a:p>
        </p:txBody>
      </p:sp>
      <p:sp>
        <p:nvSpPr>
          <p:cNvPr id="178" name="Google Shape;178;p11"/>
          <p:cNvSpPr/>
          <p:nvPr/>
        </p:nvSpPr>
        <p:spPr>
          <a:xfrm>
            <a:off x="6336461" y="418774"/>
            <a:ext cx="1145178" cy="338958"/>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START</a:t>
            </a:r>
            <a:endParaRPr b="0" i="0" sz="1400" u="none" cap="none" strike="noStrike">
              <a:solidFill>
                <a:srgbClr val="000000"/>
              </a:solidFill>
              <a:latin typeface="Arial"/>
              <a:ea typeface="Arial"/>
              <a:cs typeface="Arial"/>
              <a:sym typeface="Arial"/>
            </a:endParaRPr>
          </a:p>
        </p:txBody>
      </p:sp>
      <p:sp>
        <p:nvSpPr>
          <p:cNvPr id="179" name="Google Shape;179;p11"/>
          <p:cNvSpPr/>
          <p:nvPr/>
        </p:nvSpPr>
        <p:spPr>
          <a:xfrm>
            <a:off x="5082883" y="3138783"/>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Print A</a:t>
            </a:r>
            <a:endParaRPr b="0" i="0" sz="1400" u="none" cap="none" strike="noStrike">
              <a:solidFill>
                <a:srgbClr val="000000"/>
              </a:solidFill>
              <a:latin typeface="Arial"/>
              <a:ea typeface="Arial"/>
              <a:cs typeface="Arial"/>
              <a:sym typeface="Arial"/>
            </a:endParaRPr>
          </a:p>
        </p:txBody>
      </p:sp>
      <p:sp>
        <p:nvSpPr>
          <p:cNvPr id="180" name="Google Shape;180;p11"/>
          <p:cNvSpPr/>
          <p:nvPr/>
        </p:nvSpPr>
        <p:spPr>
          <a:xfrm>
            <a:off x="6336449" y="4385774"/>
            <a:ext cx="1145178" cy="338958"/>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END</a:t>
            </a:r>
            <a:endParaRPr b="0" i="0" sz="1400" u="none" cap="none" strike="noStrike">
              <a:solidFill>
                <a:srgbClr val="000000"/>
              </a:solidFill>
              <a:latin typeface="Arial"/>
              <a:ea typeface="Arial"/>
              <a:cs typeface="Arial"/>
              <a:sym typeface="Arial"/>
            </a:endParaRPr>
          </a:p>
        </p:txBody>
      </p:sp>
      <p:sp>
        <p:nvSpPr>
          <p:cNvPr id="181" name="Google Shape;181;p11"/>
          <p:cNvSpPr/>
          <p:nvPr/>
        </p:nvSpPr>
        <p:spPr>
          <a:xfrm>
            <a:off x="6078383" y="1506860"/>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t>Input</a:t>
            </a:r>
            <a:r>
              <a:rPr b="0" i="0" lang="en" sz="1400" u="none" cap="none" strike="noStrike">
                <a:solidFill>
                  <a:srgbClr val="000000"/>
                </a:solidFill>
                <a:latin typeface="Arial"/>
                <a:ea typeface="Arial"/>
                <a:cs typeface="Arial"/>
                <a:sym typeface="Arial"/>
              </a:rPr>
              <a:t> B</a:t>
            </a:r>
            <a:endParaRPr b="0" i="0" sz="1400" u="none" cap="none" strike="noStrike">
              <a:solidFill>
                <a:srgbClr val="000000"/>
              </a:solidFill>
              <a:latin typeface="Arial"/>
              <a:ea typeface="Arial"/>
              <a:cs typeface="Arial"/>
              <a:sym typeface="Arial"/>
            </a:endParaRPr>
          </a:p>
        </p:txBody>
      </p:sp>
      <p:sp>
        <p:nvSpPr>
          <p:cNvPr id="182" name="Google Shape;182;p11"/>
          <p:cNvSpPr/>
          <p:nvPr/>
        </p:nvSpPr>
        <p:spPr>
          <a:xfrm>
            <a:off x="6078375" y="957177"/>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t>Input</a:t>
            </a:r>
            <a:r>
              <a:rPr b="0" i="0" lang="en" sz="1400" u="none" cap="none" strike="noStrike">
                <a:solidFill>
                  <a:srgbClr val="000000"/>
                </a:solidFill>
                <a:latin typeface="Arial"/>
                <a:ea typeface="Arial"/>
                <a:cs typeface="Arial"/>
                <a:sym typeface="Arial"/>
              </a:rPr>
              <a:t> A</a:t>
            </a:r>
            <a:endParaRPr b="0" i="0" sz="1400" u="none" cap="none" strike="noStrike">
              <a:solidFill>
                <a:srgbClr val="000000"/>
              </a:solidFill>
              <a:latin typeface="Arial"/>
              <a:ea typeface="Arial"/>
              <a:cs typeface="Arial"/>
              <a:sym typeface="Arial"/>
            </a:endParaRPr>
          </a:p>
        </p:txBody>
      </p:sp>
      <p:cxnSp>
        <p:nvCxnSpPr>
          <p:cNvPr id="183" name="Google Shape;183;p11"/>
          <p:cNvCxnSpPr>
            <a:stCxn id="178" idx="2"/>
            <a:endCxn id="182" idx="1"/>
          </p:cNvCxnSpPr>
          <p:nvPr/>
        </p:nvCxnSpPr>
        <p:spPr>
          <a:xfrm>
            <a:off x="6909050" y="757732"/>
            <a:ext cx="0" cy="199500"/>
          </a:xfrm>
          <a:prstGeom prst="straightConnector1">
            <a:avLst/>
          </a:prstGeom>
          <a:noFill/>
          <a:ln cap="flat" cmpd="sng" w="9525">
            <a:solidFill>
              <a:schemeClr val="dk2"/>
            </a:solidFill>
            <a:prstDash val="solid"/>
            <a:round/>
            <a:headEnd len="sm" w="sm" type="none"/>
            <a:tailEnd len="med" w="med" type="triangle"/>
          </a:ln>
        </p:spPr>
      </p:cxnSp>
      <p:cxnSp>
        <p:nvCxnSpPr>
          <p:cNvPr id="184" name="Google Shape;184;p11"/>
          <p:cNvCxnSpPr>
            <a:stCxn id="182" idx="4"/>
            <a:endCxn id="181" idx="1"/>
          </p:cNvCxnSpPr>
          <p:nvPr/>
        </p:nvCxnSpPr>
        <p:spPr>
          <a:xfrm>
            <a:off x="6909059" y="1345623"/>
            <a:ext cx="0" cy="161100"/>
          </a:xfrm>
          <a:prstGeom prst="straightConnector1">
            <a:avLst/>
          </a:prstGeom>
          <a:noFill/>
          <a:ln cap="flat" cmpd="sng" w="9525">
            <a:solidFill>
              <a:schemeClr val="dk2"/>
            </a:solidFill>
            <a:prstDash val="solid"/>
            <a:round/>
            <a:headEnd len="sm" w="sm" type="none"/>
            <a:tailEnd len="med" w="med" type="triangle"/>
          </a:ln>
        </p:spPr>
      </p:cxnSp>
      <p:sp>
        <p:nvSpPr>
          <p:cNvPr id="185" name="Google Shape;185;p11"/>
          <p:cNvSpPr/>
          <p:nvPr/>
        </p:nvSpPr>
        <p:spPr>
          <a:xfrm>
            <a:off x="5966600" y="2230688"/>
            <a:ext cx="1890950" cy="75762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50"/>
              <a:buFont typeface="Arial"/>
              <a:buNone/>
            </a:pPr>
            <a:r>
              <a:rPr b="0" i="0" lang="en" sz="1250" u="none" cap="none" strike="noStrike">
                <a:solidFill>
                  <a:srgbClr val="000000"/>
                </a:solidFill>
                <a:latin typeface="Arial"/>
                <a:ea typeface="Arial"/>
                <a:cs typeface="Arial"/>
                <a:sym typeface="Arial"/>
              </a:rPr>
              <a:t>is A &gt; B ?</a:t>
            </a:r>
            <a:endParaRPr b="0" i="0" sz="1250" u="none" cap="none" strike="noStrike">
              <a:solidFill>
                <a:srgbClr val="000000"/>
              </a:solidFill>
              <a:latin typeface="Arial"/>
              <a:ea typeface="Arial"/>
              <a:cs typeface="Arial"/>
              <a:sym typeface="Arial"/>
            </a:endParaRPr>
          </a:p>
        </p:txBody>
      </p:sp>
      <p:sp>
        <p:nvSpPr>
          <p:cNvPr id="186" name="Google Shape;186;p11"/>
          <p:cNvSpPr/>
          <p:nvPr/>
        </p:nvSpPr>
        <p:spPr>
          <a:xfrm>
            <a:off x="6979146" y="3138770"/>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Print B</a:t>
            </a:r>
            <a:endParaRPr b="0" i="0" sz="1400" u="none" cap="none" strike="noStrike">
              <a:solidFill>
                <a:srgbClr val="000000"/>
              </a:solidFill>
              <a:latin typeface="Arial"/>
              <a:ea typeface="Arial"/>
              <a:cs typeface="Arial"/>
              <a:sym typeface="Arial"/>
            </a:endParaRPr>
          </a:p>
        </p:txBody>
      </p:sp>
      <p:sp>
        <p:nvSpPr>
          <p:cNvPr id="187" name="Google Shape;187;p11"/>
          <p:cNvSpPr/>
          <p:nvPr/>
        </p:nvSpPr>
        <p:spPr>
          <a:xfrm>
            <a:off x="6698763" y="3784388"/>
            <a:ext cx="420600" cy="4206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8" name="Google Shape;188;p11"/>
          <p:cNvCxnSpPr>
            <a:stCxn id="185" idx="1"/>
            <a:endCxn id="179" idx="1"/>
          </p:cNvCxnSpPr>
          <p:nvPr/>
        </p:nvCxnSpPr>
        <p:spPr>
          <a:xfrm flipH="1">
            <a:off x="5913500" y="2609501"/>
            <a:ext cx="53100" cy="529200"/>
          </a:xfrm>
          <a:prstGeom prst="bentConnector2">
            <a:avLst/>
          </a:prstGeom>
          <a:noFill/>
          <a:ln cap="flat" cmpd="sng" w="9525">
            <a:solidFill>
              <a:schemeClr val="dk2"/>
            </a:solidFill>
            <a:prstDash val="solid"/>
            <a:round/>
            <a:headEnd len="sm" w="sm" type="none"/>
            <a:tailEnd len="med" w="med" type="triangle"/>
          </a:ln>
        </p:spPr>
      </p:cxnSp>
      <p:cxnSp>
        <p:nvCxnSpPr>
          <p:cNvPr id="189" name="Google Shape;189;p11"/>
          <p:cNvCxnSpPr>
            <a:stCxn id="185" idx="3"/>
            <a:endCxn id="186" idx="0"/>
          </p:cNvCxnSpPr>
          <p:nvPr/>
        </p:nvCxnSpPr>
        <p:spPr>
          <a:xfrm>
            <a:off x="7857550" y="2609501"/>
            <a:ext cx="118500" cy="529200"/>
          </a:xfrm>
          <a:prstGeom prst="bentConnector2">
            <a:avLst/>
          </a:prstGeom>
          <a:noFill/>
          <a:ln cap="flat" cmpd="sng" w="9525">
            <a:solidFill>
              <a:schemeClr val="dk2"/>
            </a:solidFill>
            <a:prstDash val="solid"/>
            <a:round/>
            <a:headEnd len="sm" w="sm" type="none"/>
            <a:tailEnd len="med" w="med" type="triangle"/>
          </a:ln>
        </p:spPr>
      </p:cxnSp>
      <p:cxnSp>
        <p:nvCxnSpPr>
          <p:cNvPr id="190" name="Google Shape;190;p11"/>
          <p:cNvCxnSpPr>
            <a:stCxn id="181" idx="4"/>
            <a:endCxn id="185" idx="0"/>
          </p:cNvCxnSpPr>
          <p:nvPr/>
        </p:nvCxnSpPr>
        <p:spPr>
          <a:xfrm>
            <a:off x="6909066" y="1895306"/>
            <a:ext cx="3000" cy="335400"/>
          </a:xfrm>
          <a:prstGeom prst="straightConnector1">
            <a:avLst/>
          </a:prstGeom>
          <a:noFill/>
          <a:ln cap="flat" cmpd="sng" w="9525">
            <a:solidFill>
              <a:schemeClr val="dk2"/>
            </a:solidFill>
            <a:prstDash val="solid"/>
            <a:round/>
            <a:headEnd len="sm" w="sm" type="none"/>
            <a:tailEnd len="med" w="med" type="triangle"/>
          </a:ln>
        </p:spPr>
      </p:cxnSp>
      <p:cxnSp>
        <p:nvCxnSpPr>
          <p:cNvPr id="191" name="Google Shape;191;p11"/>
          <p:cNvCxnSpPr>
            <a:stCxn id="179" idx="4"/>
            <a:endCxn id="187" idx="2"/>
          </p:cNvCxnSpPr>
          <p:nvPr/>
        </p:nvCxnSpPr>
        <p:spPr>
          <a:xfrm flipH="1" rot="-5400000">
            <a:off x="6072417" y="3368379"/>
            <a:ext cx="467400" cy="785100"/>
          </a:xfrm>
          <a:prstGeom prst="bentConnector2">
            <a:avLst/>
          </a:prstGeom>
          <a:noFill/>
          <a:ln cap="flat" cmpd="sng" w="9525">
            <a:solidFill>
              <a:schemeClr val="dk2"/>
            </a:solidFill>
            <a:prstDash val="solid"/>
            <a:round/>
            <a:headEnd len="sm" w="sm" type="none"/>
            <a:tailEnd len="med" w="med" type="triangle"/>
          </a:ln>
        </p:spPr>
      </p:cxnSp>
      <p:cxnSp>
        <p:nvCxnSpPr>
          <p:cNvPr id="192" name="Google Shape;192;p11"/>
          <p:cNvCxnSpPr>
            <a:stCxn id="186" idx="4"/>
            <a:endCxn id="187" idx="6"/>
          </p:cNvCxnSpPr>
          <p:nvPr/>
        </p:nvCxnSpPr>
        <p:spPr>
          <a:xfrm rot="5400000">
            <a:off x="7230830" y="3415616"/>
            <a:ext cx="467400" cy="690600"/>
          </a:xfrm>
          <a:prstGeom prst="bentConnector2">
            <a:avLst/>
          </a:prstGeom>
          <a:noFill/>
          <a:ln cap="flat" cmpd="sng" w="9525">
            <a:solidFill>
              <a:schemeClr val="dk2"/>
            </a:solidFill>
            <a:prstDash val="solid"/>
            <a:round/>
            <a:headEnd len="sm" w="sm" type="none"/>
            <a:tailEnd len="med" w="med" type="triangle"/>
          </a:ln>
        </p:spPr>
      </p:cxnSp>
      <p:sp>
        <p:nvSpPr>
          <p:cNvPr id="193" name="Google Shape;193;p11"/>
          <p:cNvSpPr txBox="1"/>
          <p:nvPr/>
        </p:nvSpPr>
        <p:spPr>
          <a:xfrm>
            <a:off x="5336175" y="2280025"/>
            <a:ext cx="742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194" name="Google Shape;194;p11"/>
          <p:cNvSpPr txBox="1"/>
          <p:nvPr/>
        </p:nvSpPr>
        <p:spPr>
          <a:xfrm>
            <a:off x="7810750" y="2280025"/>
            <a:ext cx="50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cxnSp>
        <p:nvCxnSpPr>
          <p:cNvPr id="195" name="Google Shape;195;p11"/>
          <p:cNvCxnSpPr>
            <a:stCxn id="187" idx="4"/>
            <a:endCxn id="180" idx="0"/>
          </p:cNvCxnSpPr>
          <p:nvPr/>
        </p:nvCxnSpPr>
        <p:spPr>
          <a:xfrm>
            <a:off x="6909063" y="4204988"/>
            <a:ext cx="0" cy="180900"/>
          </a:xfrm>
          <a:prstGeom prst="straightConnector1">
            <a:avLst/>
          </a:prstGeom>
          <a:noFill/>
          <a:ln cap="flat" cmpd="sng" w="9525">
            <a:solidFill>
              <a:schemeClr val="dk2"/>
            </a:solidFill>
            <a:prstDash val="solid"/>
            <a:round/>
            <a:headEnd len="sm" w="sm" type="none"/>
            <a:tailEnd len="med" w="med" type="triangle"/>
          </a:ln>
        </p:spPr>
      </p:cxnSp>
      <p:sp>
        <p:nvSpPr>
          <p:cNvPr id="196" name="Google Shape;196;p11"/>
          <p:cNvSpPr txBox="1"/>
          <p:nvPr/>
        </p:nvSpPr>
        <p:spPr>
          <a:xfrm>
            <a:off x="311700" y="3994625"/>
            <a:ext cx="3553200" cy="769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 sz="1900" u="none" cap="none" strike="noStrike">
                <a:solidFill>
                  <a:srgbClr val="000000"/>
                </a:solidFill>
                <a:latin typeface="Arial"/>
                <a:ea typeface="Arial"/>
                <a:cs typeface="Arial"/>
                <a:sym typeface="Arial"/>
              </a:rPr>
              <a:t>Note: More detail on this in Chapter 7.</a:t>
            </a:r>
            <a:endParaRPr b="1" i="0" sz="1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2"/>
          <p:cNvSpPr txBox="1"/>
          <p:nvPr/>
        </p:nvSpPr>
        <p:spPr>
          <a:xfrm>
            <a:off x="311700" y="2170600"/>
            <a:ext cx="85206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20"/>
              <a:buFont typeface="Arial"/>
              <a:buNone/>
            </a:pPr>
            <a:r>
              <a:rPr b="1" i="0" lang="en" sz="3620" u="none" cap="none" strike="noStrike">
                <a:solidFill>
                  <a:srgbClr val="000000"/>
                </a:solidFill>
                <a:latin typeface="Arial"/>
                <a:ea typeface="Arial"/>
                <a:cs typeface="Arial"/>
                <a:sym typeface="Arial"/>
              </a:rPr>
              <a:t>THANK YOU!</a:t>
            </a:r>
            <a:endParaRPr b="1" i="0" sz="362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