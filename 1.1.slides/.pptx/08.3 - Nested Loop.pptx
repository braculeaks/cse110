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9ae846a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9ae846a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9ae846ad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9ae846ad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ba29696ac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ba29696ac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9ae846ad2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59ae846ad2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ba29696ac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ba29696ac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ba29696ac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ba29696ac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ba29696ac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ba29696ac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ba29696ac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ba29696ac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ba29696ac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ba29696ac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ba29696acd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ba29696ac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ba29696acd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ba29696acd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ba29696acd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ba29696acd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ba29696acd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ba29696acd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ba29696acd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ba29696acd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ba29696ac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ba29696ac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ba29696ac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ba29696ac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ba29696acd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ba29696acd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ba29696acd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ba29696acd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ba29696acd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ba29696acd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ba29696acd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ba29696acd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ba29696acd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ba29696acd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ba29696acd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ba29696acd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ba29696acd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ba29696acd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ba29696acd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ba29696acd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ba29696acd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ba29696acd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ba29696acd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ba29696acd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ba29696acd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ba29696acd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ba29696acd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ba29696acd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ba29696acd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ba29696acd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ba29696acd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ba29696acd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ba29696acd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ba29696acd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ba29696acd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ba29696acd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ba29696acd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ba29696acd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59ae846ad2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59ae846ad2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849850"/>
            <a:ext cx="8520600" cy="94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Nested </a:t>
            </a:r>
            <a:r>
              <a:rPr lang="en"/>
              <a:t>Loops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304825"/>
            <a:ext cx="218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</a:t>
            </a:r>
            <a:r>
              <a:rPr b="1" lang="en"/>
              <a:t> loop</a:t>
            </a:r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294550" y="3309200"/>
            <a:ext cx="7824900" cy="13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2261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700">
                <a:solidFill>
                  <a:srgbClr val="0000FF"/>
                </a:solidFill>
              </a:rPr>
              <a:t>for</a:t>
            </a:r>
            <a:r>
              <a:rPr lang="en" sz="1700">
                <a:solidFill>
                  <a:schemeClr val="dk1"/>
                </a:solidFill>
              </a:rPr>
              <a:t> ( </a:t>
            </a:r>
            <a:r>
              <a:rPr lang="en" sz="1500">
                <a:solidFill>
                  <a:schemeClr val="accent2"/>
                </a:solidFill>
                <a:highlight>
                  <a:schemeClr val="accent6"/>
                </a:highlight>
              </a:rPr>
              <a:t>INITIALIZATION_1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b="1" lang="en" sz="1700">
                <a:solidFill>
                  <a:schemeClr val="dk1"/>
                </a:solidFill>
              </a:rPr>
              <a:t>;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CONDITION_1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b="1" lang="en" sz="1700">
                <a:solidFill>
                  <a:schemeClr val="dk1"/>
                </a:solidFill>
              </a:rPr>
              <a:t>;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STEPS_1</a:t>
            </a:r>
            <a:r>
              <a:rPr lang="en" sz="1700">
                <a:solidFill>
                  <a:schemeClr val="dk1"/>
                </a:solidFill>
              </a:rPr>
              <a:t> ) {</a:t>
            </a:r>
            <a:endParaRPr sz="1700">
              <a:solidFill>
                <a:schemeClr val="dk1"/>
              </a:solidFill>
            </a:endParaRPr>
          </a:p>
          <a:p>
            <a:pPr indent="-312261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700">
                <a:solidFill>
                  <a:srgbClr val="0000FF"/>
                </a:solidFill>
              </a:rPr>
              <a:t>	</a:t>
            </a:r>
            <a:r>
              <a:rPr b="1" lang="en" sz="1700">
                <a:solidFill>
                  <a:srgbClr val="0000FF"/>
                </a:solidFill>
              </a:rPr>
              <a:t>for</a:t>
            </a:r>
            <a:r>
              <a:rPr lang="en" sz="1700">
                <a:solidFill>
                  <a:schemeClr val="dk1"/>
                </a:solidFill>
              </a:rPr>
              <a:t> ( </a:t>
            </a:r>
            <a:r>
              <a:rPr lang="en" sz="1500">
                <a:solidFill>
                  <a:schemeClr val="accent2"/>
                </a:solidFill>
                <a:highlight>
                  <a:schemeClr val="accent6"/>
                </a:highlight>
              </a:rPr>
              <a:t>INITIALIZATION_2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b="1" lang="en" sz="1700">
                <a:solidFill>
                  <a:schemeClr val="dk1"/>
                </a:solidFill>
              </a:rPr>
              <a:t>;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CONDITION_2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b="1" lang="en" sz="1700">
                <a:solidFill>
                  <a:schemeClr val="dk1"/>
                </a:solidFill>
              </a:rPr>
              <a:t>;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STEPS_2</a:t>
            </a:r>
            <a:r>
              <a:rPr lang="en" sz="1700">
                <a:solidFill>
                  <a:schemeClr val="dk1"/>
                </a:solidFill>
              </a:rPr>
              <a:t> ) {</a:t>
            </a:r>
            <a:endParaRPr sz="1700">
              <a:solidFill>
                <a:schemeClr val="dk1"/>
              </a:solidFill>
            </a:endParaRPr>
          </a:p>
          <a:p>
            <a:pPr indent="-312261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700">
                <a:solidFill>
                  <a:srgbClr val="0000FF"/>
                </a:solidFill>
              </a:rPr>
              <a:t>		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BODY OF THE LOOP</a:t>
            </a:r>
            <a:endParaRPr sz="1700">
              <a:solidFill>
                <a:schemeClr val="dk1"/>
              </a:solidFill>
            </a:endParaRPr>
          </a:p>
          <a:p>
            <a:pPr indent="-312261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700">
                <a:solidFill>
                  <a:srgbClr val="0000FF"/>
                </a:solidFill>
              </a:rPr>
              <a:t>	</a:t>
            </a:r>
            <a:r>
              <a:rPr lang="en" sz="1700">
                <a:solidFill>
                  <a:schemeClr val="dk1"/>
                </a:solidFill>
              </a:rPr>
              <a:t>}</a:t>
            </a:r>
            <a:endParaRPr sz="1700">
              <a:solidFill>
                <a:schemeClr val="dk1"/>
              </a:solidFill>
            </a:endParaRPr>
          </a:p>
          <a:p>
            <a:pPr indent="-312261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}</a:t>
            </a:r>
            <a:endParaRPr sz="2100"/>
          </a:p>
        </p:txBody>
      </p:sp>
      <p:sp>
        <p:nvSpPr>
          <p:cNvPr id="61" name="Google Shape;61;p14"/>
          <p:cNvSpPr txBox="1"/>
          <p:nvPr/>
        </p:nvSpPr>
        <p:spPr>
          <a:xfrm>
            <a:off x="334500" y="2928175"/>
            <a:ext cx="32793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Structure of </a:t>
            </a:r>
            <a:r>
              <a:rPr b="1" lang="en" sz="1800"/>
              <a:t>nested</a:t>
            </a:r>
            <a:r>
              <a:rPr lang="en" sz="1800"/>
              <a:t> </a:t>
            </a:r>
            <a:r>
              <a:rPr b="1" lang="en" sz="1800"/>
              <a:t>for loop</a:t>
            </a:r>
            <a:r>
              <a:rPr lang="en" sz="1800"/>
              <a:t>:</a:t>
            </a:r>
            <a:endParaRPr sz="1800"/>
          </a:p>
        </p:txBody>
      </p:sp>
      <p:sp>
        <p:nvSpPr>
          <p:cNvPr id="62" name="Google Shape;62;p14"/>
          <p:cNvSpPr txBox="1"/>
          <p:nvPr/>
        </p:nvSpPr>
        <p:spPr>
          <a:xfrm>
            <a:off x="274575" y="1204600"/>
            <a:ext cx="7824900" cy="18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We write a brand new loop inside the body of another loop.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In the nested loop we need to make sure to use different variable than the one we used in the outer loop.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For each iteration of the outer loop, the inner loop executes all its iteration.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294550" y="798800"/>
            <a:ext cx="782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</a:rPr>
              <a:t>Key points of the structure:</a:t>
            </a:r>
            <a:endParaRPr sz="1800" u="sng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70" name="Google Shape;70;p15"/>
          <p:cNvSpPr/>
          <p:nvPr/>
        </p:nvSpPr>
        <p:spPr>
          <a:xfrm>
            <a:off x="1175550" y="1503400"/>
            <a:ext cx="2238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56200" y="3789325"/>
            <a:ext cx="43158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Here, i is being initialized with the value 0.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0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</a:t>
            </a:r>
            <a:r>
              <a:rPr b="1" lang="en"/>
              <a:t>loop (contd.)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</a:t>
            </a:r>
            <a:r>
              <a:rPr lang="en">
                <a:solidFill>
                  <a:srgbClr val="1C4587"/>
                </a:solidFill>
              </a:rPr>
              <a:t>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rgbClr val="0000FF"/>
                </a:solidFill>
              </a:rPr>
              <a:t>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</a:t>
            </a:r>
            <a:r>
              <a:rPr lang="en">
                <a:solidFill>
                  <a:schemeClr val="dk1"/>
                </a:solidFill>
              </a:rPr>
              <a:t>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78" name="Google Shape;78;p16"/>
          <p:cNvSpPr/>
          <p:nvPr/>
        </p:nvSpPr>
        <p:spPr>
          <a:xfrm>
            <a:off x="1464225" y="1783325"/>
            <a:ext cx="2238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56200" y="3789325"/>
            <a:ext cx="43158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</a:t>
            </a:r>
            <a:r>
              <a:rPr lang="en">
                <a:solidFill>
                  <a:schemeClr val="dk1"/>
                </a:solidFill>
              </a:rPr>
              <a:t>, j is being initialized with the value 0 as well.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0 &amp; </a:t>
            </a:r>
            <a:r>
              <a:rPr b="1" lang="en">
                <a:solidFill>
                  <a:schemeClr val="dk1"/>
                </a:solidFill>
              </a:rPr>
              <a:t>j</a:t>
            </a:r>
            <a:r>
              <a:rPr b="1" lang="en">
                <a:solidFill>
                  <a:schemeClr val="dk1"/>
                </a:solidFill>
              </a:rPr>
              <a:t> = 0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86" name="Google Shape;86;p17"/>
          <p:cNvSpPr txBox="1"/>
          <p:nvPr/>
        </p:nvSpPr>
        <p:spPr>
          <a:xfrm>
            <a:off x="4652250" y="867925"/>
            <a:ext cx="4315800" cy="800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1761650" y="2078725"/>
            <a:ext cx="2238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256200" y="3789325"/>
            <a:ext cx="43158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Now, i and j are being printed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0 &amp; j = 0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96" name="Google Shape;96;p18"/>
          <p:cNvSpPr txBox="1"/>
          <p:nvPr/>
        </p:nvSpPr>
        <p:spPr>
          <a:xfrm>
            <a:off x="4652250" y="867925"/>
            <a:ext cx="4315800" cy="800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1490475" y="2352150"/>
            <a:ext cx="1986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/>
        </p:nvSpPr>
        <p:spPr>
          <a:xfrm>
            <a:off x="251550" y="3789325"/>
            <a:ext cx="8640900" cy="7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We’ve reached the end of the </a:t>
            </a:r>
            <a:r>
              <a:rPr i="1" lang="en" sz="1500">
                <a:solidFill>
                  <a:schemeClr val="dk1"/>
                </a:solidFill>
              </a:rPr>
              <a:t>inner loop</a:t>
            </a:r>
            <a:r>
              <a:rPr lang="en">
                <a:solidFill>
                  <a:schemeClr val="dk1"/>
                </a:solidFill>
              </a:rPr>
              <a:t> we </a:t>
            </a:r>
            <a:r>
              <a:rPr lang="en">
                <a:solidFill>
                  <a:schemeClr val="dk1"/>
                </a:solidFill>
              </a:rPr>
              <a:t>have</a:t>
            </a:r>
            <a:r>
              <a:rPr lang="en">
                <a:solidFill>
                  <a:schemeClr val="dk1"/>
                </a:solidFill>
              </a:rPr>
              <a:t> to move up again and increment j then check condition.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0 &amp; j = 0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06" name="Google Shape;106;p19"/>
          <p:cNvSpPr txBox="1"/>
          <p:nvPr/>
        </p:nvSpPr>
        <p:spPr>
          <a:xfrm>
            <a:off x="4652250" y="867925"/>
            <a:ext cx="4315800" cy="800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1516700" y="1783575"/>
            <a:ext cx="21843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 txBox="1"/>
          <p:nvPr/>
        </p:nvSpPr>
        <p:spPr>
          <a:xfrm>
            <a:off x="251550" y="3789325"/>
            <a:ext cx="86409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ncrementing the value of j by 1 we get, 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j = 1 and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 j &lt; 3 is true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0 &amp; j = 1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16" name="Google Shape;116;p20"/>
          <p:cNvSpPr txBox="1"/>
          <p:nvPr/>
        </p:nvSpPr>
        <p:spPr>
          <a:xfrm>
            <a:off x="4652250" y="867925"/>
            <a:ext cx="4315800" cy="1031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118" name="Google Shape;118;p20"/>
          <p:cNvSpPr/>
          <p:nvPr/>
        </p:nvSpPr>
        <p:spPr>
          <a:xfrm>
            <a:off x="1779125" y="2078725"/>
            <a:ext cx="21843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 txBox="1"/>
          <p:nvPr/>
        </p:nvSpPr>
        <p:spPr>
          <a:xfrm>
            <a:off x="251550" y="3789325"/>
            <a:ext cx="86409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Now, i and j are being printed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0 &amp; j = 1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125" name="Google Shape;125;p21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26" name="Google Shape;126;p21"/>
          <p:cNvSpPr txBox="1"/>
          <p:nvPr/>
        </p:nvSpPr>
        <p:spPr>
          <a:xfrm>
            <a:off x="4652250" y="867925"/>
            <a:ext cx="4315800" cy="1031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1516700" y="1783575"/>
            <a:ext cx="21843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/>
        </p:nvSpPr>
        <p:spPr>
          <a:xfrm>
            <a:off x="251550" y="3789325"/>
            <a:ext cx="86409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Incrementing the value of j by 1 we get, 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j = 2 and j &lt; 3 is true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0 &amp; j = 2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135" name="Google Shape;135;p22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36" name="Google Shape;136;p22"/>
          <p:cNvSpPr txBox="1"/>
          <p:nvPr/>
        </p:nvSpPr>
        <p:spPr>
          <a:xfrm>
            <a:off x="4652250" y="867925"/>
            <a:ext cx="4315800" cy="1262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138" name="Google Shape;138;p22"/>
          <p:cNvSpPr/>
          <p:nvPr/>
        </p:nvSpPr>
        <p:spPr>
          <a:xfrm>
            <a:off x="1779125" y="2078725"/>
            <a:ext cx="21843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2"/>
          <p:cNvSpPr txBox="1"/>
          <p:nvPr/>
        </p:nvSpPr>
        <p:spPr>
          <a:xfrm>
            <a:off x="251550" y="3789325"/>
            <a:ext cx="86409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Now, i and j are being printed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0 &amp; j = 2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145" name="Google Shape;145;p23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46" name="Google Shape;146;p23"/>
          <p:cNvSpPr txBox="1"/>
          <p:nvPr/>
        </p:nvSpPr>
        <p:spPr>
          <a:xfrm>
            <a:off x="4652250" y="867925"/>
            <a:ext cx="4315800" cy="1262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148" name="Google Shape;148;p23"/>
          <p:cNvSpPr/>
          <p:nvPr/>
        </p:nvSpPr>
        <p:spPr>
          <a:xfrm>
            <a:off x="1490475" y="2352150"/>
            <a:ext cx="2163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3"/>
          <p:cNvSpPr txBox="1"/>
          <p:nvPr/>
        </p:nvSpPr>
        <p:spPr>
          <a:xfrm>
            <a:off x="251550" y="3789325"/>
            <a:ext cx="8640900" cy="7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We’ve reached the end of the </a:t>
            </a:r>
            <a:r>
              <a:rPr i="1" lang="en" sz="1500">
                <a:solidFill>
                  <a:schemeClr val="dk1"/>
                </a:solidFill>
              </a:rPr>
              <a:t>inner loop</a:t>
            </a:r>
            <a:r>
              <a:rPr lang="en">
                <a:solidFill>
                  <a:schemeClr val="dk1"/>
                </a:solidFill>
              </a:rPr>
              <a:t> we have to move up again and increment j then check condition.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0 &amp; j = 2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155" name="Google Shape;155;p24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56" name="Google Shape;156;p24"/>
          <p:cNvSpPr txBox="1"/>
          <p:nvPr/>
        </p:nvSpPr>
        <p:spPr>
          <a:xfrm>
            <a:off x="4652250" y="867925"/>
            <a:ext cx="4315800" cy="1262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1516700" y="1783575"/>
            <a:ext cx="21843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4"/>
          <p:cNvSpPr txBox="1"/>
          <p:nvPr/>
        </p:nvSpPr>
        <p:spPr>
          <a:xfrm>
            <a:off x="251550" y="3789325"/>
            <a:ext cx="8640900" cy="96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Incrementing the value of j by 1 we get, 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j = 3 and j &lt; 3 is </a:t>
            </a:r>
            <a:r>
              <a:rPr b="1" lang="en">
                <a:solidFill>
                  <a:srgbClr val="FF0000"/>
                </a:solidFill>
                <a:highlight>
                  <a:schemeClr val="lt1"/>
                </a:highlight>
              </a:rPr>
              <a:t>false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Now, the nested loop will end and </a:t>
            </a:r>
            <a:r>
              <a:rPr lang="en">
                <a:solidFill>
                  <a:srgbClr val="FF0000"/>
                </a:solidFill>
              </a:rPr>
              <a:t>j will be </a:t>
            </a:r>
            <a:r>
              <a:rPr lang="en">
                <a:solidFill>
                  <a:srgbClr val="FF0000"/>
                </a:solidFill>
              </a:rPr>
              <a:t>destroyed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0</a:t>
            </a:r>
            <a:r>
              <a:rPr b="1" lang="en">
                <a:solidFill>
                  <a:schemeClr val="dk1"/>
                </a:solidFill>
              </a:rPr>
              <a:t> </a:t>
            </a:r>
            <a:r>
              <a:rPr b="1" lang="en" strike="sngStrike">
                <a:solidFill>
                  <a:srgbClr val="FF0000"/>
                </a:solidFill>
              </a:rPr>
              <a:t>&amp; j = 3</a:t>
            </a:r>
            <a:endParaRPr b="1" strike="sngStrike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165" name="Google Shape;165;p25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66" name="Google Shape;166;p25"/>
          <p:cNvSpPr txBox="1"/>
          <p:nvPr/>
        </p:nvSpPr>
        <p:spPr>
          <a:xfrm>
            <a:off x="4652250" y="867925"/>
            <a:ext cx="4315800" cy="1262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1490475" y="2352150"/>
            <a:ext cx="1986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5"/>
          <p:cNvSpPr txBox="1"/>
          <p:nvPr/>
        </p:nvSpPr>
        <p:spPr>
          <a:xfrm>
            <a:off x="251550" y="3789325"/>
            <a:ext cx="8640900" cy="7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We’ve reached the end of the </a:t>
            </a:r>
            <a:r>
              <a:rPr i="1" lang="en" sz="1500">
                <a:solidFill>
                  <a:schemeClr val="dk1"/>
                </a:solidFill>
              </a:rPr>
              <a:t>inner loop</a:t>
            </a:r>
            <a:r>
              <a:rPr lang="en">
                <a:solidFill>
                  <a:schemeClr val="dk1"/>
                </a:solidFill>
              </a:rPr>
              <a:t> we have to move up again and increment j then check condition.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0 &amp; j = 1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175" name="Google Shape;175;p26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76" name="Google Shape;176;p26"/>
          <p:cNvSpPr txBox="1"/>
          <p:nvPr/>
        </p:nvSpPr>
        <p:spPr>
          <a:xfrm>
            <a:off x="4652250" y="867925"/>
            <a:ext cx="4315800" cy="1493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499200" y="2638575"/>
            <a:ext cx="29454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6"/>
          <p:cNvSpPr txBox="1"/>
          <p:nvPr/>
        </p:nvSpPr>
        <p:spPr>
          <a:xfrm>
            <a:off x="251550" y="3789325"/>
            <a:ext cx="86409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Now, the print statement will be executed.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185" name="Google Shape;185;p27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86" name="Google Shape;186;p27"/>
          <p:cNvSpPr txBox="1"/>
          <p:nvPr/>
        </p:nvSpPr>
        <p:spPr>
          <a:xfrm>
            <a:off x="4652250" y="867925"/>
            <a:ext cx="4315800" cy="1493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188" name="Google Shape;188;p27"/>
          <p:cNvSpPr/>
          <p:nvPr/>
        </p:nvSpPr>
        <p:spPr>
          <a:xfrm>
            <a:off x="1201800" y="2903250"/>
            <a:ext cx="1986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7"/>
          <p:cNvSpPr txBox="1"/>
          <p:nvPr/>
        </p:nvSpPr>
        <p:spPr>
          <a:xfrm>
            <a:off x="251550" y="3789325"/>
            <a:ext cx="8640900" cy="7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We’ve reached the end of the </a:t>
            </a:r>
            <a:r>
              <a:rPr i="1" lang="en" sz="1500">
                <a:solidFill>
                  <a:schemeClr val="dk1"/>
                </a:solidFill>
              </a:rPr>
              <a:t>outer loop</a:t>
            </a:r>
            <a:r>
              <a:rPr lang="en">
                <a:solidFill>
                  <a:schemeClr val="dk1"/>
                </a:solidFill>
              </a:rPr>
              <a:t> we have to move up again and increment i then check condition.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0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195" name="Google Shape;195;p28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96" name="Google Shape;196;p28"/>
          <p:cNvSpPr/>
          <p:nvPr/>
        </p:nvSpPr>
        <p:spPr>
          <a:xfrm>
            <a:off x="1175550" y="1504675"/>
            <a:ext cx="2238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8"/>
          <p:cNvSpPr txBox="1"/>
          <p:nvPr/>
        </p:nvSpPr>
        <p:spPr>
          <a:xfrm>
            <a:off x="256200" y="3789325"/>
            <a:ext cx="86760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Incrementing the value of i by 1 we get, 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i = 1 and i &lt; 2 is true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1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4652250" y="867925"/>
            <a:ext cx="4315800" cy="1493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205" name="Google Shape;205;p29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06" name="Google Shape;206;p29"/>
          <p:cNvSpPr/>
          <p:nvPr/>
        </p:nvSpPr>
        <p:spPr>
          <a:xfrm>
            <a:off x="1464225" y="1783325"/>
            <a:ext cx="2238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9"/>
          <p:cNvSpPr txBox="1"/>
          <p:nvPr/>
        </p:nvSpPr>
        <p:spPr>
          <a:xfrm>
            <a:off x="256200" y="3789325"/>
            <a:ext cx="87120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Now, j is being initialized with the value 0 </a:t>
            </a:r>
            <a:r>
              <a:rPr b="1" lang="en">
                <a:solidFill>
                  <a:schemeClr val="dk1"/>
                </a:solidFill>
              </a:rPr>
              <a:t>again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1 &amp; j = 0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08" name="Google Shape;208;p29"/>
          <p:cNvSpPr txBox="1"/>
          <p:nvPr/>
        </p:nvSpPr>
        <p:spPr>
          <a:xfrm>
            <a:off x="4652250" y="867925"/>
            <a:ext cx="4315800" cy="1493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209" name="Google Shape;209;p29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215" name="Google Shape;215;p30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16" name="Google Shape;216;p30"/>
          <p:cNvSpPr txBox="1"/>
          <p:nvPr/>
        </p:nvSpPr>
        <p:spPr>
          <a:xfrm>
            <a:off x="4652250" y="867925"/>
            <a:ext cx="4315800" cy="1723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217" name="Google Shape;217;p30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218" name="Google Shape;218;p30"/>
          <p:cNvSpPr/>
          <p:nvPr/>
        </p:nvSpPr>
        <p:spPr>
          <a:xfrm>
            <a:off x="1761650" y="2078725"/>
            <a:ext cx="2238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0"/>
          <p:cNvSpPr txBox="1"/>
          <p:nvPr/>
        </p:nvSpPr>
        <p:spPr>
          <a:xfrm>
            <a:off x="256200" y="3789325"/>
            <a:ext cx="87120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Now, i and j are being printed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1 &amp; j = 0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225" name="Google Shape;225;p31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26" name="Google Shape;226;p31"/>
          <p:cNvSpPr txBox="1"/>
          <p:nvPr/>
        </p:nvSpPr>
        <p:spPr>
          <a:xfrm>
            <a:off x="4652250" y="867925"/>
            <a:ext cx="4315800" cy="1723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227" name="Google Shape;227;p31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228" name="Google Shape;228;p31"/>
          <p:cNvSpPr/>
          <p:nvPr/>
        </p:nvSpPr>
        <p:spPr>
          <a:xfrm>
            <a:off x="1490475" y="2352150"/>
            <a:ext cx="1986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1"/>
          <p:cNvSpPr txBox="1"/>
          <p:nvPr/>
        </p:nvSpPr>
        <p:spPr>
          <a:xfrm>
            <a:off x="251550" y="3789325"/>
            <a:ext cx="8640900" cy="7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We’ve reached the end of the </a:t>
            </a:r>
            <a:r>
              <a:rPr i="1" lang="en" sz="1500">
                <a:solidFill>
                  <a:schemeClr val="dk1"/>
                </a:solidFill>
              </a:rPr>
              <a:t>inner loop</a:t>
            </a:r>
            <a:r>
              <a:rPr lang="en">
                <a:solidFill>
                  <a:schemeClr val="dk1"/>
                </a:solidFill>
              </a:rPr>
              <a:t> we have to move up again and increment j then check condition.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1 &amp; j = 0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235" name="Google Shape;235;p32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36" name="Google Shape;236;p32"/>
          <p:cNvSpPr txBox="1"/>
          <p:nvPr/>
        </p:nvSpPr>
        <p:spPr>
          <a:xfrm>
            <a:off x="4652250" y="867925"/>
            <a:ext cx="4315800" cy="1723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237" name="Google Shape;237;p32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238" name="Google Shape;238;p32"/>
          <p:cNvSpPr/>
          <p:nvPr/>
        </p:nvSpPr>
        <p:spPr>
          <a:xfrm>
            <a:off x="1516700" y="1783575"/>
            <a:ext cx="21843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2"/>
          <p:cNvSpPr txBox="1"/>
          <p:nvPr/>
        </p:nvSpPr>
        <p:spPr>
          <a:xfrm>
            <a:off x="251550" y="3789325"/>
            <a:ext cx="86409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Incrementing the value of j by 1 we get, 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j = 1 and j &lt; 3 is true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1 &amp; j = 1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245" name="Google Shape;245;p33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46" name="Google Shape;246;p33"/>
          <p:cNvSpPr txBox="1"/>
          <p:nvPr/>
        </p:nvSpPr>
        <p:spPr>
          <a:xfrm>
            <a:off x="4652250" y="867925"/>
            <a:ext cx="4315800" cy="1954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1 1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247" name="Google Shape;247;p33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248" name="Google Shape;248;p33"/>
          <p:cNvSpPr/>
          <p:nvPr/>
        </p:nvSpPr>
        <p:spPr>
          <a:xfrm>
            <a:off x="1779125" y="2078725"/>
            <a:ext cx="21843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3"/>
          <p:cNvSpPr txBox="1"/>
          <p:nvPr/>
        </p:nvSpPr>
        <p:spPr>
          <a:xfrm>
            <a:off x="251550" y="3789325"/>
            <a:ext cx="86409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Now, i and j are being printed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1 &amp; j = 1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255" name="Google Shape;255;p34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56" name="Google Shape;256;p34"/>
          <p:cNvSpPr txBox="1"/>
          <p:nvPr/>
        </p:nvSpPr>
        <p:spPr>
          <a:xfrm>
            <a:off x="4652250" y="867925"/>
            <a:ext cx="4315800" cy="1954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1 1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257" name="Google Shape;257;p34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258" name="Google Shape;258;p34"/>
          <p:cNvSpPr/>
          <p:nvPr/>
        </p:nvSpPr>
        <p:spPr>
          <a:xfrm>
            <a:off x="1490475" y="2352150"/>
            <a:ext cx="1986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4"/>
          <p:cNvSpPr txBox="1"/>
          <p:nvPr/>
        </p:nvSpPr>
        <p:spPr>
          <a:xfrm>
            <a:off x="251550" y="3789325"/>
            <a:ext cx="8640900" cy="7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We’ve reached the end of the </a:t>
            </a:r>
            <a:r>
              <a:rPr i="1" lang="en" sz="1500">
                <a:solidFill>
                  <a:schemeClr val="dk1"/>
                </a:solidFill>
              </a:rPr>
              <a:t>inner loop</a:t>
            </a:r>
            <a:r>
              <a:rPr lang="en">
                <a:solidFill>
                  <a:schemeClr val="dk1"/>
                </a:solidFill>
              </a:rPr>
              <a:t> we have to move up again and increment j then check condition.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1 &amp; j = 1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265" name="Google Shape;265;p35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66" name="Google Shape;266;p35"/>
          <p:cNvSpPr txBox="1"/>
          <p:nvPr/>
        </p:nvSpPr>
        <p:spPr>
          <a:xfrm>
            <a:off x="4652250" y="867925"/>
            <a:ext cx="4315800" cy="1954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1 1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267" name="Google Shape;267;p35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268" name="Google Shape;268;p35"/>
          <p:cNvSpPr/>
          <p:nvPr/>
        </p:nvSpPr>
        <p:spPr>
          <a:xfrm>
            <a:off x="1516700" y="1783575"/>
            <a:ext cx="21843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5"/>
          <p:cNvSpPr txBox="1"/>
          <p:nvPr/>
        </p:nvSpPr>
        <p:spPr>
          <a:xfrm>
            <a:off x="251550" y="3789325"/>
            <a:ext cx="86409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Incrementing the value of j by 1 we get, 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j = 2 and j &lt; 3 is true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1 &amp; j = 2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275" name="Google Shape;275;p36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76" name="Google Shape;276;p36"/>
          <p:cNvSpPr txBox="1"/>
          <p:nvPr/>
        </p:nvSpPr>
        <p:spPr>
          <a:xfrm>
            <a:off x="4652250" y="867925"/>
            <a:ext cx="4315800" cy="2185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1 2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277" name="Google Shape;277;p36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278" name="Google Shape;278;p36"/>
          <p:cNvSpPr/>
          <p:nvPr/>
        </p:nvSpPr>
        <p:spPr>
          <a:xfrm>
            <a:off x="1779125" y="2078725"/>
            <a:ext cx="21843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6"/>
          <p:cNvSpPr txBox="1"/>
          <p:nvPr/>
        </p:nvSpPr>
        <p:spPr>
          <a:xfrm>
            <a:off x="251550" y="3789325"/>
            <a:ext cx="86409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Now, i and j are being printed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1 &amp; j = 2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285" name="Google Shape;285;p37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86" name="Google Shape;286;p37"/>
          <p:cNvSpPr txBox="1"/>
          <p:nvPr/>
        </p:nvSpPr>
        <p:spPr>
          <a:xfrm>
            <a:off x="4652250" y="867925"/>
            <a:ext cx="4315800" cy="2185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1 2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287" name="Google Shape;287;p37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288" name="Google Shape;288;p37"/>
          <p:cNvSpPr/>
          <p:nvPr/>
        </p:nvSpPr>
        <p:spPr>
          <a:xfrm>
            <a:off x="1490475" y="2352150"/>
            <a:ext cx="2163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7"/>
          <p:cNvSpPr txBox="1"/>
          <p:nvPr/>
        </p:nvSpPr>
        <p:spPr>
          <a:xfrm>
            <a:off x="251550" y="3789325"/>
            <a:ext cx="8640900" cy="7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We’ve reached the end of the </a:t>
            </a:r>
            <a:r>
              <a:rPr i="1" lang="en" sz="1500">
                <a:solidFill>
                  <a:schemeClr val="dk1"/>
                </a:solidFill>
              </a:rPr>
              <a:t>inner loop</a:t>
            </a:r>
            <a:r>
              <a:rPr lang="en">
                <a:solidFill>
                  <a:schemeClr val="dk1"/>
                </a:solidFill>
              </a:rPr>
              <a:t> we have to move up again and increment j then check condition.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1 &amp; j = 2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295" name="Google Shape;295;p38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96" name="Google Shape;296;p38"/>
          <p:cNvSpPr txBox="1"/>
          <p:nvPr/>
        </p:nvSpPr>
        <p:spPr>
          <a:xfrm>
            <a:off x="4652250" y="867925"/>
            <a:ext cx="4315800" cy="2185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1 2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297" name="Google Shape;297;p38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298" name="Google Shape;298;p38"/>
          <p:cNvSpPr/>
          <p:nvPr/>
        </p:nvSpPr>
        <p:spPr>
          <a:xfrm>
            <a:off x="1516700" y="1783575"/>
            <a:ext cx="21843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8"/>
          <p:cNvSpPr txBox="1"/>
          <p:nvPr/>
        </p:nvSpPr>
        <p:spPr>
          <a:xfrm>
            <a:off x="251550" y="3789325"/>
            <a:ext cx="8640900" cy="96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Incrementing the value of j by 1 we get, 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j = 3 and j &lt; 3 is </a:t>
            </a:r>
            <a:r>
              <a:rPr b="1" lang="en">
                <a:solidFill>
                  <a:srgbClr val="FF0000"/>
                </a:solidFill>
                <a:highlight>
                  <a:schemeClr val="lt1"/>
                </a:highlight>
              </a:rPr>
              <a:t>false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Now, the nested loop will end and </a:t>
            </a:r>
            <a:r>
              <a:rPr lang="en">
                <a:solidFill>
                  <a:srgbClr val="FF0000"/>
                </a:solidFill>
              </a:rPr>
              <a:t>j will be destroyed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1 </a:t>
            </a:r>
            <a:r>
              <a:rPr b="1" lang="en" strike="sngStrike">
                <a:solidFill>
                  <a:srgbClr val="FF0000"/>
                </a:solidFill>
              </a:rPr>
              <a:t>&amp; j = 3</a:t>
            </a:r>
            <a:endParaRPr b="1" strike="sngStrike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305" name="Google Shape;305;p39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306" name="Google Shape;306;p39"/>
          <p:cNvSpPr txBox="1"/>
          <p:nvPr/>
        </p:nvSpPr>
        <p:spPr>
          <a:xfrm>
            <a:off x="4652250" y="867925"/>
            <a:ext cx="4315800" cy="24165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307" name="Google Shape;307;p39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308" name="Google Shape;308;p39"/>
          <p:cNvSpPr/>
          <p:nvPr/>
        </p:nvSpPr>
        <p:spPr>
          <a:xfrm>
            <a:off x="1499200" y="2638575"/>
            <a:ext cx="29454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9"/>
          <p:cNvSpPr txBox="1"/>
          <p:nvPr/>
        </p:nvSpPr>
        <p:spPr>
          <a:xfrm>
            <a:off x="251550" y="3789325"/>
            <a:ext cx="86409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Now, the print statement will be executed.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0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315" name="Google Shape;315;p40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316" name="Google Shape;316;p40"/>
          <p:cNvSpPr txBox="1"/>
          <p:nvPr/>
        </p:nvSpPr>
        <p:spPr>
          <a:xfrm>
            <a:off x="4652250" y="867925"/>
            <a:ext cx="4315800" cy="24165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317" name="Google Shape;317;p40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318" name="Google Shape;318;p40"/>
          <p:cNvSpPr/>
          <p:nvPr/>
        </p:nvSpPr>
        <p:spPr>
          <a:xfrm>
            <a:off x="1201800" y="2903250"/>
            <a:ext cx="1986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0"/>
          <p:cNvSpPr txBox="1"/>
          <p:nvPr/>
        </p:nvSpPr>
        <p:spPr>
          <a:xfrm>
            <a:off x="251550" y="3789325"/>
            <a:ext cx="8640900" cy="7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We’ve reached the end of the </a:t>
            </a:r>
            <a:r>
              <a:rPr i="1" lang="en" sz="1500">
                <a:solidFill>
                  <a:schemeClr val="dk1"/>
                </a:solidFill>
              </a:rPr>
              <a:t>outer loop</a:t>
            </a:r>
            <a:r>
              <a:rPr lang="en">
                <a:solidFill>
                  <a:schemeClr val="dk1"/>
                </a:solidFill>
              </a:rPr>
              <a:t> we have to move up again and increment i then check condition.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1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1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325" name="Google Shape;325;p41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326" name="Google Shape;326;p41"/>
          <p:cNvSpPr/>
          <p:nvPr/>
        </p:nvSpPr>
        <p:spPr>
          <a:xfrm>
            <a:off x="1175550" y="1504675"/>
            <a:ext cx="2238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1"/>
          <p:cNvSpPr txBox="1"/>
          <p:nvPr/>
        </p:nvSpPr>
        <p:spPr>
          <a:xfrm>
            <a:off x="256200" y="3789325"/>
            <a:ext cx="86760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Incrementing the value of i by 1 we get, 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i = 2 and i &lt; 2 is </a:t>
            </a:r>
            <a:r>
              <a:rPr b="1" lang="en">
                <a:solidFill>
                  <a:srgbClr val="FF0000"/>
                </a:solidFill>
                <a:highlight>
                  <a:schemeClr val="lt1"/>
                </a:highlight>
              </a:rPr>
              <a:t>false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 strike="sngStrike">
                <a:solidFill>
                  <a:srgbClr val="FF0000"/>
                </a:solidFill>
              </a:rPr>
              <a:t>i = 2</a:t>
            </a:r>
            <a:endParaRPr b="1" strike="sngStrike">
              <a:solidFill>
                <a:srgbClr val="FF0000"/>
              </a:solidFill>
            </a:endParaRPr>
          </a:p>
        </p:txBody>
      </p:sp>
      <p:sp>
        <p:nvSpPr>
          <p:cNvPr id="328" name="Google Shape;328;p41"/>
          <p:cNvSpPr txBox="1"/>
          <p:nvPr/>
        </p:nvSpPr>
        <p:spPr>
          <a:xfrm>
            <a:off x="4652250" y="867925"/>
            <a:ext cx="4315800" cy="24165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329" name="Google Shape;329;p41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2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335" name="Google Shape;335;p42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336" name="Google Shape;336;p42"/>
          <p:cNvSpPr/>
          <p:nvPr/>
        </p:nvSpPr>
        <p:spPr>
          <a:xfrm>
            <a:off x="956875" y="3184200"/>
            <a:ext cx="1986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2"/>
          <p:cNvSpPr txBox="1"/>
          <p:nvPr/>
        </p:nvSpPr>
        <p:spPr>
          <a:xfrm>
            <a:off x="256200" y="3789325"/>
            <a:ext cx="86760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 we exit the main method and the program ends.</a:t>
            </a:r>
            <a:endParaRPr b="1" strike="sngStrike">
              <a:solidFill>
                <a:srgbClr val="FF0000"/>
              </a:solidFill>
            </a:endParaRPr>
          </a:p>
        </p:txBody>
      </p:sp>
      <p:sp>
        <p:nvSpPr>
          <p:cNvPr id="338" name="Google Shape;338;p42"/>
          <p:cNvSpPr txBox="1"/>
          <p:nvPr/>
        </p:nvSpPr>
        <p:spPr>
          <a:xfrm>
            <a:off x="4652250" y="867925"/>
            <a:ext cx="4315800" cy="24165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339" name="Google Shape;339;p42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3"/>
          <p:cNvSpPr txBox="1"/>
          <p:nvPr>
            <p:ph type="title"/>
          </p:nvPr>
        </p:nvSpPr>
        <p:spPr>
          <a:xfrm>
            <a:off x="311700" y="304825"/>
            <a:ext cx="327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Nested loop (contd.)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45" name="Google Shape;345;p43"/>
          <p:cNvSpPr txBox="1"/>
          <p:nvPr/>
        </p:nvSpPr>
        <p:spPr>
          <a:xfrm>
            <a:off x="256200" y="877525"/>
            <a:ext cx="7748700" cy="8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We can use this nested loop concept with </a:t>
            </a:r>
            <a:r>
              <a:rPr b="1" lang="en" sz="1600">
                <a:solidFill>
                  <a:schemeClr val="dk1"/>
                </a:solidFill>
              </a:rPr>
              <a:t>print()</a:t>
            </a:r>
            <a:r>
              <a:rPr lang="en" sz="1600">
                <a:solidFill>
                  <a:schemeClr val="dk1"/>
                </a:solidFill>
              </a:rPr>
              <a:t> and </a:t>
            </a:r>
            <a:r>
              <a:rPr b="1" lang="en" sz="1600">
                <a:solidFill>
                  <a:schemeClr val="dk1"/>
                </a:solidFill>
              </a:rPr>
              <a:t>println()</a:t>
            </a:r>
            <a:r>
              <a:rPr lang="en" sz="1600">
                <a:solidFill>
                  <a:schemeClr val="dk1"/>
                </a:solidFill>
              </a:rPr>
              <a:t> to print various patterns as output.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46" name="Google Shape;346;p43"/>
          <p:cNvSpPr txBox="1"/>
          <p:nvPr/>
        </p:nvSpPr>
        <p:spPr>
          <a:xfrm>
            <a:off x="256200" y="17130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NestedLoopPattern1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3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5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.out.print(</a:t>
            </a:r>
            <a:r>
              <a:rPr b="1" lang="en">
                <a:solidFill>
                  <a:srgbClr val="FF0000"/>
                </a:solidFill>
              </a:rPr>
              <a:t>“* 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grpSp>
        <p:nvGrpSpPr>
          <p:cNvPr id="347" name="Google Shape;347;p43"/>
          <p:cNvGrpSpPr/>
          <p:nvPr/>
        </p:nvGrpSpPr>
        <p:grpSpPr>
          <a:xfrm>
            <a:off x="4634750" y="1677325"/>
            <a:ext cx="4122300" cy="1928400"/>
            <a:chOff x="4634750" y="1677325"/>
            <a:chExt cx="4122300" cy="1928400"/>
          </a:xfrm>
        </p:grpSpPr>
        <p:sp>
          <p:nvSpPr>
            <p:cNvPr id="348" name="Google Shape;348;p43"/>
            <p:cNvSpPr txBox="1"/>
            <p:nvPr/>
          </p:nvSpPr>
          <p:spPr>
            <a:xfrm>
              <a:off x="4634750" y="2128225"/>
              <a:ext cx="4122300" cy="14775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/>
                <a:t>Welcome to DrJava. Working directory is /home/</a:t>
              </a:r>
              <a:r>
                <a:rPr lang="en" sz="1200">
                  <a:solidFill>
                    <a:srgbClr val="000000"/>
                  </a:solidFill>
                </a:rPr>
                <a:t>Java110</a:t>
              </a:r>
              <a:endParaRPr sz="1200"/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/>
                <a:t>&gt; run </a:t>
              </a:r>
              <a:r>
                <a:rPr lang="en" sz="1200">
                  <a:solidFill>
                    <a:srgbClr val="0097A7"/>
                  </a:solidFill>
                </a:rPr>
                <a:t>NestedLoopPattern1</a:t>
              </a:r>
              <a:endParaRPr sz="1200">
                <a:solidFill>
                  <a:srgbClr val="0097A7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761D"/>
                  </a:solidFill>
                </a:rPr>
                <a:t>* * * * *</a:t>
              </a:r>
              <a:endParaRPr b="1" sz="1200">
                <a:solidFill>
                  <a:srgbClr val="38761D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761D"/>
                  </a:solidFill>
                </a:rPr>
                <a:t>* * * * *</a:t>
              </a:r>
              <a:endParaRPr b="1" sz="1200">
                <a:solidFill>
                  <a:srgbClr val="38761D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761D"/>
                  </a:solidFill>
                </a:rPr>
                <a:t>* * * * *</a:t>
              </a:r>
              <a:endParaRPr b="1" sz="1200">
                <a:solidFill>
                  <a:srgbClr val="38761D"/>
                </a:solidFill>
              </a:endParaRPr>
            </a:p>
          </p:txBody>
        </p:sp>
        <p:sp>
          <p:nvSpPr>
            <p:cNvPr id="349" name="Google Shape;349;p43"/>
            <p:cNvSpPr txBox="1"/>
            <p:nvPr/>
          </p:nvSpPr>
          <p:spPr>
            <a:xfrm>
              <a:off x="6327350" y="1677325"/>
              <a:ext cx="737100" cy="3387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OUTPUT</a:t>
              </a:r>
              <a:endParaRPr b="1" sz="1000">
                <a:solidFill>
                  <a:srgbClr val="38761D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4"/>
          <p:cNvSpPr txBox="1"/>
          <p:nvPr>
            <p:ph type="title"/>
          </p:nvPr>
        </p:nvSpPr>
        <p:spPr>
          <a:xfrm>
            <a:off x="311700" y="304825"/>
            <a:ext cx="327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55" name="Google Shape;355;p44"/>
          <p:cNvSpPr txBox="1"/>
          <p:nvPr/>
        </p:nvSpPr>
        <p:spPr>
          <a:xfrm>
            <a:off x="256200" y="877525"/>
            <a:ext cx="7748700" cy="8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We can use this nested loop concept with </a:t>
            </a:r>
            <a:r>
              <a:rPr b="1" lang="en" sz="1600">
                <a:solidFill>
                  <a:schemeClr val="dk1"/>
                </a:solidFill>
              </a:rPr>
              <a:t>print()</a:t>
            </a:r>
            <a:r>
              <a:rPr lang="en" sz="1600">
                <a:solidFill>
                  <a:schemeClr val="dk1"/>
                </a:solidFill>
              </a:rPr>
              <a:t> and </a:t>
            </a:r>
            <a:r>
              <a:rPr b="1" lang="en" sz="1600">
                <a:solidFill>
                  <a:schemeClr val="dk1"/>
                </a:solidFill>
              </a:rPr>
              <a:t>println()</a:t>
            </a:r>
            <a:r>
              <a:rPr lang="en" sz="1600">
                <a:solidFill>
                  <a:schemeClr val="dk1"/>
                </a:solidFill>
              </a:rPr>
              <a:t> to print various patterns as output.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56" name="Google Shape;356;p44"/>
          <p:cNvSpPr txBox="1"/>
          <p:nvPr/>
        </p:nvSpPr>
        <p:spPr>
          <a:xfrm>
            <a:off x="256200" y="17130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NestedLoopPattern2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1 ; i &lt;= 3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1 ; j &lt;=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.out.print(</a:t>
            </a:r>
            <a:r>
              <a:rPr b="1" lang="en">
                <a:solidFill>
                  <a:schemeClr val="dk1"/>
                </a:solidFill>
              </a:rPr>
              <a:t>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grpSp>
        <p:nvGrpSpPr>
          <p:cNvPr id="357" name="Google Shape;357;p44"/>
          <p:cNvGrpSpPr/>
          <p:nvPr/>
        </p:nvGrpSpPr>
        <p:grpSpPr>
          <a:xfrm>
            <a:off x="4634750" y="1677325"/>
            <a:ext cx="4122300" cy="1928400"/>
            <a:chOff x="4634750" y="1677325"/>
            <a:chExt cx="4122300" cy="1928400"/>
          </a:xfrm>
        </p:grpSpPr>
        <p:sp>
          <p:nvSpPr>
            <p:cNvPr id="358" name="Google Shape;358;p44"/>
            <p:cNvSpPr txBox="1"/>
            <p:nvPr/>
          </p:nvSpPr>
          <p:spPr>
            <a:xfrm>
              <a:off x="4634750" y="2128225"/>
              <a:ext cx="4122300" cy="14775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/>
                <a:t>Welcome to DrJava. Working directory is /home/</a:t>
              </a:r>
              <a:r>
                <a:rPr lang="en" sz="1200">
                  <a:solidFill>
                    <a:srgbClr val="000000"/>
                  </a:solidFill>
                </a:rPr>
                <a:t>Java110</a:t>
              </a:r>
              <a:endParaRPr sz="1200"/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/>
                <a:t>&gt; run </a:t>
              </a:r>
              <a:r>
                <a:rPr lang="en" sz="1200">
                  <a:solidFill>
                    <a:srgbClr val="0097A7"/>
                  </a:solidFill>
                </a:rPr>
                <a:t>NestedLoopPattern2</a:t>
              </a:r>
              <a:endParaRPr sz="1200">
                <a:solidFill>
                  <a:srgbClr val="0097A7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761D"/>
                  </a:solidFill>
                </a:rPr>
                <a:t>1 2 3</a:t>
              </a:r>
              <a:endParaRPr b="1" sz="1200">
                <a:solidFill>
                  <a:srgbClr val="38761D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761D"/>
                  </a:solidFill>
                </a:rPr>
                <a:t>1 2 3</a:t>
              </a:r>
              <a:endParaRPr b="1" sz="1200">
                <a:solidFill>
                  <a:srgbClr val="38761D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761D"/>
                  </a:solidFill>
                </a:rPr>
                <a:t>1 2 3</a:t>
              </a:r>
              <a:endParaRPr b="1" sz="1200">
                <a:solidFill>
                  <a:srgbClr val="38761D"/>
                </a:solidFill>
              </a:endParaRPr>
            </a:p>
          </p:txBody>
        </p:sp>
        <p:sp>
          <p:nvSpPr>
            <p:cNvPr id="359" name="Google Shape;359;p44"/>
            <p:cNvSpPr txBox="1"/>
            <p:nvPr/>
          </p:nvSpPr>
          <p:spPr>
            <a:xfrm>
              <a:off x="6327350" y="1677325"/>
              <a:ext cx="737100" cy="3387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OUTPUT</a:t>
              </a:r>
              <a:endParaRPr b="1" sz="1000">
                <a:solidFill>
                  <a:srgbClr val="38761D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5"/>
          <p:cNvSpPr txBox="1"/>
          <p:nvPr>
            <p:ph type="title"/>
          </p:nvPr>
        </p:nvSpPr>
        <p:spPr>
          <a:xfrm>
            <a:off x="311700" y="304825"/>
            <a:ext cx="327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65" name="Google Shape;365;p45"/>
          <p:cNvSpPr txBox="1"/>
          <p:nvPr/>
        </p:nvSpPr>
        <p:spPr>
          <a:xfrm>
            <a:off x="256200" y="816300"/>
            <a:ext cx="85008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131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➢"/>
            </a:pPr>
            <a:r>
              <a:rPr lang="en" sz="1460">
                <a:solidFill>
                  <a:schemeClr val="dk1"/>
                </a:solidFill>
              </a:rPr>
              <a:t>We can use this nested loop concept with </a:t>
            </a:r>
            <a:r>
              <a:rPr b="1" lang="en" sz="1460">
                <a:solidFill>
                  <a:schemeClr val="dk1"/>
                </a:solidFill>
              </a:rPr>
              <a:t>print()</a:t>
            </a:r>
            <a:r>
              <a:rPr lang="en" sz="1460">
                <a:solidFill>
                  <a:schemeClr val="dk1"/>
                </a:solidFill>
              </a:rPr>
              <a:t> and </a:t>
            </a:r>
            <a:r>
              <a:rPr b="1" lang="en" sz="1460">
                <a:solidFill>
                  <a:schemeClr val="dk1"/>
                </a:solidFill>
              </a:rPr>
              <a:t>println()</a:t>
            </a:r>
            <a:r>
              <a:rPr lang="en" sz="1460">
                <a:solidFill>
                  <a:schemeClr val="dk1"/>
                </a:solidFill>
              </a:rPr>
              <a:t> to print various patterns as output. Also, we can utilize </a:t>
            </a:r>
            <a:r>
              <a:rPr b="1" lang="en" sz="1460">
                <a:solidFill>
                  <a:schemeClr val="dk1"/>
                </a:solidFill>
              </a:rPr>
              <a:t>conditional statements</a:t>
            </a:r>
            <a:r>
              <a:rPr lang="en" sz="1460">
                <a:solidFill>
                  <a:schemeClr val="dk1"/>
                </a:solidFill>
              </a:rPr>
              <a:t> as well.</a:t>
            </a:r>
            <a:endParaRPr sz="1460">
              <a:solidFill>
                <a:schemeClr val="dk1"/>
              </a:solidFill>
            </a:endParaRPr>
          </a:p>
        </p:txBody>
      </p:sp>
      <p:sp>
        <p:nvSpPr>
          <p:cNvPr id="366" name="Google Shape;366;p45"/>
          <p:cNvSpPr txBox="1"/>
          <p:nvPr/>
        </p:nvSpPr>
        <p:spPr>
          <a:xfrm>
            <a:off x="256200" y="1506300"/>
            <a:ext cx="4315800" cy="348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NestedLoopPattern3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</a:t>
            </a:r>
            <a:r>
              <a:rPr lang="en">
                <a:solidFill>
                  <a:srgbClr val="0000FF"/>
                </a:solidFill>
              </a:rPr>
              <a:t>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</a:t>
            </a:r>
            <a:r>
              <a:rPr lang="en">
                <a:solidFill>
                  <a:srgbClr val="0000FF"/>
                </a:solidFill>
              </a:rPr>
              <a:t>for </a:t>
            </a:r>
            <a:r>
              <a:rPr lang="en">
                <a:solidFill>
                  <a:schemeClr val="dk1"/>
                </a:solidFill>
              </a:rPr>
              <a:t>(  int i = 1 ; i &lt;= 3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1 ; j &lt;= 3 ; j++ ) {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if </a:t>
            </a:r>
            <a:r>
              <a:rPr lang="en">
                <a:solidFill>
                  <a:schemeClr val="dk1"/>
                </a:solidFill>
              </a:rPr>
              <a:t>( </a:t>
            </a:r>
            <a:r>
              <a:rPr b="1" lang="en">
                <a:solidFill>
                  <a:schemeClr val="dk1"/>
                </a:solidFill>
              </a:rPr>
              <a:t>i &lt;= j</a:t>
            </a:r>
            <a:r>
              <a:rPr lang="en">
                <a:solidFill>
                  <a:schemeClr val="dk1"/>
                </a:solidFill>
              </a:rPr>
              <a:t> ){ 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000FF"/>
                </a:solidFill>
              </a:rPr>
              <a:t>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.out.print(</a:t>
            </a:r>
            <a:r>
              <a:rPr b="1" lang="en">
                <a:solidFill>
                  <a:schemeClr val="dk1"/>
                </a:solidFill>
              </a:rPr>
              <a:t>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grpSp>
        <p:nvGrpSpPr>
          <p:cNvPr id="367" name="Google Shape;367;p45"/>
          <p:cNvGrpSpPr/>
          <p:nvPr/>
        </p:nvGrpSpPr>
        <p:grpSpPr>
          <a:xfrm>
            <a:off x="4634750" y="1677325"/>
            <a:ext cx="4122300" cy="2205600"/>
            <a:chOff x="4634750" y="1677325"/>
            <a:chExt cx="4122300" cy="2205600"/>
          </a:xfrm>
        </p:grpSpPr>
        <p:sp>
          <p:nvSpPr>
            <p:cNvPr id="368" name="Google Shape;368;p45"/>
            <p:cNvSpPr txBox="1"/>
            <p:nvPr/>
          </p:nvSpPr>
          <p:spPr>
            <a:xfrm>
              <a:off x="4634750" y="2128225"/>
              <a:ext cx="4122300" cy="17547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/>
                <a:t>Welcome to DrJava. Working directory is /home/</a:t>
              </a:r>
              <a:r>
                <a:rPr lang="en" sz="1200">
                  <a:solidFill>
                    <a:srgbClr val="000000"/>
                  </a:solidFill>
                </a:rPr>
                <a:t>Java110</a:t>
              </a:r>
              <a:endParaRPr sz="1200"/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/>
                <a:t>&gt; run </a:t>
              </a:r>
              <a:r>
                <a:rPr lang="en" sz="1200">
                  <a:solidFill>
                    <a:srgbClr val="0097A7"/>
                  </a:solidFill>
                </a:rPr>
                <a:t>NestedLoopPattern3</a:t>
              </a:r>
              <a:endParaRPr sz="1200">
                <a:solidFill>
                  <a:srgbClr val="0097A7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761D"/>
                  </a:solidFill>
                </a:rPr>
                <a:t>123</a:t>
              </a:r>
              <a:endParaRPr b="1" sz="1200">
                <a:solidFill>
                  <a:srgbClr val="38761D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761D"/>
                  </a:solidFill>
                </a:rPr>
                <a:t>23</a:t>
              </a:r>
              <a:endParaRPr b="1" sz="1200">
                <a:solidFill>
                  <a:srgbClr val="38761D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761D"/>
                  </a:solidFill>
                </a:rPr>
                <a:t>3</a:t>
              </a:r>
              <a:endParaRPr b="1" sz="1200">
                <a:solidFill>
                  <a:srgbClr val="38761D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38761D"/>
                </a:solidFill>
              </a:endParaRPr>
            </a:p>
          </p:txBody>
        </p:sp>
        <p:sp>
          <p:nvSpPr>
            <p:cNvPr id="369" name="Google Shape;369;p45"/>
            <p:cNvSpPr txBox="1"/>
            <p:nvPr/>
          </p:nvSpPr>
          <p:spPr>
            <a:xfrm>
              <a:off x="6327350" y="1677325"/>
              <a:ext cx="737100" cy="3387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OUTPUT</a:t>
              </a:r>
              <a:endParaRPr b="1" sz="1000">
                <a:solidFill>
                  <a:srgbClr val="38761D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6"/>
          <p:cNvSpPr txBox="1"/>
          <p:nvPr/>
        </p:nvSpPr>
        <p:spPr>
          <a:xfrm>
            <a:off x="311700" y="2170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20">
                <a:solidFill>
                  <a:srgbClr val="000000"/>
                </a:solidFill>
              </a:rPr>
              <a:t>THANK YOU!</a:t>
            </a:r>
            <a:endParaRPr b="1" sz="362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