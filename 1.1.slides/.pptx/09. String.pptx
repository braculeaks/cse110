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geRIXuDVCA7uyU6ipS1TCR0u/C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5BC274-CFC0-4534-9638-E1AB6BC4C0F2}">
  <a:tblStyle styleId="{765BC274-CFC0-4534-9638-E1AB6BC4C0F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5b26da1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2c5b26da1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cs.cmu.edu/~pattis/15-1XX/common/handouts/ascii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Strings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What is a string?</a:t>
            </a:r>
            <a:endParaRPr b="1"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 many other programming languages, string is a sequence of characters.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 Java, strings are objects.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Strings are surrounded by double quotes.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Strings are immutable. Once a string is created, it can’t be changed.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we want to to modify a string, it will create a new string which contains the modifications.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/>
        </p:nvSpPr>
        <p:spPr>
          <a:xfrm>
            <a:off x="352500" y="1036350"/>
            <a:ext cx="84390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.next() and .nextLine() of the scanner class is used to take string as input.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.next() only takes input until it finds a “ ” or space in the given input.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.nextLine() takes input until it finds a “\n” in the given input.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1754525" y="2085475"/>
            <a:ext cx="5387700" cy="176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stringInput{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0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Scanner(System.in);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input1 = sc.next();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input2 = sc.nextLine();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.out.println(input1);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.out.println(input2);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4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1754525" y="3849475"/>
            <a:ext cx="5387700" cy="1166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  </a:t>
            </a:r>
            <a:endParaRPr b="0" i="0" sz="1100" u="none" cap="none" strike="noStrike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CSE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CSE IS FUN.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972641" y="4120242"/>
            <a:ext cx="2839500" cy="159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CSE IS FUN.</a:t>
            </a:r>
            <a:endParaRPr b="0" i="0" sz="1100" u="none" cap="none" strike="noStrik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972641" y="4336643"/>
            <a:ext cx="2839500" cy="159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CSE IS FUN.</a:t>
            </a:r>
            <a:endParaRPr b="0" i="0" sz="1100" u="none" cap="none" strike="noStrik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String Input and Output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String Initialization</a:t>
            </a:r>
            <a:endParaRPr b="1"/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311700" y="1081175"/>
            <a:ext cx="8520600" cy="3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Initialization using String literals: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3055800" y="2273350"/>
            <a:ext cx="3032400" cy="415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 my_string = “Hello World!”;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 rot="5400000">
            <a:off x="3206500" y="1992350"/>
            <a:ext cx="340800" cy="351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014350" y="1740200"/>
            <a:ext cx="725100" cy="257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Literal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 flipH="1" rot="5400000">
            <a:off x="3997400" y="2426825"/>
            <a:ext cx="257400" cy="7251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644450" y="2918075"/>
            <a:ext cx="963300" cy="340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 name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 rot="5400000">
            <a:off x="5133000" y="1851800"/>
            <a:ext cx="340800" cy="6324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04400" y="1740200"/>
            <a:ext cx="798000" cy="257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String Initialization</a:t>
            </a:r>
            <a:endParaRPr b="1"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311700" y="1081175"/>
            <a:ext cx="8520600" cy="3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Creating an object of String class: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2945800" y="2273350"/>
            <a:ext cx="3468900" cy="415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 my_str = new String( “Hello”);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 rot="5400000">
            <a:off x="3138525" y="1992350"/>
            <a:ext cx="340800" cy="351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798325" y="1786725"/>
            <a:ext cx="963300" cy="257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name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 flipH="1" rot="5400000">
            <a:off x="3753900" y="2534525"/>
            <a:ext cx="257400" cy="5097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400950" y="2892700"/>
            <a:ext cx="963300" cy="340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name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 rot="5400000">
            <a:off x="4984825" y="1380650"/>
            <a:ext cx="378600" cy="15747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455175" y="1665525"/>
            <a:ext cx="1437900" cy="378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create an object of String class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 flipH="1" rot="5400000">
            <a:off x="5549625" y="2562875"/>
            <a:ext cx="257400" cy="4530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344125" y="2892700"/>
            <a:ext cx="668400" cy="340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String Length</a:t>
            </a:r>
            <a:endParaRPr b="1"/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311700" y="1137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number of characters in a string.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find using the length() method.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1716150" y="1868350"/>
            <a:ext cx="5711700" cy="2088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stringLength 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14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args) {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str2 = 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r>
              <a:rPr b="0" i="0" lang="en" sz="114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 Empty string</a:t>
            </a:r>
            <a:endParaRPr b="0" i="0" sz="114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.out.println(str1.length());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.out.println(str2.length());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1716150" y="3854000"/>
            <a:ext cx="57117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stringLength</a:t>
            </a:r>
            <a:endParaRPr b="0" i="0" sz="1100" u="none" cap="none" strike="noStrike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 Indexing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311700" y="1152475"/>
            <a:ext cx="8520600" cy="3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 indexing starts from 0 and ends at (Length of string - 1).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we create string1 = “CSE IS FUN.”, which has a length of 11, the indexing will look like this: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Blanks and special characters are also counted as characters.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get characters at each each index by using </a:t>
            </a:r>
            <a:r>
              <a:rPr b="1" i="0" lang="en" sz="1600" u="none" cap="none" strike="noStrike">
                <a:solidFill>
                  <a:srgbClr val="1C55A7"/>
                </a:solidFill>
                <a:latin typeface="Arial"/>
                <a:ea typeface="Arial"/>
                <a:cs typeface="Arial"/>
                <a:sym typeface="Arial"/>
              </a:rPr>
              <a:t>charAt(index)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method.     Example: string1.charAt(2) will return “E”.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" name="Google Shape;114;p7"/>
          <p:cNvGraphicFramePr/>
          <p:nvPr/>
        </p:nvGraphicFramePr>
        <p:xfrm>
          <a:off x="952450" y="26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{765BC274-CFC0-4534-9638-E1AB6BC4C0F2}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I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U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N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.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Google Shape;115;p7"/>
          <p:cNvGraphicFramePr/>
          <p:nvPr/>
        </p:nvGraphicFramePr>
        <p:xfrm>
          <a:off x="952450" y="22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{765BC274-CFC0-4534-9638-E1AB6BC4C0F2}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Iterating a String</a:t>
            </a:r>
            <a:endParaRPr b="1"/>
          </a:p>
        </p:txBody>
      </p:sp>
      <p:sp>
        <p:nvSpPr>
          <p:cNvPr id="121" name="Google Shape;121;p8"/>
          <p:cNvSpPr txBox="1"/>
          <p:nvPr/>
        </p:nvSpPr>
        <p:spPr>
          <a:xfrm>
            <a:off x="2074050" y="3393200"/>
            <a:ext cx="4995900" cy="1400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StringIteration 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b="0" i="0" sz="10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b="0" i="0" sz="10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10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10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b="0" i="0" sz="10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2074050" y="1733600"/>
            <a:ext cx="4995900" cy="165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" sz="10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StringIteration {</a:t>
            </a:r>
            <a:endParaRPr b="0" i="0" sz="1000" u="none" cap="none" strike="noStrike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main(String[] args) {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String str = new String(</a:t>
            </a:r>
            <a:r>
              <a:rPr b="0" i="0" lang="en" sz="1000" u="none" cap="none" strike="noStrike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&lt;str.length(); i++){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System.out.println(str.charAt(i));        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311700" y="985200"/>
            <a:ext cx="847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Accessing the characters of a string one by 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Iterating a string using for loop and charAt() method.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>
            <a:off x="311700" y="263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String Concatenation</a:t>
            </a:r>
            <a:endParaRPr b="1"/>
          </a:p>
        </p:txBody>
      </p:sp>
      <p:sp>
        <p:nvSpPr>
          <p:cNvPr id="129" name="Google Shape;129;p9"/>
          <p:cNvSpPr txBox="1"/>
          <p:nvPr>
            <p:ph idx="1" type="body"/>
          </p:nvPr>
        </p:nvSpPr>
        <p:spPr>
          <a:xfrm>
            <a:off x="311700" y="1152475"/>
            <a:ext cx="49809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“+” is used to concatenate two or more strings together.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New string created after concatenation.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a different data type follows a string data type in concatenation, that data is automatically converted to string.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5292600" y="1287250"/>
            <a:ext cx="3727200" cy="195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"We are learning"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str2 = </a:t>
            </a:r>
            <a:r>
              <a:rPr b="0" i="0" lang="en" sz="11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"Java."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 = 123;</a:t>
            </a:r>
            <a:endParaRPr b="0" i="0" sz="114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str3 = str1 + str2;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str4 = str1 + num;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.out.println(str3);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321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Courier New"/>
              <a:buAutoNum type="arabicPeriod"/>
            </a:pPr>
            <a:r>
              <a:rPr b="0" i="0" lang="en" sz="11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b="0" i="0" lang="en" sz="11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.out.println(str4);</a:t>
            </a:r>
            <a:endParaRPr b="0" i="0" sz="11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5292600" y="3238900"/>
            <a:ext cx="3727200" cy="1006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We are learning Java.</a:t>
            </a:r>
            <a:endParaRPr b="0" i="0" sz="12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We are learning 123</a:t>
            </a:r>
            <a:endParaRPr b="0" i="0" sz="12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Comparing Strings</a:t>
            </a:r>
            <a:endParaRPr b="1"/>
          </a:p>
        </p:txBody>
      </p:sp>
      <p:graphicFrame>
        <p:nvGraphicFramePr>
          <p:cNvPr id="137" name="Google Shape;137;p10"/>
          <p:cNvGraphicFramePr/>
          <p:nvPr/>
        </p:nvGraphicFramePr>
        <p:xfrm>
          <a:off x="495350" y="1286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{765BC274-CFC0-4534-9638-E1AB6BC4C0F2}</a:tableStyleId>
              </a:tblPr>
              <a:tblGrid>
                <a:gridCol w="1721700"/>
                <a:gridCol w="3462500"/>
                <a:gridCol w="2377750"/>
                <a:gridCol w="958650"/>
              </a:tblGrid>
              <a:tr h="59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Methods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Functions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Method Call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Value returned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66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.equals()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Checks if values in two strings are same. Case sensitive.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str1.equals(str2)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.equalsIgnoreCase()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Checks if values in two strings are same. Not case sensitive.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str1.equalsIgnoreCase(str2)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== or equals operator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Checks if reference (address) of two strings are same.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str1 == str2 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.compareTo()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Compares two string values lexicographically. Returns 0 when identical, (+)ve when first string is greater and (-)ve values when second string is greater respectively.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str1.compareTo(str2)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-32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(The output is -32 since “H” is 32 less than “h” lexicographically)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311700" y="789113"/>
            <a:ext cx="85206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C55A7"/>
                </a:solidFill>
              </a:rPr>
              <a:t>String</a:t>
            </a:r>
            <a:r>
              <a:rPr lang="en" sz="1500">
                <a:solidFill>
                  <a:schemeClr val="dk1"/>
                </a:solidFill>
              </a:rPr>
              <a:t> str1 = </a:t>
            </a:r>
            <a:r>
              <a:rPr lang="en" sz="1500">
                <a:solidFill>
                  <a:srgbClr val="1C55A7"/>
                </a:solidFill>
              </a:rPr>
              <a:t>new</a:t>
            </a:r>
            <a:r>
              <a:rPr lang="en" sz="1500">
                <a:solidFill>
                  <a:schemeClr val="dk1"/>
                </a:solidFill>
              </a:rPr>
              <a:t> String(“Hello”); </a:t>
            </a:r>
            <a:r>
              <a:rPr lang="en" sz="1500">
                <a:solidFill>
                  <a:srgbClr val="1C55A7"/>
                </a:solidFill>
              </a:rPr>
              <a:t>String</a:t>
            </a:r>
            <a:r>
              <a:rPr lang="en" sz="1500">
                <a:solidFill>
                  <a:schemeClr val="dk1"/>
                </a:solidFill>
              </a:rPr>
              <a:t> str2 = </a:t>
            </a:r>
            <a:r>
              <a:rPr lang="en" sz="1500">
                <a:solidFill>
                  <a:srgbClr val="1C55A7"/>
                </a:solidFill>
              </a:rPr>
              <a:t>new</a:t>
            </a:r>
            <a:r>
              <a:rPr lang="en" sz="1500">
                <a:solidFill>
                  <a:schemeClr val="dk1"/>
                </a:solidFill>
              </a:rPr>
              <a:t> String(“hello”);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Case Conversion</a:t>
            </a:r>
            <a:endParaRPr b="1"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311700" y="1152475"/>
            <a:ext cx="421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.toLowerCase()</a:t>
            </a:r>
            <a:endParaRPr>
              <a:solidFill>
                <a:srgbClr val="DD4A68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Converts all characters to lowercase letters.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DD4A68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.toUpperCase()</a:t>
            </a:r>
            <a:endParaRPr>
              <a:solidFill>
                <a:srgbClr val="DD4A68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Converts all characters to uppercase letters.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5" name="Google Shape;145;p11"/>
          <p:cNvSpPr txBox="1"/>
          <p:nvPr/>
        </p:nvSpPr>
        <p:spPr>
          <a:xfrm>
            <a:off x="4522500" y="1658000"/>
            <a:ext cx="4305300" cy="1158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2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b="0" i="0" lang="en" sz="10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"LearNinG IS Fun"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str1_lower= str1.toLowerCase()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str1_upper = str1.toUpperCase() 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System.out.println(str1_lower)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225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System.out.println(str1_upper)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t/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4522500" y="2816297"/>
            <a:ext cx="4305300" cy="9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learning is fun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LEARNING IS FUN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.charAt(index) Method</a:t>
            </a:r>
            <a:endParaRPr b="1"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311700" y="1017725"/>
            <a:ext cx="40611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DD4A68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.charAt(index)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Returns the character at index value passed as argument.</a:t>
            </a:r>
            <a:r>
              <a:rPr lang="en" sz="1600">
                <a:solidFill>
                  <a:srgbClr val="DD4A68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4572000" y="1530050"/>
            <a:ext cx="4305300" cy="57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b="0" i="0" lang="en" sz="10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System.out.println(str1.charAt(3))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4572000" y="2102750"/>
            <a:ext cx="43053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ASCII values</a:t>
            </a:r>
            <a:endParaRPr b="1"/>
          </a:p>
        </p:txBody>
      </p:sp>
      <p:sp>
        <p:nvSpPr>
          <p:cNvPr id="160" name="Google Shape;160;p13"/>
          <p:cNvSpPr txBox="1"/>
          <p:nvPr>
            <p:ph idx="1" type="body"/>
          </p:nvPr>
        </p:nvSpPr>
        <p:spPr>
          <a:xfrm>
            <a:off x="311700" y="1152475"/>
            <a:ext cx="8371800" cy="30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Unique Unicode value assigned to all keyboard characters.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Range of ASCII values of uppercase characters (‘A’ to ‘Z’): </a:t>
            </a:r>
            <a:r>
              <a:rPr lang="en" sz="1600">
                <a:solidFill>
                  <a:srgbClr val="0000FF"/>
                </a:solidFill>
              </a:rPr>
              <a:t>65 - 90</a:t>
            </a:r>
            <a:endParaRPr sz="1600">
              <a:solidFill>
                <a:srgbClr val="0000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Range of ASCII values of lowercase characters (‘a’ to ‘z’): </a:t>
            </a:r>
            <a:r>
              <a:rPr lang="en" sz="1600">
                <a:solidFill>
                  <a:srgbClr val="0000FF"/>
                </a:solidFill>
              </a:rPr>
              <a:t>97 - 122</a:t>
            </a:r>
            <a:endParaRPr sz="1600">
              <a:solidFill>
                <a:srgbClr val="0000FF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ASCII value of space: </a:t>
            </a:r>
            <a:r>
              <a:rPr lang="en" sz="1600">
                <a:solidFill>
                  <a:srgbClr val="0000FF"/>
                </a:solidFill>
              </a:rPr>
              <a:t>32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See more from: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https://www.cs.cmu.edu/~pattis/15-1XX/common/handouts/ascii.html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Converting a Character to ASCII Value</a:t>
            </a:r>
            <a:endParaRPr b="1"/>
          </a:p>
        </p:txBody>
      </p:sp>
      <p:sp>
        <p:nvSpPr>
          <p:cNvPr id="166" name="Google Shape;166;p14"/>
          <p:cNvSpPr txBox="1"/>
          <p:nvPr/>
        </p:nvSpPr>
        <p:spPr>
          <a:xfrm>
            <a:off x="5181325" y="1913575"/>
            <a:ext cx="38421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67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5181325" y="1152475"/>
            <a:ext cx="3842100" cy="761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str1 = </a:t>
            </a:r>
            <a:r>
              <a:rPr b="0" i="0" lang="en" sz="10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"CSE110"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unicode_str1 = str1.codePointAt(0);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System.out.println(unicode_str1)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14"/>
          <p:cNvSpPr txBox="1"/>
          <p:nvPr>
            <p:ph idx="1" type="body"/>
          </p:nvPr>
        </p:nvSpPr>
        <p:spPr>
          <a:xfrm>
            <a:off x="311700" y="1152475"/>
            <a:ext cx="45747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.codePointAt(index) 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Takes an index of a string as a parameter and returns the ASCII value of the character of that index.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(int) chr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Can simply cast a character as an integer.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5181325" y="3546675"/>
            <a:ext cx="38421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" sz="11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97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5181325" y="2785575"/>
            <a:ext cx="3842100" cy="761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char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c1 = </a:t>
            </a:r>
            <a:r>
              <a:rPr b="0" i="0" lang="en" sz="104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unicode_c1 = (int) c1;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System.out.println(unicode_c1)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5b26da192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Converting an ASCII value to its Character </a:t>
            </a:r>
            <a:endParaRPr b="1"/>
          </a:p>
        </p:txBody>
      </p:sp>
      <p:sp>
        <p:nvSpPr>
          <p:cNvPr id="176" name="Google Shape;176;g2c5b26da192_0_0"/>
          <p:cNvSpPr txBox="1"/>
          <p:nvPr/>
        </p:nvSpPr>
        <p:spPr>
          <a:xfrm>
            <a:off x="5181325" y="1913575"/>
            <a:ext cx="3842100" cy="74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1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" name="Google Shape;177;g2c5b26da192_0_0"/>
          <p:cNvSpPr txBox="1"/>
          <p:nvPr/>
        </p:nvSpPr>
        <p:spPr>
          <a:xfrm>
            <a:off x="5181325" y="1152475"/>
            <a:ext cx="3842100" cy="761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ascii1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0" i="0" lang="en" sz="1040" u="none" cap="none" strike="noStrike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(char) ascii1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68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Courier New"/>
              <a:buAutoNum type="arabicPeriod"/>
            </a:pP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character </a:t>
            </a:r>
            <a:r>
              <a:rPr b="0" i="0" lang="en" sz="104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4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" name="Google Shape;178;g2c5b26da192_0_0"/>
          <p:cNvSpPr txBox="1"/>
          <p:nvPr>
            <p:ph idx="1" type="body"/>
          </p:nvPr>
        </p:nvSpPr>
        <p:spPr>
          <a:xfrm>
            <a:off x="311700" y="1152475"/>
            <a:ext cx="45747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DD4A68"/>
                </a:solidFill>
              </a:rPr>
              <a:t>(char) int</a:t>
            </a:r>
            <a:endParaRPr>
              <a:solidFill>
                <a:srgbClr val="DD4A68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Converts an</a:t>
            </a:r>
            <a:r>
              <a:rPr lang="en" sz="1600">
                <a:solidFill>
                  <a:schemeClr val="dk1"/>
                </a:solidFill>
              </a:rPr>
              <a:t> ASCII value to its character version.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</p:txBody>
      </p:sp>
      <p:sp>
        <p:nvSpPr>
          <p:cNvPr id="179" name="Google Shape;179;g2c5b26da192_0_0"/>
          <p:cNvSpPr txBox="1"/>
          <p:nvPr/>
        </p:nvSpPr>
        <p:spPr>
          <a:xfrm>
            <a:off x="453850" y="3668525"/>
            <a:ext cx="4493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you now try to figure out how you can convert an uppercase character to its equivalent lowercase character using the knowledge you gained on ASCII values so far?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/>
        </p:nvSpPr>
        <p:spPr>
          <a:xfrm>
            <a:off x="311700" y="2098350"/>
            <a:ext cx="85206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1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