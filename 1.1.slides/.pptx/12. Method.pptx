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Open Sans ExtraBold"/>
      <p:bold r:id="rId26"/>
      <p:boldItalic r:id="rId27"/>
    </p:embeddedFont>
    <p:embeddedFont>
      <p:font typeface="Open Sans Medium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6" roundtripDataSignature="AMtx7mhUpvhO6tSlKoy071WI3xZGHPEg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ExtraBold-bold.fntdata"/><Relationship Id="rId25" Type="http://schemas.openxmlformats.org/officeDocument/2006/relationships/slide" Target="slides/slide20.xml"/><Relationship Id="rId28" Type="http://schemas.openxmlformats.org/officeDocument/2006/relationships/font" Target="fonts/OpenSansMedium-regular.fntdata"/><Relationship Id="rId27" Type="http://schemas.openxmlformats.org/officeDocument/2006/relationships/font" Target="fonts/OpenSan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Medium-boldItalic.fntdata"/><Relationship Id="rId30" Type="http://schemas.openxmlformats.org/officeDocument/2006/relationships/font" Target="fonts/OpenSansMedium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Method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Methods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11700" y="1381075"/>
            <a:ext cx="85206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Reusable blocks of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 specific tasks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called from any part of the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Consists of input parameters and return values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Enhances code reusability, modularity, and maintainability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known as function in some other languages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/>
        </p:nvSpPr>
        <p:spPr>
          <a:xfrm>
            <a:off x="311700" y="1228675"/>
            <a:ext cx="8520600" cy="3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Pre-defined/ built-in method: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methods are already defined in java libraries e.g: .length(), .equals(), .compareTo(), .toLowerCase() etc.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User-defined method: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are the methods written by the programmer.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lesson, 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learn how to write user-defined methods.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Methods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/>
        </p:nvSpPr>
        <p:spPr>
          <a:xfrm>
            <a:off x="311700" y="749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Method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331200" y="1476850"/>
            <a:ext cx="84816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static method belongs to the class and not to the instance of a class.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it belongs to the class, it can be called without creating any object.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 the keyword “static” to define a method as static.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call a static method from inside any other static method.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/>
        </p:nvSpPr>
        <p:spPr>
          <a:xfrm>
            <a:off x="540300" y="1228675"/>
            <a:ext cx="8520600" cy="28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mainly 2 parts of using a user-defined method: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declaration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calling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Declaration can be further broken down into more parts.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User-Defined Methods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/>
        </p:nvSpPr>
        <p:spPr>
          <a:xfrm>
            <a:off x="311700" y="652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Declaration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312575" y="1351588"/>
            <a:ext cx="84816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method in java is written outside the main() method but inside the class.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following convention is followed when declaring a method: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563225" y="2542225"/>
            <a:ext cx="7980300" cy="165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access_modifier static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return_type 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method_name (</a:t>
            </a:r>
            <a:r>
              <a:rPr b="0" i="0" lang="en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parameter_type parameter_name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{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method body;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return_value;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/>
        </p:nvSpPr>
        <p:spPr>
          <a:xfrm>
            <a:off x="1878675" y="2680975"/>
            <a:ext cx="4656300" cy="179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8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add ( </a:t>
            </a:r>
            <a:r>
              <a:rPr b="0" i="0" lang="en" sz="18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a, </a:t>
            </a:r>
            <a:r>
              <a:rPr b="0" i="0" lang="en" sz="18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b){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" sz="18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sum = a+b;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sum;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174285" y="2599246"/>
            <a:ext cx="298589" cy="205822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206677" y="2599246"/>
            <a:ext cx="298589" cy="205822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691003" y="2599246"/>
            <a:ext cx="298589" cy="205822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504865" y="2599246"/>
            <a:ext cx="298589" cy="205822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1599025" y="1808075"/>
            <a:ext cx="1449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Access modifier</a:t>
            </a:r>
            <a:endParaRPr b="1" i="0" sz="1200" u="none" cap="none" strike="noStrike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2777674" y="2049435"/>
            <a:ext cx="1449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Return type</a:t>
            </a:r>
            <a:endParaRPr b="1" i="0" sz="1200" u="none" cap="none" strike="noStrike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3352935" y="1822691"/>
            <a:ext cx="1449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Method name</a:t>
            </a:r>
            <a:endParaRPr b="1" i="0" sz="1200" u="none" cap="none" strike="noStrike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4149658" y="2049435"/>
            <a:ext cx="18462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Method Parameters</a:t>
            </a:r>
            <a:endParaRPr b="1" i="0" sz="1200" u="none" cap="none" strike="noStrike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" name="Google Shape;104;p7"/>
          <p:cNvCxnSpPr>
            <a:endCxn id="96" idx="0"/>
          </p:cNvCxnSpPr>
          <p:nvPr/>
        </p:nvCxnSpPr>
        <p:spPr>
          <a:xfrm>
            <a:off x="2323580" y="2206246"/>
            <a:ext cx="0" cy="39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7"/>
          <p:cNvCxnSpPr/>
          <p:nvPr/>
        </p:nvCxnSpPr>
        <p:spPr>
          <a:xfrm>
            <a:off x="3839352" y="2199708"/>
            <a:ext cx="0" cy="39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7"/>
          <p:cNvCxnSpPr>
            <a:endCxn id="99" idx="0"/>
          </p:cNvCxnSpPr>
          <p:nvPr/>
        </p:nvCxnSpPr>
        <p:spPr>
          <a:xfrm flipH="1">
            <a:off x="4654160" y="2369746"/>
            <a:ext cx="33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7"/>
          <p:cNvCxnSpPr/>
          <p:nvPr/>
        </p:nvCxnSpPr>
        <p:spPr>
          <a:xfrm flipH="1">
            <a:off x="3353450" y="2384704"/>
            <a:ext cx="5100" cy="21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 rot="5400000">
            <a:off x="4521263" y="3324056"/>
            <a:ext cx="326894" cy="188000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7"/>
          <p:cNvCxnSpPr/>
          <p:nvPr/>
        </p:nvCxnSpPr>
        <p:spPr>
          <a:xfrm flipH="1">
            <a:off x="4778591" y="3415797"/>
            <a:ext cx="4419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7"/>
          <p:cNvSpPr/>
          <p:nvPr/>
        </p:nvSpPr>
        <p:spPr>
          <a:xfrm>
            <a:off x="4234525" y="3215199"/>
            <a:ext cx="298800" cy="393000"/>
          </a:xfrm>
          <a:prstGeom prst="rightBrace">
            <a:avLst>
              <a:gd fmla="val 14885" name="adj1"/>
              <a:gd fmla="val 5171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5263265" y="3190497"/>
            <a:ext cx="12717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Method Body</a:t>
            </a:r>
            <a:endParaRPr b="1" i="0" sz="1200" u="none" cap="none" strike="noStrike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7"/>
          <p:cNvSpPr/>
          <p:nvPr/>
        </p:nvSpPr>
        <p:spPr>
          <a:xfrm rot="5400000">
            <a:off x="3794038" y="3752106"/>
            <a:ext cx="326894" cy="188000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7"/>
          <p:cNvCxnSpPr/>
          <p:nvPr/>
        </p:nvCxnSpPr>
        <p:spPr>
          <a:xfrm flipH="1">
            <a:off x="4051366" y="3843847"/>
            <a:ext cx="4419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7"/>
          <p:cNvSpPr txBox="1"/>
          <p:nvPr/>
        </p:nvSpPr>
        <p:spPr>
          <a:xfrm>
            <a:off x="4533315" y="3682647"/>
            <a:ext cx="12717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Return Value</a:t>
            </a:r>
            <a:endParaRPr b="1" i="0" sz="1200" u="none" cap="none" strike="noStrike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-148075" y="1087275"/>
            <a:ext cx="84816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Declaring a method that adds two numbers received as parameters.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311700" y="652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Declaration Cont.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/>
        </p:nvSpPr>
        <p:spPr>
          <a:xfrm>
            <a:off x="311700" y="77901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Body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331200" y="1457188"/>
            <a:ext cx="84816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set of code lines written inside the method.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variable declared inside the scope of a method is not accessible from outside including the parameter variables.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line is executed after the </a:t>
            </a:r>
            <a:r>
              <a:rPr b="0" i="0" lang="en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“return”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/>
        </p:nvSpPr>
        <p:spPr>
          <a:xfrm>
            <a:off x="331200" y="1539225"/>
            <a:ext cx="84816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declare a method we need to define what type of variable the method is returning.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do not explicitly return any data or variable from the method it returns Null and that is declared as “void” in the method declaration.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311700" y="749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Type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7" name="Google Shape;137;p10"/>
          <p:cNvSpPr txBox="1"/>
          <p:nvPr>
            <p:ph type="title"/>
          </p:nvPr>
        </p:nvSpPr>
        <p:spPr>
          <a:xfrm>
            <a:off x="540300" y="410450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void return </a:t>
            </a:r>
            <a:endParaRPr sz="1800"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311700" y="856200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void print_sum(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a,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b) {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sum = a+b;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System</a:t>
            </a:r>
            <a:r>
              <a:rPr lang="en"/>
              <a:t>.out.println(sum);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does not return any value.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294400" y="42127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1</a:t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0" name="Google Shape;140;p10"/>
          <p:cNvSpPr txBox="1"/>
          <p:nvPr>
            <p:ph type="title"/>
          </p:nvPr>
        </p:nvSpPr>
        <p:spPr>
          <a:xfrm>
            <a:off x="3439800" y="421275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int return</a:t>
            </a:r>
            <a:endParaRPr sz="1800"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3211200" y="867025"/>
            <a:ext cx="2808000" cy="15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int sum(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a,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b) {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sum = a+b;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/>
              <a:t>sum;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returns an integer type value.</a:t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3193900" y="43210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2</a:t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3" name="Google Shape;143;p10"/>
          <p:cNvSpPr txBox="1"/>
          <p:nvPr>
            <p:ph type="title"/>
          </p:nvPr>
        </p:nvSpPr>
        <p:spPr>
          <a:xfrm>
            <a:off x="6363125" y="421700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boolean return</a:t>
            </a:r>
            <a:endParaRPr sz="1800"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6134525" y="867450"/>
            <a:ext cx="2808000" cy="378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boolean check(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a) {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    if(a&gt;10){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/>
              <a:t>true;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    else{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	</a:t>
            </a: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/>
              <a:t>false;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    }</a:t>
            </a:r>
            <a:r>
              <a:rPr lang="en">
                <a:solidFill>
                  <a:srgbClr val="0000FF"/>
                </a:solidFill>
              </a:rPr>
              <a:t>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returns a boolean type value.</a:t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6117225" y="43252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3</a:t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6" name="Google Shape;146;p10"/>
          <p:cNvSpPr txBox="1"/>
          <p:nvPr>
            <p:ph type="title"/>
          </p:nvPr>
        </p:nvSpPr>
        <p:spPr>
          <a:xfrm>
            <a:off x="548950" y="2628825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String return </a:t>
            </a:r>
            <a:endParaRPr sz="1800"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320350" y="3074575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String okay(int a, String str1) {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>
                <a:solidFill>
                  <a:srgbClr val="595959"/>
                </a:solidFill>
              </a:rPr>
              <a:t>(a+2)+str1;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returns a String type value.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303050" y="263965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4</a:t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9" name="Google Shape;149;p10"/>
          <p:cNvSpPr txBox="1"/>
          <p:nvPr>
            <p:ph type="title"/>
          </p:nvPr>
        </p:nvSpPr>
        <p:spPr>
          <a:xfrm>
            <a:off x="3464675" y="2628250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double return </a:t>
            </a:r>
            <a:endParaRPr sz="1800"/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3236075" y="3074000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double point(int a) {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/>
              <a:t>    	double db = a/10.0;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>
                <a:solidFill>
                  <a:srgbClr val="595959"/>
                </a:solidFill>
              </a:rPr>
              <a:t>db;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returns a double type variable.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3218775" y="263907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5</a:t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/>
        </p:nvSpPr>
        <p:spPr>
          <a:xfrm>
            <a:off x="311700" y="1476625"/>
            <a:ext cx="8481600" cy="28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run a method we MUST call the method.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call is done inside the main() method.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number of arguments passed must be equal to parameters received.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sequence of the parameters passed is important.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type of the arguments passed must be same as type of parameters being received.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method call, a value is returned to the line of method call.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311700" y="769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Call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Call Cont.</a:t>
            </a:r>
            <a:endParaRPr b="1"/>
          </a:p>
        </p:txBody>
      </p:sp>
      <p:sp>
        <p:nvSpPr>
          <p:cNvPr id="164" name="Google Shape;164;p12"/>
          <p:cNvSpPr txBox="1"/>
          <p:nvPr/>
        </p:nvSpPr>
        <p:spPr>
          <a:xfrm>
            <a:off x="1612200" y="1722775"/>
            <a:ext cx="6162000" cy="18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public static 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main(</a:t>
            </a:r>
            <a:r>
              <a:rPr b="0" i="0" lang="en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[] args){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" sz="15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= add(4,5);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.out.println(answer);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311700" y="1000075"/>
            <a:ext cx="84816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Calling the previously written add method.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1612200" y="3607075"/>
            <a:ext cx="6162000" cy="11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n" sz="101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Welcome to DrJava.  Working directory is E:\Java</a:t>
            </a:r>
            <a:endParaRPr b="0" i="0" sz="10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n" sz="101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run function1</a:t>
            </a:r>
            <a:endParaRPr b="0" i="0" sz="10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n" sz="1012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12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n" sz="101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b="0" i="0" sz="10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 rot="5400000">
            <a:off x="4650913" y="2280806"/>
            <a:ext cx="326894" cy="188000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12"/>
          <p:cNvCxnSpPr/>
          <p:nvPr/>
        </p:nvCxnSpPr>
        <p:spPr>
          <a:xfrm flipH="1">
            <a:off x="4908241" y="2372547"/>
            <a:ext cx="4419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2"/>
          <p:cNvSpPr txBox="1"/>
          <p:nvPr/>
        </p:nvSpPr>
        <p:spPr>
          <a:xfrm>
            <a:off x="5392927" y="2147250"/>
            <a:ext cx="17784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b="1" i="0" lang="en" sz="123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Passing the same type of arguments as declared (int)</a:t>
            </a:r>
            <a:endParaRPr b="1" i="0" sz="123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 rot="-5400000">
            <a:off x="1530919" y="2246081"/>
            <a:ext cx="326894" cy="188000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12"/>
          <p:cNvCxnSpPr/>
          <p:nvPr/>
        </p:nvCxnSpPr>
        <p:spPr>
          <a:xfrm rot="10800000">
            <a:off x="1380475" y="2339775"/>
            <a:ext cx="2199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2"/>
          <p:cNvSpPr txBox="1"/>
          <p:nvPr/>
        </p:nvSpPr>
        <p:spPr>
          <a:xfrm>
            <a:off x="238353" y="2021850"/>
            <a:ext cx="1287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Receiving the value of sum</a:t>
            </a:r>
            <a:endParaRPr b="1" i="0" sz="12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/>
        </p:nvSpPr>
        <p:spPr>
          <a:xfrm>
            <a:off x="311700" y="32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Arguments &amp; Parameters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331200" y="997275"/>
            <a:ext cx="848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sequence of the arguments passed corresponds to the variables receiving the parameters.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 txBox="1"/>
          <p:nvPr>
            <p:ph type="title"/>
          </p:nvPr>
        </p:nvSpPr>
        <p:spPr>
          <a:xfrm>
            <a:off x="632175" y="1880975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300"/>
              <a:t>Method to subtract two numbers</a:t>
            </a:r>
            <a:endParaRPr sz="1300"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403575" y="2326725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void subtract(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a,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b) {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diff = a-b;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System</a:t>
            </a:r>
            <a:r>
              <a:rPr lang="en"/>
              <a:t>.out.println(diff);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42857"/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does not return any value.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386275" y="189180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83" name="Google Shape;183;p13"/>
          <p:cNvSpPr txBox="1"/>
          <p:nvPr>
            <p:ph type="title"/>
          </p:nvPr>
        </p:nvSpPr>
        <p:spPr>
          <a:xfrm>
            <a:off x="3509350" y="1880975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300"/>
              <a:t>Calling subtract</a:t>
            </a:r>
            <a:endParaRPr sz="1300"/>
          </a:p>
        </p:txBody>
      </p:sp>
      <p:sp>
        <p:nvSpPr>
          <p:cNvPr id="184" name="Google Shape;184;p13"/>
          <p:cNvSpPr txBox="1"/>
          <p:nvPr>
            <p:ph idx="1" type="body"/>
          </p:nvPr>
        </p:nvSpPr>
        <p:spPr>
          <a:xfrm>
            <a:off x="3280750" y="2326725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5D5C59"/>
                </a:solidFill>
              </a:rPr>
              <a:t>subtract(2, 3);</a:t>
            </a:r>
            <a:endParaRPr sz="1250">
              <a:solidFill>
                <a:srgbClr val="5D5C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5D5C59"/>
                </a:solidFill>
              </a:rPr>
              <a:t>subtract(3,2);</a:t>
            </a:r>
            <a:endParaRPr sz="1250">
              <a:solidFill>
                <a:srgbClr val="5D5C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250">
              <a:solidFill>
                <a:srgbClr val="5D5C59"/>
              </a:solidFill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3263450" y="189180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86" name="Google Shape;186;p13"/>
          <p:cNvSpPr txBox="1"/>
          <p:nvPr>
            <p:ph type="title"/>
          </p:nvPr>
        </p:nvSpPr>
        <p:spPr>
          <a:xfrm>
            <a:off x="6386525" y="1891800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300"/>
              <a:t>Output</a:t>
            </a:r>
            <a:endParaRPr sz="1300"/>
          </a:p>
        </p:txBody>
      </p:sp>
      <p:sp>
        <p:nvSpPr>
          <p:cNvPr id="187" name="Google Shape;187;p13"/>
          <p:cNvSpPr txBox="1"/>
          <p:nvPr>
            <p:ph idx="1" type="body"/>
          </p:nvPr>
        </p:nvSpPr>
        <p:spPr>
          <a:xfrm>
            <a:off x="6157925" y="2337550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Welcome to DrJava.  Working directory is E:\Java</a:t>
            </a:r>
            <a:endParaRPr sz="10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&gt; run function1</a:t>
            </a:r>
            <a:endParaRPr sz="10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rgbClr val="38761D"/>
                </a:solidFill>
              </a:rPr>
              <a:t>-1</a:t>
            </a:r>
            <a:endParaRPr sz="1012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rgbClr val="38761D"/>
                </a:solidFill>
              </a:rPr>
              <a:t>1</a:t>
            </a:r>
            <a:endParaRPr sz="1012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&gt; </a:t>
            </a:r>
            <a:endParaRPr sz="1250">
              <a:solidFill>
                <a:srgbClr val="6AA84F"/>
              </a:solidFill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6140625" y="190262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403575" y="4020075"/>
            <a:ext cx="848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in case 1: subtract(2,3), the values 2 and 3 will be received as int a = 2 and int b = 3. Therefore, the difference is (2-3) = -1.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case 2: int  a = 3 and int b = 2 and so difference is (3-2) = 1.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/>
        </p:nvSpPr>
        <p:spPr>
          <a:xfrm>
            <a:off x="311700" y="703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 Signature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331200" y="1378275"/>
            <a:ext cx="84816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method is identified based on its name, parameter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it receives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return type.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</a:t>
            </a:r>
            <a:r>
              <a:rPr lang="en" sz="1800">
                <a:solidFill>
                  <a:schemeClr val="dk1"/>
                </a:solidFill>
              </a:rPr>
              <a:t>arguments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 in method call must be equal to the number of parameters received during method declaration.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 methods can have same name but different sets of parameters.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I</a:t>
            </a:r>
            <a:r>
              <a:rPr lang="en" sz="1800">
                <a:solidFill>
                  <a:srgbClr val="FF0000"/>
                </a:solidFill>
              </a:rPr>
              <a:t>t is not possible to have</a:t>
            </a:r>
            <a:r>
              <a:rPr lang="en" sz="1800">
                <a:solidFill>
                  <a:srgbClr val="FF0000"/>
                </a:solidFill>
              </a:rPr>
              <a:t> multiple methods with the same name, same parameters but different return types.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/>
          <p:nvPr>
            <p:ph type="title"/>
          </p:nvPr>
        </p:nvSpPr>
        <p:spPr>
          <a:xfrm>
            <a:off x="327250" y="4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Example 1</a:t>
            </a:r>
            <a:endParaRPr b="1"/>
          </a:p>
        </p:txBody>
      </p:sp>
      <p:sp>
        <p:nvSpPr>
          <p:cNvPr id="202" name="Google Shape;202;p15"/>
          <p:cNvSpPr txBox="1"/>
          <p:nvPr/>
        </p:nvSpPr>
        <p:spPr>
          <a:xfrm>
            <a:off x="688275" y="1446475"/>
            <a:ext cx="4704300" cy="23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func1{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sayHello(){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System.out.println(“Hello!”);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 []args){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sayHello();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98650" y="891025"/>
            <a:ext cx="7970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0" i="0" lang="en" sz="142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Writing a method that prints “Hello!”</a:t>
            </a:r>
            <a:endParaRPr b="0" i="0" sz="1425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05" name="Google Shape;205;p15"/>
          <p:cNvSpPr txBox="1"/>
          <p:nvPr>
            <p:ph type="title"/>
          </p:nvPr>
        </p:nvSpPr>
        <p:spPr>
          <a:xfrm>
            <a:off x="6140400" y="1569700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300"/>
              <a:t>Output</a:t>
            </a:r>
            <a:endParaRPr sz="1300"/>
          </a:p>
        </p:txBody>
      </p:sp>
      <p:sp>
        <p:nvSpPr>
          <p:cNvPr id="206" name="Google Shape;206;p15"/>
          <p:cNvSpPr txBox="1"/>
          <p:nvPr>
            <p:ph idx="1" type="body"/>
          </p:nvPr>
        </p:nvSpPr>
        <p:spPr>
          <a:xfrm>
            <a:off x="5911800" y="2015450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Welcome to DrJava.  Working directory is E:\Java</a:t>
            </a:r>
            <a:endParaRPr sz="10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&gt; run func1</a:t>
            </a:r>
            <a:endParaRPr sz="10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rgbClr val="38761D"/>
                </a:solidFill>
              </a:rPr>
              <a:t>Hello!</a:t>
            </a:r>
            <a:endParaRPr sz="1012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&gt; </a:t>
            </a:r>
            <a:endParaRPr sz="1250">
              <a:solidFill>
                <a:srgbClr val="6AA84F"/>
              </a:solidFill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5894500" y="158052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cxnSp>
        <p:nvCxnSpPr>
          <p:cNvPr id="208" name="Google Shape;208;p15"/>
          <p:cNvCxnSpPr/>
          <p:nvPr/>
        </p:nvCxnSpPr>
        <p:spPr>
          <a:xfrm flipH="1" rot="10800000">
            <a:off x="1909000" y="1876600"/>
            <a:ext cx="1659300" cy="1111800"/>
          </a:xfrm>
          <a:prstGeom prst="bentConnector3">
            <a:avLst>
              <a:gd fmla="val 1834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15"/>
          <p:cNvSpPr txBox="1"/>
          <p:nvPr/>
        </p:nvSpPr>
        <p:spPr>
          <a:xfrm>
            <a:off x="3186625" y="2951375"/>
            <a:ext cx="12111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No arguments and no parameters received</a:t>
            </a:r>
            <a:endParaRPr b="0" i="0" sz="925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2141275" y="1768875"/>
            <a:ext cx="447900" cy="205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15"/>
          <p:cNvCxnSpPr>
            <a:stCxn id="210" idx="2"/>
          </p:cNvCxnSpPr>
          <p:nvPr/>
        </p:nvCxnSpPr>
        <p:spPr>
          <a:xfrm flipH="1" rot="-5400000">
            <a:off x="3757825" y="581475"/>
            <a:ext cx="68700" cy="28539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12" name="Google Shape;212;p15"/>
          <p:cNvSpPr txBox="1"/>
          <p:nvPr/>
        </p:nvSpPr>
        <p:spPr>
          <a:xfrm>
            <a:off x="4911175" y="2005225"/>
            <a:ext cx="12111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Void return type as no value is being returned from inside</a:t>
            </a:r>
            <a:endParaRPr b="0" i="0" sz="925" u="none" cap="none" strike="noStrike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3" name="Google Shape;213;p15"/>
          <p:cNvCxnSpPr/>
          <p:nvPr/>
        </p:nvCxnSpPr>
        <p:spPr>
          <a:xfrm>
            <a:off x="5219125" y="2042775"/>
            <a:ext cx="9300" cy="72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Example 2</a:t>
            </a:r>
            <a:endParaRPr b="1"/>
          </a:p>
        </p:txBody>
      </p:sp>
      <p:sp>
        <p:nvSpPr>
          <p:cNvPr id="219" name="Google Shape;219;p16"/>
          <p:cNvSpPr txBox="1"/>
          <p:nvPr/>
        </p:nvSpPr>
        <p:spPr>
          <a:xfrm>
            <a:off x="688275" y="1065475"/>
            <a:ext cx="4704300" cy="38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func1{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String divThree(int num){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if(num%3==0){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return “Divisible by 3”;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else{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return “Not divisible by 3”;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 []args){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answer = divThree(13);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System.out.println(answer);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3100" y="619075"/>
            <a:ext cx="7970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0" i="0" lang="en" sz="142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Writing a method that checks if a number divisible by three or not.</a:t>
            </a:r>
            <a:endParaRPr b="0" i="0" sz="1425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3882125" y="4232500"/>
            <a:ext cx="175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line will invoke a method call.</a:t>
            </a:r>
            <a:endParaRPr b="0" i="0" sz="925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2215525" y="3059800"/>
            <a:ext cx="1595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This value will be returned to the line of method call</a:t>
            </a:r>
            <a:endParaRPr b="0" i="0" sz="925" u="none" cap="none" strike="noStrike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4572000" y="2989550"/>
            <a:ext cx="13551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rPr b="0" i="0" lang="en" sz="925" u="none" cap="none" strike="noStrike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13 will be received by num. And num = 13 will be accessible inside the function.</a:t>
            </a:r>
            <a:endParaRPr b="0" i="0" sz="925" u="none" cap="none" strike="noStrike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25" name="Google Shape;225;p16"/>
          <p:cNvSpPr txBox="1"/>
          <p:nvPr>
            <p:ph type="title"/>
          </p:nvPr>
        </p:nvSpPr>
        <p:spPr>
          <a:xfrm>
            <a:off x="6140400" y="1645900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300"/>
              <a:t>Output</a:t>
            </a:r>
            <a:endParaRPr sz="1300"/>
          </a:p>
        </p:txBody>
      </p:sp>
      <p:sp>
        <p:nvSpPr>
          <p:cNvPr id="226" name="Google Shape;226;p16"/>
          <p:cNvSpPr txBox="1"/>
          <p:nvPr>
            <p:ph idx="1" type="body"/>
          </p:nvPr>
        </p:nvSpPr>
        <p:spPr>
          <a:xfrm>
            <a:off x="5911800" y="2091650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Welcome to DrJava.  Working directory is E:\Java</a:t>
            </a:r>
            <a:endParaRPr sz="10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&gt; run func1</a:t>
            </a:r>
            <a:endParaRPr sz="10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rgbClr val="38761D"/>
                </a:solidFill>
              </a:rPr>
              <a:t>Not divisible by 3</a:t>
            </a:r>
            <a:endParaRPr sz="1012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&gt; </a:t>
            </a:r>
            <a:endParaRPr sz="1250">
              <a:solidFill>
                <a:srgbClr val="6AA84F"/>
              </a:solidFill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5894500" y="165672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cxnSp>
        <p:nvCxnSpPr>
          <p:cNvPr id="228" name="Google Shape;228;p16"/>
          <p:cNvCxnSpPr/>
          <p:nvPr/>
        </p:nvCxnSpPr>
        <p:spPr>
          <a:xfrm rot="10800000">
            <a:off x="3222800" y="4065400"/>
            <a:ext cx="716100" cy="3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16"/>
          <p:cNvCxnSpPr/>
          <p:nvPr/>
        </p:nvCxnSpPr>
        <p:spPr>
          <a:xfrm flipH="1">
            <a:off x="2098225" y="2926550"/>
            <a:ext cx="193500" cy="945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30" name="Google Shape;230;p16"/>
          <p:cNvGrpSpPr/>
          <p:nvPr/>
        </p:nvGrpSpPr>
        <p:grpSpPr>
          <a:xfrm>
            <a:off x="3490125" y="1558875"/>
            <a:ext cx="1112900" cy="2411400"/>
            <a:chOff x="3490125" y="1482675"/>
            <a:chExt cx="1112900" cy="2411400"/>
          </a:xfrm>
        </p:grpSpPr>
        <p:cxnSp>
          <p:nvCxnSpPr>
            <p:cNvPr id="231" name="Google Shape;231;p16"/>
            <p:cNvCxnSpPr/>
            <p:nvPr/>
          </p:nvCxnSpPr>
          <p:spPr>
            <a:xfrm flipH="1" rot="5400000">
              <a:off x="3130925" y="2421975"/>
              <a:ext cx="2411400" cy="532800"/>
            </a:xfrm>
            <a:prstGeom prst="bentConnector3">
              <a:avLst>
                <a:gd fmla="val 53160" name="adj1"/>
              </a:avLst>
            </a:prstGeom>
            <a:noFill/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2" name="Google Shape;232;p16"/>
            <p:cNvCxnSpPr/>
            <p:nvPr/>
          </p:nvCxnSpPr>
          <p:spPr>
            <a:xfrm>
              <a:off x="3490125" y="3888775"/>
              <a:ext cx="1110000" cy="600"/>
            </a:xfrm>
            <a:prstGeom prst="bentConnector3">
              <a:avLst>
                <a:gd fmla="val 50432" name="adj1"/>
              </a:avLst>
            </a:prstGeom>
            <a:noFill/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Example 3</a:t>
            </a:r>
            <a:endParaRPr b="1"/>
          </a:p>
        </p:txBody>
      </p:sp>
      <p:sp>
        <p:nvSpPr>
          <p:cNvPr id="238" name="Google Shape;238;p17"/>
          <p:cNvSpPr txBox="1"/>
          <p:nvPr/>
        </p:nvSpPr>
        <p:spPr>
          <a:xfrm>
            <a:off x="688275" y="1065475"/>
            <a:ext cx="5103300" cy="38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func1{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findLargest(int num1, int num2){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if(num1&gt;num2){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System.out.println(num1);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else{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System.out.println(num2);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 []args){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findLargest(13, -10);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83100" y="619075"/>
            <a:ext cx="7970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0" i="0" lang="en" sz="142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Writing a method that prints the largest number out of two numbers.</a:t>
            </a:r>
            <a:endParaRPr b="0" i="0" sz="1425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41" name="Google Shape;241;p17"/>
          <p:cNvSpPr txBox="1"/>
          <p:nvPr>
            <p:ph type="title"/>
          </p:nvPr>
        </p:nvSpPr>
        <p:spPr>
          <a:xfrm>
            <a:off x="6311850" y="1522675"/>
            <a:ext cx="2579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300"/>
              <a:t>Output</a:t>
            </a:r>
            <a:endParaRPr sz="1300"/>
          </a:p>
        </p:txBody>
      </p:sp>
      <p:sp>
        <p:nvSpPr>
          <p:cNvPr id="242" name="Google Shape;242;p17"/>
          <p:cNvSpPr txBox="1"/>
          <p:nvPr>
            <p:ph idx="1" type="body"/>
          </p:nvPr>
        </p:nvSpPr>
        <p:spPr>
          <a:xfrm>
            <a:off x="6083250" y="1968425"/>
            <a:ext cx="2808000" cy="15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Welcome to DrJava.  Working directory is E:\Java</a:t>
            </a:r>
            <a:endParaRPr sz="10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&gt; run func1</a:t>
            </a:r>
            <a:endParaRPr sz="10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012">
                <a:solidFill>
                  <a:srgbClr val="38761D"/>
                </a:solidFill>
              </a:rPr>
              <a:t>13</a:t>
            </a:r>
            <a:endParaRPr sz="1012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012">
                <a:solidFill>
                  <a:schemeClr val="dk1"/>
                </a:solidFill>
              </a:rPr>
              <a:t>&gt; </a:t>
            </a:r>
            <a:endParaRPr sz="1250">
              <a:solidFill>
                <a:srgbClr val="6AA84F"/>
              </a:solidFill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6065950" y="153350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cxnSp>
        <p:nvCxnSpPr>
          <p:cNvPr id="244" name="Google Shape;244;p17"/>
          <p:cNvCxnSpPr/>
          <p:nvPr/>
        </p:nvCxnSpPr>
        <p:spPr>
          <a:xfrm rot="-5400000">
            <a:off x="2004450" y="1816025"/>
            <a:ext cx="2414100" cy="2040900"/>
          </a:xfrm>
          <a:prstGeom prst="curvedConnector3">
            <a:avLst>
              <a:gd fmla="val -3780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" name="Google Shape;245;p17"/>
          <p:cNvSpPr/>
          <p:nvPr/>
        </p:nvSpPr>
        <p:spPr>
          <a:xfrm>
            <a:off x="2132975" y="1397096"/>
            <a:ext cx="456300" cy="182400"/>
          </a:xfrm>
          <a:prstGeom prst="flowChartAlternateProcess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17"/>
          <p:cNvCxnSpPr/>
          <p:nvPr/>
        </p:nvCxnSpPr>
        <p:spPr>
          <a:xfrm rot="-5400000">
            <a:off x="2599100" y="1647425"/>
            <a:ext cx="2472300" cy="2319900"/>
          </a:xfrm>
          <a:prstGeom prst="curvedConnector3">
            <a:avLst>
              <a:gd fmla="val -8389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7" name="Google Shape;247;p17"/>
          <p:cNvCxnSpPr/>
          <p:nvPr/>
        </p:nvCxnSpPr>
        <p:spPr>
          <a:xfrm>
            <a:off x="2614275" y="1561225"/>
            <a:ext cx="3177300" cy="2812500"/>
          </a:xfrm>
          <a:prstGeom prst="curvedConnector3">
            <a:avLst>
              <a:gd fmla="val 61097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48" name="Google Shape;248;p17"/>
          <p:cNvSpPr txBox="1"/>
          <p:nvPr/>
        </p:nvSpPr>
        <p:spPr>
          <a:xfrm>
            <a:off x="3250275" y="3840325"/>
            <a:ext cx="19053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num1 = 13       num2 = -10</a:t>
            </a:r>
            <a:endParaRPr b="0" i="0" sz="950" u="none" cap="none" strike="noStrike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5791575" y="4039525"/>
            <a:ext cx="11130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void return </a:t>
            </a:r>
            <a:endParaRPr b="0" i="0" sz="95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since no return</a:t>
            </a:r>
            <a:endParaRPr b="0" i="0" sz="95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statement.</a:t>
            </a:r>
            <a:endParaRPr b="0" i="0" sz="95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type="ctrTitle"/>
          </p:nvPr>
        </p:nvSpPr>
        <p:spPr>
          <a:xfrm>
            <a:off x="311700" y="1420850"/>
            <a:ext cx="85206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Open Sans"/>
                <a:ea typeface="Open Sans"/>
                <a:cs typeface="Open Sans"/>
                <a:sym typeface="Open Sans"/>
              </a:rPr>
              <a:t>To do</a:t>
            </a:r>
            <a:endParaRPr sz="4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Write a method named evenPositive to find even and positive numbers from an array of numbers.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/>
        </p:nvSpPr>
        <p:spPr>
          <a:xfrm>
            <a:off x="412700" y="1232150"/>
            <a:ext cx="42414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call a method from inside another method.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method1() called from the main() method.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method2() called from method1().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266950" y="582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Calling a Method from another Method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5060350" y="1232150"/>
            <a:ext cx="3727200" cy="2349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Methods 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method1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void method1(){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.print("CSE");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method2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void method2(){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.print("110");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5060350" y="3581750"/>
            <a:ext cx="3727200" cy="641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CSE110</a:t>
            </a:r>
            <a:endParaRPr b="0" i="0" sz="9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 txBox="1"/>
          <p:nvPr/>
        </p:nvSpPr>
        <p:spPr>
          <a:xfrm>
            <a:off x="412700" y="734900"/>
            <a:ext cx="4241400" cy="42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Now, can you print a triangular palindrome like the following using a method called show_triangle()? Note that you have to take the help of show_spaces() and show_palindrome()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050" u="none" cap="none" strike="noStrike">
              <a:solidFill>
                <a:schemeClr val="accent2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121</a:t>
            </a:r>
            <a:endParaRPr b="0" i="0" sz="1050" u="none" cap="none" strike="noStrike">
              <a:solidFill>
                <a:schemeClr val="accent2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12321</a:t>
            </a:r>
            <a:endParaRPr b="0" i="0" sz="1050" u="none" cap="none" strike="noStrike">
              <a:solidFill>
                <a:schemeClr val="accent2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1234321</a:t>
            </a:r>
            <a:endParaRPr b="0" i="0" sz="1050" u="none" cap="none" strike="noStrike">
              <a:solidFill>
                <a:schemeClr val="accent2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123454321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show_spaces() method prints a number of spaces passed to its parameter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show_palindrome() prints a palindrome. These methods are already done for you.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311700" y="512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5060350" y="626125"/>
            <a:ext cx="3727200" cy="4430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MethodCalling 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show_triangle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(4);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.println();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show_triangle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(5);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void show_spaces(int a){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for (int i = 0; i&lt;a; i++){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System.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.print(" ");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void show_palindrome(int b) 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for (int i = 1; i &lt;= b; i++) 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System.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.print(i);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	 for (int i = b - 1; i &gt;= 1; i—-) 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System.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.print(i);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	static void show_triangle(int a){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//To Do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