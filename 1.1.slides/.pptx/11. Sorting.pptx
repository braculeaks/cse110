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j8+OxvSNd/wUPCvuEGb455N7xi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6A305C-DFA5-4BA3-A9DA-B24A701F4D32}">
  <a:tblStyle styleId="{E76A305C-DFA5-4BA3-A9DA-B24A701F4D3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Sorting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is Sorting?</a:t>
            </a:r>
            <a:endParaRPr/>
          </a:p>
        </p:txBody>
      </p:sp>
      <p:sp>
        <p:nvSpPr>
          <p:cNvPr id="60" name="Google Shape;60;p2"/>
          <p:cNvSpPr txBox="1"/>
          <p:nvPr>
            <p:ph idx="1" type="body"/>
          </p:nvPr>
        </p:nvSpPr>
        <p:spPr>
          <a:xfrm>
            <a:off x="341975" y="1129775"/>
            <a:ext cx="8520600" cy="3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Taking an array or list of unordered elements and turning it into a sorted array or list.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Arranging elements done in a certain order (Ascending or Descending).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sort(): default function in java, sorts array in ascending order.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2068075" y="2237200"/>
            <a:ext cx="5471700" cy="22119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1" i="0" lang="en" sz="100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java.util.Arrays;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1" i="0" lang="en" sz="100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Sort {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i="0" lang="en" sz="100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 args[]) {</a:t>
            </a:r>
            <a:endParaRPr b="1" i="0" sz="1000" u="none" cap="none" strike="noStrike">
              <a:solidFill>
                <a:srgbClr val="0066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AutoNum type="arabicPeriod"/>
            </a:pPr>
            <a:r>
              <a:rPr b="1" i="0" lang="en" sz="100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     int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b="0" i="0" lang="en" sz="10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28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-</a:t>
            </a:r>
            <a:r>
              <a:rPr b="0" i="0" lang="en" sz="100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Arrays.sort(array); 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System.out.println(</a:t>
            </a:r>
            <a:r>
              <a:rPr b="0" i="0" lang="en" sz="1000" u="none" cap="none" strike="noStrike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 "</a:t>
            </a: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System.out.println(Arrays.toString(array));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2100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AutoNum type="arabicPeriod"/>
            </a:pPr>
            <a:r>
              <a:rPr b="0" i="0" lang="en" sz="1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2068075" y="4449000"/>
            <a:ext cx="5471700" cy="515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[-3, 8, 10, 28, 35]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One of the most popular sorting techniques.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Sorting done on comparison basis.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Ex: For sorting in ascending order, first element of array compared with rest of the elements.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Minimum value found and swapped with the first element.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Similarly, second element of array compared with the elements in array after the second element. 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Minimum value found and swapped with the second element.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And so on for the rest of the elements until array is completely sorted.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Selection Sort (Contd.)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300413"/>
            <a:ext cx="757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38996"/>
              <a:buNone/>
            </a:pPr>
            <a:r>
              <a:rPr b="1" lang="en" sz="1400">
                <a:solidFill>
                  <a:schemeClr val="dk1"/>
                </a:solidFill>
              </a:rPr>
              <a:t>Step 1:</a:t>
            </a:r>
            <a:endParaRPr b="1" sz="1400">
              <a:solidFill>
                <a:schemeClr val="dk1"/>
              </a:solidFill>
            </a:endParaRPr>
          </a:p>
        </p:txBody>
      </p:sp>
      <p:graphicFrame>
        <p:nvGraphicFramePr>
          <p:cNvPr id="75" name="Google Shape;75;p4"/>
          <p:cNvGraphicFramePr/>
          <p:nvPr/>
        </p:nvGraphicFramePr>
        <p:xfrm>
          <a:off x="1099075" y="218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6" name="Google Shape;76;p4"/>
          <p:cNvGraphicFramePr/>
          <p:nvPr/>
        </p:nvGraphicFramePr>
        <p:xfrm>
          <a:off x="1099075" y="298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7" name="Google Shape;77;p4"/>
          <p:cNvGraphicFramePr/>
          <p:nvPr/>
        </p:nvGraphicFramePr>
        <p:xfrm>
          <a:off x="1099075" y="374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" name="Google Shape;78;p4"/>
          <p:cNvGraphicFramePr/>
          <p:nvPr/>
        </p:nvGraphicFramePr>
        <p:xfrm>
          <a:off x="1099075" y="133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79" name="Google Shape;79;p4"/>
          <p:cNvSpPr txBox="1"/>
          <p:nvPr/>
        </p:nvSpPr>
        <p:spPr>
          <a:xfrm>
            <a:off x="2983150" y="1624675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Element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 flipH="1">
            <a:off x="1230425" y="1069450"/>
            <a:ext cx="23001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4"/>
          <p:cNvGraphicFramePr/>
          <p:nvPr/>
        </p:nvGraphicFramePr>
        <p:xfrm>
          <a:off x="5668300" y="13380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Google Shape;82;p4"/>
          <p:cNvGraphicFramePr/>
          <p:nvPr/>
        </p:nvGraphicFramePr>
        <p:xfrm>
          <a:off x="5668300" y="2120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Google Shape;83;p4"/>
          <p:cNvGraphicFramePr/>
          <p:nvPr/>
        </p:nvGraphicFramePr>
        <p:xfrm>
          <a:off x="5668300" y="2987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Google Shape;84;p4"/>
          <p:cNvGraphicFramePr/>
          <p:nvPr/>
        </p:nvGraphicFramePr>
        <p:xfrm>
          <a:off x="5668300" y="3743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4"/>
          <p:cNvSpPr/>
          <p:nvPr/>
        </p:nvSpPr>
        <p:spPr>
          <a:xfrm flipH="1">
            <a:off x="1841125" y="1888150"/>
            <a:ext cx="12378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 flipH="1">
            <a:off x="2832150" y="3560975"/>
            <a:ext cx="757800" cy="1824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992175" y="1469325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4097625" y="1214400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Swapping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992175" y="2297100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 txBox="1"/>
          <p:nvPr/>
        </p:nvSpPr>
        <p:spPr>
          <a:xfrm>
            <a:off x="4097625" y="2042175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Swapping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987075" y="3124863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992175" y="3874525"/>
            <a:ext cx="1376400" cy="12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 txBox="1"/>
          <p:nvPr/>
        </p:nvSpPr>
        <p:spPr>
          <a:xfrm>
            <a:off x="4061475" y="2722175"/>
            <a:ext cx="1237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Swapped with Own Element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4112925" y="3619563"/>
            <a:ext cx="114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After Swapping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2419050" y="2492688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Element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2983150" y="4035650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Element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7" name="Google Shape;97;p4"/>
          <p:cNvGraphicFramePr/>
          <p:nvPr/>
        </p:nvGraphicFramePr>
        <p:xfrm>
          <a:off x="5668288" y="4447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4"/>
          <p:cNvSpPr txBox="1"/>
          <p:nvPr/>
        </p:nvSpPr>
        <p:spPr>
          <a:xfrm>
            <a:off x="5033975" y="662500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Initial Array</a:t>
            </a:r>
            <a:endParaRPr b="1" i="0" sz="1300" u="none" cap="none" strike="noStrike">
              <a:solidFill>
                <a:srgbClr val="006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9" name="Google Shape;99;p4"/>
          <p:cNvGraphicFramePr/>
          <p:nvPr/>
        </p:nvGraphicFramePr>
        <p:xfrm>
          <a:off x="5668300" y="646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518675"/>
                <a:gridCol w="518675"/>
                <a:gridCol w="518675"/>
                <a:gridCol w="518675"/>
                <a:gridCol w="518675"/>
              </a:tblGrid>
              <a:tr h="365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>
                        <a:highlight>
                          <a:schemeClr val="accent6"/>
                        </a:highlight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8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3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0" name="Google Shape;100;p4"/>
          <p:cNvSpPr txBox="1"/>
          <p:nvPr/>
        </p:nvSpPr>
        <p:spPr>
          <a:xfrm>
            <a:off x="5033975" y="4470875"/>
            <a:ext cx="5322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Final Array</a:t>
            </a:r>
            <a:endParaRPr b="1" i="0" sz="1300" u="none" cap="none" strike="noStrike">
              <a:solidFill>
                <a:srgbClr val="006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1926263" y="3353613"/>
            <a:ext cx="9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 Element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 flipH="1">
            <a:off x="2225375" y="2721725"/>
            <a:ext cx="255000" cy="2685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311700" y="2149300"/>
            <a:ext cx="757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38996"/>
              <a:buNone/>
            </a:pPr>
            <a:r>
              <a:rPr b="1" lang="en" sz="1400">
                <a:solidFill>
                  <a:schemeClr val="dk1"/>
                </a:solidFill>
              </a:rPr>
              <a:t>Step 2: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311700" y="2950250"/>
            <a:ext cx="757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38996"/>
              <a:buNone/>
            </a:pPr>
            <a:r>
              <a:rPr b="1" lang="en" sz="1400">
                <a:solidFill>
                  <a:schemeClr val="dk1"/>
                </a:solidFill>
              </a:rPr>
              <a:t>Step 3:</a:t>
            </a:r>
            <a:endParaRPr b="1" sz="1400">
              <a:solidFill>
                <a:schemeClr val="dk1"/>
              </a:solidFill>
            </a:endParaRPr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311700" y="3705650"/>
            <a:ext cx="757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138996"/>
              <a:buNone/>
            </a:pPr>
            <a:r>
              <a:rPr b="1" lang="en" sz="1400">
                <a:solidFill>
                  <a:schemeClr val="dk1"/>
                </a:solidFill>
              </a:rPr>
              <a:t>Step 4:</a:t>
            </a:r>
            <a:endParaRPr b="1" sz="14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Selection Sort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311700" y="1152475"/>
            <a:ext cx="8520600" cy="3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311700" y="1107800"/>
            <a:ext cx="5399400" cy="37938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AutoNum type="arabicPeriod"/>
            </a:pP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AutoNum type="arabicPeriod"/>
            </a:pP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array.length -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{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min_index = i;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 = i +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 &lt; array.length; j++){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(array[j] &lt; array[min_index]){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min_index = j;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1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temp = array[min_index]; 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array[min_index] = array[i];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array[i] = temp;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b="0" i="0" lang="en" sz="1050" u="none" cap="none" strike="noStrike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 "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System.out.println(Arrays.toString(array));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5711100" y="2518800"/>
            <a:ext cx="31692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[3, 8, 10, 20, 25]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Bubble Sort</a:t>
            </a:r>
            <a:endParaRPr/>
          </a:p>
        </p:txBody>
      </p:sp>
      <p:sp>
        <p:nvSpPr>
          <p:cNvPr id="119" name="Google Shape;119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Sorting done by comparing two adjacent elements in an array in each iteration and swapping them.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Process repeated till array is sorted and swapping not needed.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At the end of each iteration of outer loop, one element from the last of array sorted.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Bubble Sort (Contd.)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Initial Array: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Step 1 :</a:t>
            </a:r>
            <a:endParaRPr b="1" sz="1600">
              <a:solidFill>
                <a:schemeClr val="dk1"/>
              </a:solidFill>
            </a:endParaRPr>
          </a:p>
        </p:txBody>
      </p:sp>
      <p:graphicFrame>
        <p:nvGraphicFramePr>
          <p:cNvPr id="126" name="Google Shape;126;p7"/>
          <p:cNvGraphicFramePr/>
          <p:nvPr/>
        </p:nvGraphicFramePr>
        <p:xfrm>
          <a:off x="1851450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7" name="Google Shape;127;p7"/>
          <p:cNvGraphicFramePr/>
          <p:nvPr/>
        </p:nvGraphicFramePr>
        <p:xfrm>
          <a:off x="1851450" y="171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8" name="Google Shape;128;p7"/>
          <p:cNvGraphicFramePr/>
          <p:nvPr/>
        </p:nvGraphicFramePr>
        <p:xfrm>
          <a:off x="1851450" y="247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29" name="Google Shape;129;p7"/>
          <p:cNvGraphicFramePr/>
          <p:nvPr/>
        </p:nvGraphicFramePr>
        <p:xfrm>
          <a:off x="1851450" y="324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cxnSp>
        <p:nvCxnSpPr>
          <p:cNvPr id="130" name="Google Shape;130;p7"/>
          <p:cNvCxnSpPr/>
          <p:nvPr/>
        </p:nvCxnSpPr>
        <p:spPr>
          <a:xfrm>
            <a:off x="2173350" y="20911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31" name="Google Shape;131;p7"/>
          <p:cNvCxnSpPr/>
          <p:nvPr/>
        </p:nvCxnSpPr>
        <p:spPr>
          <a:xfrm rot="10800000">
            <a:off x="2932225" y="20911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2" name="Google Shape;132;p7"/>
          <p:cNvCxnSpPr/>
          <p:nvPr/>
        </p:nvCxnSpPr>
        <p:spPr>
          <a:xfrm>
            <a:off x="2704150" y="284540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33" name="Google Shape;133;p7"/>
          <p:cNvCxnSpPr/>
          <p:nvPr/>
        </p:nvCxnSpPr>
        <p:spPr>
          <a:xfrm rot="10800000">
            <a:off x="3463025" y="284537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" name="Google Shape;134;p7"/>
          <p:cNvCxnSpPr/>
          <p:nvPr/>
        </p:nvCxnSpPr>
        <p:spPr>
          <a:xfrm>
            <a:off x="3300275" y="36091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35" name="Google Shape;135;p7"/>
          <p:cNvCxnSpPr/>
          <p:nvPr/>
        </p:nvCxnSpPr>
        <p:spPr>
          <a:xfrm rot="10800000">
            <a:off x="4059150" y="36091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36" name="Google Shape;136;p7"/>
          <p:cNvGraphicFramePr/>
          <p:nvPr/>
        </p:nvGraphicFramePr>
        <p:xfrm>
          <a:off x="1851450" y="4059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7"/>
          <p:cNvSpPr txBox="1"/>
          <p:nvPr/>
        </p:nvSpPr>
        <p:spPr>
          <a:xfrm>
            <a:off x="3543525" y="2875025"/>
            <a:ext cx="8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No swap</a:t>
            </a:r>
            <a:endParaRPr b="1" i="0" sz="1000" u="none" cap="none" strike="noStrike">
              <a:solidFill>
                <a:srgbClr val="0066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5229925" y="3934863"/>
            <a:ext cx="34446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Maximum element, i.e. 20 sorted at the end of first iteration of outer loop.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Bubble Sort (Contd.)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Step 2 :</a:t>
            </a:r>
            <a:endParaRPr b="1" sz="1600">
              <a:solidFill>
                <a:schemeClr val="dk1"/>
              </a:solidFill>
            </a:endParaRPr>
          </a:p>
        </p:txBody>
      </p:sp>
      <p:graphicFrame>
        <p:nvGraphicFramePr>
          <p:cNvPr id="145" name="Google Shape;145;p8"/>
          <p:cNvGraphicFramePr/>
          <p:nvPr/>
        </p:nvGraphicFramePr>
        <p:xfrm>
          <a:off x="1756575" y="12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6" name="Google Shape;146;p8"/>
          <p:cNvGraphicFramePr/>
          <p:nvPr/>
        </p:nvGraphicFramePr>
        <p:xfrm>
          <a:off x="1756575" y="1991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47" name="Google Shape;147;p8"/>
          <p:cNvGraphicFramePr/>
          <p:nvPr/>
        </p:nvGraphicFramePr>
        <p:xfrm>
          <a:off x="1756575" y="2755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48" name="Google Shape;148;p8"/>
          <p:cNvCxnSpPr/>
          <p:nvPr/>
        </p:nvCxnSpPr>
        <p:spPr>
          <a:xfrm>
            <a:off x="2078475" y="160345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49" name="Google Shape;149;p8"/>
          <p:cNvCxnSpPr/>
          <p:nvPr/>
        </p:nvCxnSpPr>
        <p:spPr>
          <a:xfrm rot="10800000">
            <a:off x="2837350" y="160342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0" name="Google Shape;150;p8"/>
          <p:cNvCxnSpPr/>
          <p:nvPr/>
        </p:nvCxnSpPr>
        <p:spPr>
          <a:xfrm>
            <a:off x="2609275" y="2357725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51" name="Google Shape;151;p8"/>
          <p:cNvCxnSpPr/>
          <p:nvPr/>
        </p:nvCxnSpPr>
        <p:spPr>
          <a:xfrm rot="10800000">
            <a:off x="3368150" y="2357700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2" name="Google Shape;152;p8"/>
          <p:cNvSpPr txBox="1"/>
          <p:nvPr/>
        </p:nvSpPr>
        <p:spPr>
          <a:xfrm>
            <a:off x="4966400" y="2630750"/>
            <a:ext cx="36678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maximum element, i.e. 10 sorted at the end of second iteration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outer loop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2920250" y="1550500"/>
            <a:ext cx="8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006699"/>
                </a:solidFill>
                <a:latin typeface="Arial"/>
                <a:ea typeface="Arial"/>
                <a:cs typeface="Arial"/>
                <a:sym typeface="Arial"/>
              </a:rPr>
              <a:t>No swap</a:t>
            </a:r>
            <a:endParaRPr b="1" i="0" sz="1000" u="none" cap="none" strike="noStrike">
              <a:solidFill>
                <a:srgbClr val="0066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Bubble Sort (Contd.)</a:t>
            </a:r>
            <a:endParaRPr/>
          </a:p>
        </p:txBody>
      </p:sp>
      <p:sp>
        <p:nvSpPr>
          <p:cNvPr id="159" name="Google Shape;159;p9"/>
          <p:cNvSpPr txBox="1"/>
          <p:nvPr>
            <p:ph idx="1" type="body"/>
          </p:nvPr>
        </p:nvSpPr>
        <p:spPr>
          <a:xfrm>
            <a:off x="311700" y="1152475"/>
            <a:ext cx="8741700" cy="3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Step 3 :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en" sz="1600">
                <a:solidFill>
                  <a:schemeClr val="dk1"/>
                </a:solidFill>
              </a:rPr>
              <a:t>Final Array:</a:t>
            </a:r>
            <a:endParaRPr b="1" sz="1600">
              <a:solidFill>
                <a:schemeClr val="dk1"/>
              </a:solidFill>
            </a:endParaRPr>
          </a:p>
        </p:txBody>
      </p:sp>
      <p:graphicFrame>
        <p:nvGraphicFramePr>
          <p:cNvPr id="160" name="Google Shape;160;p9"/>
          <p:cNvGraphicFramePr/>
          <p:nvPr/>
        </p:nvGraphicFramePr>
        <p:xfrm>
          <a:off x="1756575" y="122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61" name="Google Shape;161;p9"/>
          <p:cNvCxnSpPr/>
          <p:nvPr/>
        </p:nvCxnSpPr>
        <p:spPr>
          <a:xfrm>
            <a:off x="2078475" y="1603450"/>
            <a:ext cx="759000" cy="23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62" name="Google Shape;162;p9"/>
          <p:cNvCxnSpPr/>
          <p:nvPr/>
        </p:nvCxnSpPr>
        <p:spPr>
          <a:xfrm rot="10800000">
            <a:off x="2837350" y="1603425"/>
            <a:ext cx="0" cy="23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9"/>
          <p:cNvSpPr txBox="1"/>
          <p:nvPr/>
        </p:nvSpPr>
        <p:spPr>
          <a:xfrm>
            <a:off x="4839925" y="1103313"/>
            <a:ext cx="3667800" cy="615600"/>
          </a:xfrm>
          <a:prstGeom prst="rect">
            <a:avLst/>
          </a:prstGeom>
          <a:noFill/>
          <a:ln cap="flat" cmpd="sng" w="9525">
            <a:solidFill>
              <a:srgbClr val="0066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Remaining elements sorted at the end of third iteration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outer loop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4" name="Google Shape;164;p9"/>
          <p:cNvGraphicFramePr/>
          <p:nvPr/>
        </p:nvGraphicFramePr>
        <p:xfrm>
          <a:off x="1756575" y="212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{E76A305C-DFA5-4BA3-A9DA-B24A701F4D32}</a:tableStyleId>
              </a:tblPr>
              <a:tblGrid>
                <a:gridCol w="616100"/>
                <a:gridCol w="616100"/>
                <a:gridCol w="616100"/>
                <a:gridCol w="616100"/>
              </a:tblGrid>
              <a:tr h="247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5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20</a:t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"/>
          <p:cNvSpPr txBox="1"/>
          <p:nvPr>
            <p:ph type="title"/>
          </p:nvPr>
        </p:nvSpPr>
        <p:spPr>
          <a:xfrm>
            <a:off x="311700" y="2225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Bubble Sort (Contd.)</a:t>
            </a:r>
            <a:endParaRPr/>
          </a:p>
        </p:txBody>
      </p:sp>
      <p:sp>
        <p:nvSpPr>
          <p:cNvPr id="170" name="Google Shape;170;p10"/>
          <p:cNvSpPr txBox="1"/>
          <p:nvPr/>
        </p:nvSpPr>
        <p:spPr>
          <a:xfrm>
            <a:off x="311700" y="735426"/>
            <a:ext cx="5399400" cy="42651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5275" lvl="0" marL="457200" marR="25400" rtl="0" algn="l">
              <a:lnSpc>
                <a:spcPct val="15625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java.util.Arrays;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BubbleSort {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 args[]) {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[] array = {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5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20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  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 &lt; array.length -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i++){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</a:t>
            </a:r>
            <a:r>
              <a:rPr b="0" i="0" lang="en" sz="1050" u="none" cap="none" strike="noStrike">
                <a:solidFill>
                  <a:srgbClr val="4A86E8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j =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 &lt; array.length - i -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j++){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(array[j] &gt; array[j +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]) {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" sz="1050" u="none" cap="none" strike="noStrike">
                <a:solidFill>
                  <a:srgbClr val="006699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 = array[j];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array[j] = array[j +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array[j + </a:t>
            </a:r>
            <a:r>
              <a:rPr b="0" i="0" lang="en" sz="1050" u="none" cap="none" strike="noStrike">
                <a:solidFill>
                  <a:srgbClr val="C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temp;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}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}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</a:t>
            </a:r>
            <a:r>
              <a:rPr b="0" i="0" lang="en" sz="1050" u="none" cap="none" strike="noStrike">
                <a:solidFill>
                  <a:srgbClr val="008200"/>
                </a:solidFill>
                <a:latin typeface="Courier New"/>
                <a:ea typeface="Courier New"/>
                <a:cs typeface="Courier New"/>
                <a:sym typeface="Courier New"/>
              </a:rPr>
              <a:t>"Sorted Array in Ascending Order:"</a:t>
            </a: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System.out.println(Arrays.toString(array));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marR="2540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Roboto"/>
              <a:buAutoNum type="arabicPeriod"/>
            </a:pPr>
            <a:r>
              <a:rPr b="0" i="0" lang="en" sz="105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05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1" name="Google Shape;171;p10"/>
          <p:cNvSpPr txBox="1"/>
          <p:nvPr/>
        </p:nvSpPr>
        <p:spPr>
          <a:xfrm>
            <a:off x="5711100" y="2518800"/>
            <a:ext cx="3169200" cy="6927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b="0" i="0" sz="1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[1, 5, 10, 20]</a:t>
            </a:r>
            <a:endParaRPr b="0" i="0" sz="1000" u="none" cap="none" strike="noStrik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"/>
          <p:cNvSpPr txBox="1"/>
          <p:nvPr>
            <p:ph idx="1" type="body"/>
          </p:nvPr>
        </p:nvSpPr>
        <p:spPr>
          <a:xfrm>
            <a:off x="311700" y="1999350"/>
            <a:ext cx="85206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3300">
                <a:solidFill>
                  <a:srgbClr val="000000"/>
                </a:solidFill>
              </a:rPr>
              <a:t>THANK YOU!</a:t>
            </a:r>
            <a:endParaRPr b="1" sz="3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