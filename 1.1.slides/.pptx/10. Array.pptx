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id6QhRXKbPkYQb/q+5eymSlVjZ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D06E87-9DBE-427C-9146-E43D89B61949}">
  <a:tblStyle styleId="{2FD06E87-9DBE-427C-9146-E43D89B6194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/>
              <a:t>Arrays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What is an array?</a:t>
            </a:r>
            <a:endParaRPr b="1"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An array is a collection of values of the same data type.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length of an array remains constant once it’s created.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Multiple elements are separated using comma when initialized.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Arrays are considered as objects in java.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Number of elements of an array is called the length of an array.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Array Declaration</a:t>
            </a:r>
            <a:endParaRPr b="1"/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311700" y="11751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“new” Keyword is used to create arrays.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While initializing an array we declare the type of the elements and the size of the array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Initially array contains the default values of the specified data type.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Syntax: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 txBox="1"/>
          <p:nvPr/>
        </p:nvSpPr>
        <p:spPr>
          <a:xfrm>
            <a:off x="2313450" y="3503725"/>
            <a:ext cx="4611300" cy="4155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1" i="0" lang="en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b="1" i="0" lang="e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array_name  =  new type[size];</a:t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" name="Google Shape;68;p3"/>
          <p:cNvSpPr/>
          <p:nvPr/>
        </p:nvSpPr>
        <p:spPr>
          <a:xfrm rot="5400000">
            <a:off x="5536525" y="2602970"/>
            <a:ext cx="249300" cy="15522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839775" y="2823025"/>
            <a:ext cx="1642800" cy="431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Allocating memory to array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701400" y="4194025"/>
            <a:ext cx="1518300" cy="351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Declaring array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 flipH="1" rot="5400000">
            <a:off x="3323150" y="3096475"/>
            <a:ext cx="274800" cy="1920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2313450" y="3488125"/>
            <a:ext cx="4611300" cy="43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 String</a:t>
            </a:r>
            <a:r>
              <a:rPr b="1" i="0" lang="en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array = </a:t>
            </a:r>
            <a:r>
              <a:rPr b="1" i="0" lang="en" sz="1600" u="none" cap="none" strike="noStrike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new String</a:t>
            </a:r>
            <a:r>
              <a:rPr b="1" i="0" lang="en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[3];</a:t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Array Initialization</a:t>
            </a:r>
            <a:endParaRPr b="1"/>
          </a:p>
        </p:txBody>
      </p:sp>
      <p:sp>
        <p:nvSpPr>
          <p:cNvPr id="78" name="Google Shape;78;p4"/>
          <p:cNvSpPr txBox="1"/>
          <p:nvPr>
            <p:ph idx="1" type="body"/>
          </p:nvPr>
        </p:nvSpPr>
        <p:spPr>
          <a:xfrm>
            <a:off x="311700" y="1163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can initialize an array at the time of declaration.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Initializing using an array initializer (a comma-separated list of expressions enclosed in braces)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Syntax: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 txBox="1"/>
          <p:nvPr/>
        </p:nvSpPr>
        <p:spPr>
          <a:xfrm>
            <a:off x="1790700" y="3202813"/>
            <a:ext cx="5562600" cy="400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 </a:t>
            </a:r>
            <a:r>
              <a:rPr b="1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b="1" i="0" lang="en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array_name = {val1, val2,... valN};</a:t>
            </a:r>
            <a:endParaRPr b="1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" name="Google Shape;80;p4"/>
          <p:cNvSpPr/>
          <p:nvPr/>
        </p:nvSpPr>
        <p:spPr>
          <a:xfrm flipH="1" rot="5400000">
            <a:off x="3031425" y="2763175"/>
            <a:ext cx="240600" cy="1920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2392575" y="3843625"/>
            <a:ext cx="1518300" cy="351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Declaring array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 rot="5400000">
            <a:off x="5791550" y="1979275"/>
            <a:ext cx="271800" cy="2175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106050" y="2499625"/>
            <a:ext cx="1642800" cy="431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Initializing array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1790700" y="3202825"/>
            <a:ext cx="5562600" cy="400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   int </a:t>
            </a:r>
            <a:r>
              <a:rPr b="1" i="0" lang="en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intArray   =   {1,2,</a:t>
            </a:r>
            <a:r>
              <a:rPr b="1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45</a:t>
            </a:r>
            <a:r>
              <a:rPr b="1" i="0" lang="en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,-3,4,7,9,-4};</a:t>
            </a:r>
            <a:endParaRPr b="1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Index of an Array</a:t>
            </a:r>
            <a:endParaRPr b="1"/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328688" y="1118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elements of an array holds a position or index.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first element in every array has index </a:t>
            </a:r>
            <a:r>
              <a:rPr b="1" lang="en">
                <a:solidFill>
                  <a:schemeClr val="dk1"/>
                </a:solidFill>
              </a:rPr>
              <a:t>zero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last element has index number (</a:t>
            </a:r>
            <a:r>
              <a:rPr b="1" lang="en">
                <a:solidFill>
                  <a:schemeClr val="dk1"/>
                </a:solidFill>
              </a:rPr>
              <a:t>array.length - 1)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Index number is enclosed by square brackets [ ]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91" name="Google Shape;91;p5"/>
          <p:cNvGraphicFramePr/>
          <p:nvPr/>
        </p:nvGraphicFramePr>
        <p:xfrm>
          <a:off x="1405675" y="277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{2FD06E87-9DBE-427C-9146-E43D89B61949}</a:tableStyleId>
              </a:tblPr>
              <a:tblGrid>
                <a:gridCol w="882200"/>
                <a:gridCol w="916225"/>
                <a:gridCol w="825550"/>
                <a:gridCol w="814250"/>
                <a:gridCol w="836900"/>
                <a:gridCol w="893525"/>
                <a:gridCol w="836925"/>
                <a:gridCol w="9048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44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-10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38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" name="Google Shape;92;p5"/>
          <p:cNvGraphicFramePr/>
          <p:nvPr/>
        </p:nvGraphicFramePr>
        <p:xfrm>
          <a:off x="1405688" y="33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{2FD06E87-9DBE-427C-9146-E43D89B61949}</a:tableStyleId>
              </a:tblPr>
              <a:tblGrid>
                <a:gridCol w="863800"/>
                <a:gridCol w="934625"/>
                <a:gridCol w="825550"/>
                <a:gridCol w="814250"/>
                <a:gridCol w="836900"/>
                <a:gridCol w="893525"/>
                <a:gridCol w="836925"/>
                <a:gridCol w="904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5"/>
          <p:cNvSpPr txBox="1"/>
          <p:nvPr/>
        </p:nvSpPr>
        <p:spPr>
          <a:xfrm>
            <a:off x="427675" y="2775775"/>
            <a:ext cx="9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427675" y="3370000"/>
            <a:ext cx="9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5"/>
          <p:cNvCxnSpPr/>
          <p:nvPr/>
        </p:nvCxnSpPr>
        <p:spPr>
          <a:xfrm>
            <a:off x="1813350" y="4026425"/>
            <a:ext cx="6095100" cy="1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" name="Google Shape;96;p5"/>
          <p:cNvSpPr txBox="1"/>
          <p:nvPr/>
        </p:nvSpPr>
        <p:spPr>
          <a:xfrm>
            <a:off x="3303150" y="4026425"/>
            <a:ext cx="25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Length = 8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Array Initialization Example</a:t>
            </a:r>
            <a:endParaRPr/>
          </a:p>
        </p:txBody>
      </p:sp>
      <p:sp>
        <p:nvSpPr>
          <p:cNvPr id="102" name="Google Shape;102;p6"/>
          <p:cNvSpPr txBox="1"/>
          <p:nvPr/>
        </p:nvSpPr>
        <p:spPr>
          <a:xfrm>
            <a:off x="1145550" y="1377163"/>
            <a:ext cx="6852900" cy="1877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Array {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b="0" i="0" lang="en" sz="1100" u="none" cap="none" strike="noStrike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100" u="none" cap="none" strike="noStrike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array = </a:t>
            </a:r>
            <a:r>
              <a:rPr b="0" i="0" lang="en" sz="1100" u="none" cap="none" strike="noStrike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new int 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{1,2,3,4};  </a:t>
            </a: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[1, 2, 3, 4]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100" u="none" cap="none" strike="noStrike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array2 = {1,2,3,4,7,9};</a:t>
            </a: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[1, 2, 3, 4, 7, 9]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100" u="none" cap="none" strike="noStrike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array3 = </a:t>
            </a:r>
            <a:r>
              <a:rPr b="0" i="0" lang="en" sz="1100" u="none" cap="none" strike="noStrike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new int 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[3];          </a:t>
            </a: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[0, 0, 0]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array3[0] = 9;                        </a:t>
            </a: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[9, 0, 0]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array3[1] = 5;                        </a:t>
            </a: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[9, 5, 0]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array3[2] = 16;                       </a:t>
            </a: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[9, 5, 16]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810600" y="3448650"/>
            <a:ext cx="752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also initialize an array using loops and taking inputs from the user.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Array Operations</a:t>
            </a:r>
            <a:endParaRPr b="1"/>
          </a:p>
        </p:txBody>
      </p:sp>
      <p:sp>
        <p:nvSpPr>
          <p:cNvPr id="109" name="Google Shape;109;p11"/>
          <p:cNvSpPr txBox="1"/>
          <p:nvPr>
            <p:ph idx="1" type="body"/>
          </p:nvPr>
        </p:nvSpPr>
        <p:spPr>
          <a:xfrm>
            <a:off x="4343400" y="847675"/>
            <a:ext cx="4331100" cy="20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  Length of an array:</a:t>
            </a:r>
            <a:r>
              <a:rPr lang="en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Measures the number of elements in an array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.length</a:t>
            </a:r>
            <a:r>
              <a:rPr lang="en" sz="1600">
                <a:solidFill>
                  <a:schemeClr val="dk1"/>
                </a:solidFill>
              </a:rPr>
              <a:t> is used to count the number of array elements.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10" name="Google Shape;110;p11"/>
          <p:cNvSpPr txBox="1"/>
          <p:nvPr/>
        </p:nvSpPr>
        <p:spPr>
          <a:xfrm>
            <a:off x="1650450" y="3735025"/>
            <a:ext cx="5843100" cy="9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PHY111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MAT110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" name="Google Shape;111;p11"/>
          <p:cNvSpPr txBox="1"/>
          <p:nvPr/>
        </p:nvSpPr>
        <p:spPr>
          <a:xfrm>
            <a:off x="1650450" y="2796925"/>
            <a:ext cx="5843100" cy="938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 [] courses = {</a:t>
            </a:r>
            <a:r>
              <a:rPr b="0" i="0" lang="en" sz="11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"CSE110"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1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"PHY111"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1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"MAT110"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1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"ENG101"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System.out.println(courses[1]);  </a:t>
            </a: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//Accessing element of 1st index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System.out.println(courses[2]);  </a:t>
            </a: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//Accessing element of 2nd index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System.out.println(courses.length); 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2" name="Google Shape;112;p11"/>
          <p:cNvSpPr txBox="1"/>
          <p:nvPr>
            <p:ph idx="1" type="body"/>
          </p:nvPr>
        </p:nvSpPr>
        <p:spPr>
          <a:xfrm>
            <a:off x="235500" y="923875"/>
            <a:ext cx="4449300" cy="1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  Access array elements:</a:t>
            </a:r>
            <a:r>
              <a:rPr lang="en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Array elements can be accessed using the array name followed by an index enclosed by square brackets.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Syntax: array_name[index]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Array Operations (Continued)</a:t>
            </a:r>
            <a:endParaRPr b="1"/>
          </a:p>
        </p:txBody>
      </p:sp>
      <p:sp>
        <p:nvSpPr>
          <p:cNvPr id="118" name="Google Shape;118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  Update array elements: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We can change the value of a specific element using the index number.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Syntax: array_name[index] = updated_value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1681650" y="2571750"/>
            <a:ext cx="5780700" cy="105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Changing PHY111 to BIO101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[] courses = {</a:t>
            </a:r>
            <a:r>
              <a:rPr b="0" i="0" lang="en" sz="11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"CSE110"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1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"PHY111"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1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"MAT110"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1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"ENG101"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courses[1] = </a:t>
            </a:r>
            <a:r>
              <a:rPr b="0" i="0" lang="en" sz="11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"BIO101"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  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System.out.println(courses[1]);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1681650" y="3603150"/>
            <a:ext cx="5780700" cy="564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BIO101</a:t>
            </a:r>
            <a:endParaRPr b="0" i="0" sz="12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>
            <p:ph type="title"/>
          </p:nvPr>
        </p:nvSpPr>
        <p:spPr>
          <a:xfrm>
            <a:off x="311700" y="377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Array Operations </a:t>
            </a:r>
            <a:r>
              <a:rPr b="1" lang="en"/>
              <a:t>(Continued)</a:t>
            </a:r>
            <a:endParaRPr b="1"/>
          </a:p>
        </p:txBody>
      </p:sp>
      <p:sp>
        <p:nvSpPr>
          <p:cNvPr id="126" name="Google Shape;126;p10"/>
          <p:cNvSpPr txBox="1"/>
          <p:nvPr>
            <p:ph idx="1" type="body"/>
          </p:nvPr>
        </p:nvSpPr>
        <p:spPr>
          <a:xfrm>
            <a:off x="311700" y="949750"/>
            <a:ext cx="8520600" cy="3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  String representation of an array: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We cannot print array elements directly in Java as it shows the memory location of that array object. 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 sz="1800">
                <a:solidFill>
                  <a:schemeClr val="dk1"/>
                </a:solidFill>
              </a:rPr>
              <a:t>Arrays.toString()</a:t>
            </a:r>
            <a:r>
              <a:rPr lang="en" sz="1800">
                <a:solidFill>
                  <a:schemeClr val="dk1"/>
                </a:solidFill>
              </a:rPr>
              <a:t> method is used to represent an array. 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The array elements are separated by comma and enclosed by square brackets [ ].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7" name="Google Shape;127;p10"/>
          <p:cNvSpPr txBox="1"/>
          <p:nvPr/>
        </p:nvSpPr>
        <p:spPr>
          <a:xfrm>
            <a:off x="1297050" y="3061525"/>
            <a:ext cx="6549900" cy="938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import java.util.Arrays;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[] courses = {</a:t>
            </a:r>
            <a:r>
              <a:rPr b="0" i="0" lang="en" sz="11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"CSE110"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1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"PHY111"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1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"MAT110"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1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"ENG101"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System.out.println(courses);</a:t>
            </a:r>
            <a:endParaRPr b="0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System.out.println(Arrays.toString(courses)); 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" name="Google Shape;128;p10"/>
          <p:cNvSpPr txBox="1"/>
          <p:nvPr/>
        </p:nvSpPr>
        <p:spPr>
          <a:xfrm>
            <a:off x="1297050" y="3999625"/>
            <a:ext cx="6549900" cy="74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[Ljava.lang.String;@379619aa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[CSE110, PHY111, MAT110, ENG101]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Array Iteration</a:t>
            </a:r>
            <a:endParaRPr b="1"/>
          </a:p>
        </p:txBody>
      </p:sp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Array iteration means accessing each element of an array one by one.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We can use the concept of loops to iterate an array.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/>
        </p:nvSpPr>
        <p:spPr>
          <a:xfrm>
            <a:off x="1339050" y="1113138"/>
            <a:ext cx="6465900" cy="1793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ArrayIteration{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b="0" i="0" lang="en" sz="11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1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b="0" i="0" lang="en" sz="11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 </a:t>
            </a:r>
            <a:r>
              <a:rPr b="0" i="0" lang="en" sz="11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= new int [] 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44, 3, 1, 12, -10};</a:t>
            </a:r>
            <a:endParaRPr b="0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i&lt;array.length; i++){</a:t>
            </a:r>
            <a:endParaRPr b="0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b="0" i="0" lang="en" sz="11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" sz="11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"Index:"</a:t>
            </a:r>
            <a:r>
              <a:rPr b="0" i="0" lang="en" sz="11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+i+ </a:t>
            </a:r>
            <a:r>
              <a:rPr b="0" i="0" lang="en" sz="11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 Element: "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 array[i]);</a:t>
            </a:r>
            <a:endParaRPr b="0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1100" u="none" cap="none" strike="noStrike"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1339050" y="2906250"/>
            <a:ext cx="6465900" cy="1522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run ArrayIteration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Index:0 Element: 44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Index:1 Element: 3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Index:2 Element: 1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Index:3 Element: 12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Index:4 Element: -10</a:t>
            </a:r>
            <a:endParaRPr b="0" i="0" sz="10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1" name="Google Shape;14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Array Iteration - for loop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/>
        </p:nvSpPr>
        <p:spPr>
          <a:xfrm>
            <a:off x="1339050" y="1110275"/>
            <a:ext cx="6465900" cy="2281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ArrayIteration2{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b="0" i="0" lang="en" sz="11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100" u="none" cap="none" strike="noStrike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array2 = {1,2,3,4};</a:t>
            </a:r>
            <a:endParaRPr b="0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count = 0;</a:t>
            </a:r>
            <a:endParaRPr b="0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while (count&lt;array2.length){</a:t>
            </a:r>
            <a:endParaRPr b="0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b="0" i="0" lang="en" sz="11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array2[count]);</a:t>
            </a:r>
            <a:endParaRPr b="0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count++;</a:t>
            </a:r>
            <a:endParaRPr b="0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1100" u="none" cap="none" strike="noStrike"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1339050" y="3391900"/>
            <a:ext cx="6465900" cy="1327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run ArrayIteration2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8" name="Google Shape;148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Array Iteration - while loop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2200"/>
              <a:t>Now try writing the code for creating an array to store names of six students, where each provide their name as input. </a:t>
            </a:r>
            <a:endParaRPr b="1" sz="2200"/>
          </a:p>
        </p:txBody>
      </p:sp>
      <p:sp>
        <p:nvSpPr>
          <p:cNvPr id="154" name="Google Shape;154;p13"/>
          <p:cNvSpPr txBox="1"/>
          <p:nvPr>
            <p:ph type="ctrTitle"/>
          </p:nvPr>
        </p:nvSpPr>
        <p:spPr>
          <a:xfrm>
            <a:off x="1444025" y="1697850"/>
            <a:ext cx="63261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1600">
                <a:solidFill>
                  <a:srgbClr val="9E9E9E"/>
                </a:solidFill>
              </a:rPr>
              <a:t>Hint: Initiate a String array of length 6 and use a loop to take input and update each value. </a:t>
            </a:r>
            <a:endParaRPr sz="160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/>
          <p:nvPr>
            <p:ph idx="1" type="body"/>
          </p:nvPr>
        </p:nvSpPr>
        <p:spPr>
          <a:xfrm>
            <a:off x="311700" y="1999350"/>
            <a:ext cx="85206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3300">
                <a:solidFill>
                  <a:srgbClr val="000000"/>
                </a:solidFill>
              </a:rPr>
              <a:t>THANK YOU!</a:t>
            </a:r>
            <a:endParaRPr b="1" sz="3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