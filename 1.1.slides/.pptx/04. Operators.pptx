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hZuYFQ8/Lkl3MpqQITcTG+FXEt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C2F000-355A-4894-801D-5CA9AED2A9BA}">
  <a:tblStyle styleId="{F3C2F000-355A-4894-801D-5CA9AED2A9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929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/>
              <a:t>Introduction to Operators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Operators</a:t>
            </a:r>
            <a:endParaRPr b="1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Operators are </a:t>
            </a:r>
            <a:r>
              <a:rPr lang="en">
                <a:solidFill>
                  <a:schemeClr val="dk1"/>
                </a:solidFill>
              </a:rPr>
              <a:t>symbols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used to perform </a:t>
            </a:r>
            <a:r>
              <a:rPr lang="en">
                <a:solidFill>
                  <a:schemeClr val="dk1"/>
                </a:solidFill>
              </a:rPr>
              <a:t>specific operations on one or more operands to produce a result.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Types of operators in Java: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375" y="2500300"/>
            <a:ext cx="7217249" cy="19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Arithmetic Operators</a:t>
            </a:r>
            <a:endParaRPr b="1"/>
          </a:p>
        </p:txBody>
      </p:sp>
      <p:graphicFrame>
        <p:nvGraphicFramePr>
          <p:cNvPr id="67" name="Google Shape;67;p3"/>
          <p:cNvGraphicFramePr/>
          <p:nvPr/>
        </p:nvGraphicFramePr>
        <p:xfrm>
          <a:off x="1241750" y="148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1931100"/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Additive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Addition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Subtraction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Multiplicative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*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Division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/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Modulus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Addition</a:t>
            </a:r>
            <a:r>
              <a:rPr lang="en" sz="1600">
                <a:solidFill>
                  <a:schemeClr val="dk1"/>
                </a:solidFill>
              </a:rPr>
              <a:t>: Adds two variables/numbers of same datatype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Subtraction: </a:t>
            </a:r>
            <a:r>
              <a:rPr lang="en" sz="1600">
                <a:solidFill>
                  <a:schemeClr val="dk1"/>
                </a:solidFill>
              </a:rPr>
              <a:t>Subtracts the second number from the first one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Multiplication</a:t>
            </a:r>
            <a:r>
              <a:rPr lang="en" sz="1600">
                <a:solidFill>
                  <a:schemeClr val="dk1"/>
                </a:solidFill>
              </a:rPr>
              <a:t>: Multiplies the first operand with the second one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/>
          </a:p>
        </p:txBody>
      </p:sp>
      <p:graphicFrame>
        <p:nvGraphicFramePr>
          <p:cNvPr id="74" name="Google Shape;74;p4"/>
          <p:cNvGraphicFramePr/>
          <p:nvPr/>
        </p:nvGraphicFramePr>
        <p:xfrm>
          <a:off x="2279250" y="180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System.out.println(2+3);  //Output: 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4"/>
          <p:cNvGraphicFramePr/>
          <p:nvPr/>
        </p:nvGraphicFramePr>
        <p:xfrm>
          <a:off x="2279250" y="293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System.out.println(7-3);   //Output: 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4"/>
          <p:cNvGraphicFramePr/>
          <p:nvPr/>
        </p:nvGraphicFramePr>
        <p:xfrm>
          <a:off x="2279250" y="405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63300"/>
              </a:tblGrid>
              <a:tr h="4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System.out.println(3*3);    //Output: 9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Division: </a:t>
            </a:r>
            <a:r>
              <a:rPr lang="en" sz="1600">
                <a:solidFill>
                  <a:schemeClr val="dk1"/>
                </a:solidFill>
              </a:rPr>
              <a:t>Divides the first operand with the second one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Modulus: </a:t>
            </a:r>
            <a:r>
              <a:rPr lang="en" sz="1600">
                <a:solidFill>
                  <a:schemeClr val="dk1"/>
                </a:solidFill>
              </a:rPr>
              <a:t>Finds the remainder after dividing the first number with the second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5"/>
          <p:cNvGraphicFramePr/>
          <p:nvPr/>
        </p:nvGraphicFramePr>
        <p:xfrm>
          <a:off x="2044263" y="185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System.out.println(9/2);    //Output: 4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System.out.println(9.0/2.0);    //Output: 4.5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5"/>
          <p:cNvGraphicFramePr/>
          <p:nvPr/>
        </p:nvGraphicFramePr>
        <p:xfrm>
          <a:off x="2044275" y="343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System.out.println(5%2);    //Output: 1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System.out.println(7%9);    //Output: 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389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Assignment Operators</a:t>
            </a:r>
            <a:endParaRPr b="1"/>
          </a:p>
        </p:txBody>
      </p:sp>
      <p:graphicFrame>
        <p:nvGraphicFramePr>
          <p:cNvPr id="90" name="Google Shape;90;p6"/>
          <p:cNvGraphicFramePr/>
          <p:nvPr/>
        </p:nvGraphicFramePr>
        <p:xfrm>
          <a:off x="1757338" y="110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1632150"/>
                <a:gridCol w="1998575"/>
                <a:gridCol w="1998575"/>
              </a:tblGrid>
              <a:tr h="39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Identicality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Assignment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5;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Addition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+=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+= 3;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a+3;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Subtraction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-=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-= 3;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a-3;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*=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*= 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a*2;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Division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/=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/= 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a/2;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Modulus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%=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%= 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 = a%2;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Assigns the value on the right to the variable on the left.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(+=): </a:t>
            </a:r>
            <a:r>
              <a:rPr lang="en" sz="1600">
                <a:solidFill>
                  <a:schemeClr val="dk1"/>
                </a:solidFill>
              </a:rPr>
              <a:t>Adds both the operands on its right and left and assigns the addition to   the operand on its left 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/>
          </a:p>
        </p:txBody>
      </p:sp>
      <p:graphicFrame>
        <p:nvGraphicFramePr>
          <p:cNvPr id="97" name="Google Shape;97;p7"/>
          <p:cNvGraphicFramePr/>
          <p:nvPr/>
        </p:nvGraphicFramePr>
        <p:xfrm>
          <a:off x="2284013" y="175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2287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int number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float value = 2.5f;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7"/>
          <p:cNvGraphicFramePr/>
          <p:nvPr/>
        </p:nvGraphicFramePr>
        <p:xfrm>
          <a:off x="2284013" y="368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81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5, b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b += 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System.out.println(b);   // Output: 15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04" name="Google Shape;104;p8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(-=)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Subtracts the right operand from the left operand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(*=): </a:t>
            </a:r>
            <a:r>
              <a:rPr lang="en" sz="1600">
                <a:solidFill>
                  <a:schemeClr val="dk1"/>
                </a:solidFill>
              </a:rPr>
              <a:t>Multiplies both the operands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graphicFrame>
        <p:nvGraphicFramePr>
          <p:cNvPr id="105" name="Google Shape;105;p8"/>
          <p:cNvGraphicFramePr/>
          <p:nvPr/>
        </p:nvGraphicFramePr>
        <p:xfrm>
          <a:off x="2265775" y="189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63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int a = 5, b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b -= 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System.out.println(b);   // Output: 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Google Shape;106;p8"/>
          <p:cNvGraphicFramePr/>
          <p:nvPr/>
        </p:nvGraphicFramePr>
        <p:xfrm>
          <a:off x="2221525" y="361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6518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5, b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b *= 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System.out.println(b);   // Output: 50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(/=)</a:t>
            </a:r>
            <a:r>
              <a:rPr lang="en" sz="1600">
                <a:solidFill>
                  <a:schemeClr val="dk1"/>
                </a:solidFill>
              </a:rPr>
              <a:t>: Divides the operand on its left with the operand on its right and assigns the result to the left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(%=):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Divides the left operand by the right operand and assigns the remainder to the operand on the left.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2587075" y="189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5, b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b /= 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System.out.println(b);   // Output: 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Google Shape;114;p9"/>
          <p:cNvGraphicFramePr/>
          <p:nvPr/>
        </p:nvGraphicFramePr>
        <p:xfrm>
          <a:off x="2587075" y="37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int a = 5, b = 10;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b %= 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System.out.println(b);   // Output: 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Relational Operators</a:t>
            </a:r>
            <a:endParaRPr b="1"/>
          </a:p>
        </p:txBody>
      </p:sp>
      <p:graphicFrame>
        <p:nvGraphicFramePr>
          <p:cNvPr id="120" name="Google Shape;120;p10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Comparison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Greater Than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&gt;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Less Than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&lt;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Greater Than or Equals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&gt;=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Less Than or Equals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&lt;=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Equality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==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Not Equals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!=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(&gt;)</a:t>
            </a:r>
            <a:r>
              <a:rPr lang="en" sz="1600">
                <a:solidFill>
                  <a:schemeClr val="dk1"/>
                </a:solidFill>
              </a:rPr>
              <a:t>: Checks if the left operand is greater than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(&lt;): </a:t>
            </a:r>
            <a:r>
              <a:rPr lang="en" sz="1600">
                <a:solidFill>
                  <a:schemeClr val="dk1"/>
                </a:solidFill>
              </a:rPr>
              <a:t>Checks if the left operand is less than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(&gt;=): </a:t>
            </a:r>
            <a:r>
              <a:rPr lang="en" sz="1600">
                <a:solidFill>
                  <a:schemeClr val="dk1"/>
                </a:solidFill>
              </a:rPr>
              <a:t>Checks if the left operand is greater than or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27" name="Google Shape;127;p11"/>
          <p:cNvGraphicFramePr/>
          <p:nvPr/>
        </p:nvGraphicFramePr>
        <p:xfrm>
          <a:off x="2058650" y="181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038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System.out.println(5&gt;3);   // Output: 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11"/>
          <p:cNvGraphicFramePr/>
          <p:nvPr/>
        </p:nvGraphicFramePr>
        <p:xfrm>
          <a:off x="2058650" y="29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49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 System.out.println(5&lt;3);   // Output: 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p11"/>
          <p:cNvGraphicFramePr/>
          <p:nvPr/>
        </p:nvGraphicFramePr>
        <p:xfrm>
          <a:off x="2058650" y="421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315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System.out.println(7&gt;=10);   // Output: 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(&lt;=)</a:t>
            </a:r>
            <a:r>
              <a:rPr lang="en" sz="1600">
                <a:solidFill>
                  <a:schemeClr val="dk1"/>
                </a:solidFill>
              </a:rPr>
              <a:t>: Checks if the left operand is less than or equals to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(==): </a:t>
            </a:r>
            <a:r>
              <a:rPr lang="en" sz="1600">
                <a:solidFill>
                  <a:schemeClr val="dk1"/>
                </a:solidFill>
              </a:rPr>
              <a:t>Checks if both the operands are equal.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(!=): </a:t>
            </a:r>
            <a:r>
              <a:rPr lang="en" sz="1600">
                <a:solidFill>
                  <a:schemeClr val="dk1"/>
                </a:solidFill>
              </a:rPr>
              <a:t>Checks if the left operand is not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36" name="Google Shape;136;p12"/>
          <p:cNvGraphicFramePr/>
          <p:nvPr/>
        </p:nvGraphicFramePr>
        <p:xfrm>
          <a:off x="2144100" y="180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16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&lt;=3);   // Output: true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12"/>
          <p:cNvGraphicFramePr/>
          <p:nvPr/>
        </p:nvGraphicFramePr>
        <p:xfrm>
          <a:off x="2144088" y="287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82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System.out.println(5==3);   // Output: 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12"/>
          <p:cNvGraphicFramePr/>
          <p:nvPr/>
        </p:nvGraphicFramePr>
        <p:xfrm>
          <a:off x="2144100" y="41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256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System.out.println(7!=10);   // Output: 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Logical Operators</a:t>
            </a:r>
            <a:endParaRPr b="1"/>
          </a:p>
        </p:txBody>
      </p:sp>
      <p:graphicFrame>
        <p:nvGraphicFramePr>
          <p:cNvPr id="144" name="Google Shape;144;p13"/>
          <p:cNvGraphicFramePr/>
          <p:nvPr/>
        </p:nvGraphicFramePr>
        <p:xfrm>
          <a:off x="2207300" y="17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Logical AND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&amp;&amp;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Logical 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||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Logical NOT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!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Logical Operators (Continued)</a:t>
            </a:r>
            <a:endParaRPr b="1"/>
          </a:p>
        </p:txBody>
      </p: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(&amp;&amp;)</a:t>
            </a:r>
            <a:r>
              <a:rPr lang="en" sz="1600">
                <a:solidFill>
                  <a:schemeClr val="dk1"/>
                </a:solidFill>
              </a:rPr>
              <a:t>: Denotes true if both the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  false &amp;&amp; true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(||): </a:t>
            </a:r>
            <a:r>
              <a:rPr lang="en" sz="1600">
                <a:solidFill>
                  <a:schemeClr val="dk1"/>
                </a:solidFill>
              </a:rPr>
              <a:t>Denotes true if at least one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  false || true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(!): </a:t>
            </a:r>
            <a:r>
              <a:rPr lang="en" sz="1600">
                <a:solidFill>
                  <a:schemeClr val="dk1"/>
                </a:solidFill>
              </a:rPr>
              <a:t>Reverses the logical value of the operand on its right.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  </a:t>
            </a:r>
            <a:r>
              <a:rPr lang="en" sz="1600">
                <a:solidFill>
                  <a:schemeClr val="dk1"/>
                </a:solidFill>
              </a:rPr>
              <a:t>!</a:t>
            </a:r>
            <a:r>
              <a:rPr lang="en" sz="1600">
                <a:solidFill>
                  <a:schemeClr val="dk1"/>
                </a:solidFill>
              </a:rPr>
              <a:t>(true)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p14"/>
          <p:cNvGraphicFramePr/>
          <p:nvPr/>
        </p:nvGraphicFramePr>
        <p:xfrm>
          <a:off x="1961875" y="323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713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System.out.println(5&lt;-1 || 10&gt;5);   // Output: 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14"/>
          <p:cNvGraphicFramePr/>
          <p:nvPr/>
        </p:nvGraphicFramePr>
        <p:xfrm>
          <a:off x="1961875" y="432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326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System.out.println(!(5&gt;3));   // Output: 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14"/>
          <p:cNvGraphicFramePr/>
          <p:nvPr/>
        </p:nvGraphicFramePr>
        <p:xfrm>
          <a:off x="1961863" y="179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769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5, b = 10, c = 20;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System.out.println(a&gt;b &amp;&amp; b&lt;c);   // Output: 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Unary Operators</a:t>
            </a:r>
            <a:endParaRPr b="1"/>
          </a:p>
        </p:txBody>
      </p:sp>
      <p:graphicFrame>
        <p:nvGraphicFramePr>
          <p:cNvPr id="160" name="Google Shape;160;p15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Prefix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Negation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Not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!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Increment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++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Decrement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--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Postfix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Increment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++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Decrement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--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Negation (-): </a:t>
            </a:r>
            <a:r>
              <a:rPr lang="en" sz="1600">
                <a:solidFill>
                  <a:schemeClr val="dk1"/>
                </a:solidFill>
              </a:rPr>
              <a:t>Negates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Not (!): </a:t>
            </a:r>
            <a:r>
              <a:rPr lang="en" sz="1600">
                <a:solidFill>
                  <a:schemeClr val="dk1"/>
                </a:solidFill>
              </a:rPr>
              <a:t>Reverses the logical value of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8" name="Google Shape;168;p16"/>
          <p:cNvGraphicFramePr/>
          <p:nvPr/>
        </p:nvGraphicFramePr>
        <p:xfrm>
          <a:off x="1782100" y="190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965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b = -a;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System.out.println(b);   // Output: -5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16"/>
          <p:cNvGraphicFramePr/>
          <p:nvPr/>
        </p:nvGraphicFramePr>
        <p:xfrm>
          <a:off x="1782100" y="392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4138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System.out.println(! false);   // Output: 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Pre-Increment (++): </a:t>
            </a:r>
            <a:r>
              <a:rPr lang="en" sz="1600">
                <a:solidFill>
                  <a:schemeClr val="dk1"/>
                </a:solidFill>
              </a:rPr>
              <a:t>Increments the operand by 1 and then assigned.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Pre-Decrement (--): </a:t>
            </a:r>
            <a:r>
              <a:rPr lang="en" sz="1600">
                <a:solidFill>
                  <a:schemeClr val="dk1"/>
                </a:solidFill>
              </a:rPr>
              <a:t>Decrements the operand by 1 and then assigned.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p17"/>
          <p:cNvGraphicFramePr/>
          <p:nvPr/>
        </p:nvGraphicFramePr>
        <p:xfrm>
          <a:off x="1892725" y="37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y = --a; // a-=1; y=a;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</a:rPr>
                        <a:t>  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System.out.println(y);   // Output: 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17"/>
          <p:cNvGraphicFramePr/>
          <p:nvPr/>
        </p:nvGraphicFramePr>
        <p:xfrm>
          <a:off x="1892713" y="18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42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y = ++a; // a+=1; y=a;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System.out.println(y);   // Output: 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311700" y="1152475"/>
            <a:ext cx="86415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Post-Increment (++): </a:t>
            </a:r>
            <a:r>
              <a:rPr lang="en" sz="1600">
                <a:solidFill>
                  <a:schemeClr val="dk1"/>
                </a:solidFill>
              </a:rPr>
              <a:t>The value is assigned first and then increments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Post-Decrement (--): </a:t>
            </a:r>
            <a:r>
              <a:rPr lang="en" sz="1600">
                <a:solidFill>
                  <a:schemeClr val="dk1"/>
                </a:solidFill>
              </a:rPr>
              <a:t>The value is assigned first and then decrements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1654525" y="375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7182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y = a--; // y=a; a-=1; 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18"/>
          <p:cNvGraphicFramePr/>
          <p:nvPr/>
        </p:nvGraphicFramePr>
        <p:xfrm>
          <a:off x="1654525" y="1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3552275"/>
              </a:tblGrid>
              <a:tr h="114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a = 5;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int y = a++;  // y=a; a+=1; 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46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4180425" y="196850"/>
            <a:ext cx="3570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4971725" y="81050"/>
            <a:ext cx="3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20"/>
          <p:cNvGraphicFramePr/>
          <p:nvPr/>
        </p:nvGraphicFramePr>
        <p:xfrm>
          <a:off x="351475" y="33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{F3C2F000-355A-4894-801D-5CA9AED2A9BA}</a:tableStyleId>
              </a:tblPr>
              <a:tblGrid>
                <a:gridCol w="5298750"/>
                <a:gridCol w="3204025"/>
              </a:tblGrid>
              <a:tr h="4013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Now, let us find the output of the following Java code lines:</a:t>
                      </a:r>
                      <a:endParaRPr b="1" sz="1500" u="none" cap="none" strike="noStrike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40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595959"/>
                          </a:solidFill>
                        </a:rPr>
                        <a:t>Java Code Block</a:t>
                      </a:r>
                      <a:endParaRPr b="1" sz="1500" u="none" cap="none" strike="noStrike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Output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61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System.out.println( 5*(5+5/5%(5*5)) );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</a:rPr>
                        <a:t>30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5E7266"/>
                          </a:solidFill>
                        </a:rPr>
                        <a:t>Here 5*5 was executed first, then 5/5.</a:t>
                      </a:r>
                      <a:endParaRPr sz="1300" u="none" cap="none" strike="noStrike">
                        <a:solidFill>
                          <a:srgbClr val="5E72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System.out.println(5+1==(5+5/5%(5*5)));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System.out.println(-(-5-1)==(5+5/5%(5*5)));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true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5E7266"/>
                          </a:solidFill>
                        </a:rPr>
                        <a:t>Here -5-1 and 5*5 were executed first.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0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System.out.println(5!=5 &amp;&amp; 5%1!=1 || 1==(5/2));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45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595959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595959"/>
                          </a:solidFill>
                        </a:rPr>
                        <a:t>From the above lines of codes, we can see that if operators with same precedence are placed adjacent such as 5/5*5, we must calculate from left to right. Which means performing the division first and then the multiplication.</a:t>
                      </a:r>
                      <a:endParaRPr sz="1500" u="none" cap="none" strike="noStrike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311700" y="2050750"/>
            <a:ext cx="85206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